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Фронт слайд" id="{FE040A6C-7572-4971-B83C-7077F81D6FAA}">
          <p14:sldIdLst>
            <p14:sldId id="256"/>
          </p14:sldIdLst>
        </p14:section>
        <p14:section name="Основная часть" id="{7E4BCC1F-8362-4E4B-ACFB-BDB2CD29D6E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Конец" id="{DC365599-C563-4AEF-8A9D-42FC1CDEF8D9}">
          <p14:sldIdLst>
            <p14:sldId id="264"/>
          </p14:sldIdLst>
        </p14:section>
        <p14:section name="Дополнительно" id="{B018DD67-98D6-4AF8-A879-B0D265D083BD}">
          <p14:sldIdLst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E8A50-79C1-4E16-B861-22B4B2AB5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C49827-EFED-4FCC-9171-AF1FC5073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4E20EF-AD6C-4085-AAAB-EE2DBD81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BECC0A-EFBA-4C42-823A-4DF4C7D0D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EDA7DA-CA30-48D0-B4F0-03C55D6CF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2476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DC481-ABCC-4F11-BE8D-293EC388A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6F16A-1C1F-4B97-A6EE-431F4B5FE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F281FB-7E72-4BEB-99B3-AF2860104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AAAD25-B338-41A2-91F6-2E5680C4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8BBC27-E870-45B2-8260-77E26266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288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3150F-6AC1-411C-B11F-C26FBF36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122442-CDC8-475B-9D8D-9561AFA7B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C77879-0F87-4FF4-AB21-A3B8127A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E8CD69-11E8-419D-ADBA-597A74A6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7F6A84-DC90-4EAA-92EC-7D5D8F29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17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2AE2F-4DFC-431D-A116-00841F0B6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36A85D-E8C4-45D3-88C7-C6FC63207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FB2EDA-27A3-4055-A49D-AB517C625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BA3DB0-0191-4E5D-9DAA-03FB23C8E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6EB69F-0D63-4028-A010-CA0AE0656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14DB78-2393-4C72-BA9A-AC350B5B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86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20CD7-144E-40BB-9EC0-41AAFD39E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29AD02-5C36-44FD-8513-D26DC00B2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748232-3C0C-499D-B509-6259CCEEA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943055-E858-4A4D-866A-ABFD6F4D4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90AF2B-02F2-40B1-9004-ED319A37A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1CB45DE-E94D-47B6-9CED-4634B8790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1C76B6F-7015-4AB7-A486-7C0C1DD70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4A7F4A-3CD5-4557-9072-D96BE116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642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C5F86-1FF4-4FA5-99D9-96E93904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D8979DC-A40F-450E-A227-271FE3E46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A2950B-AAA5-470A-9C57-B1ACA935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66FA00-8160-4F2C-84F0-28195DEF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93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C6CAC30-5D00-4492-9600-89A08F9ED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185263E-89D9-476F-8AE7-15C280FB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D175B1-16D0-4701-82EA-BB7C2C84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127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68EFD-D419-4241-BE3B-81CEB99F1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0B29CD-526F-4475-9399-E0814E892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3A7B13-2589-45BD-B933-EFED95352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074AC6-3EC9-45ED-A2CA-A8E32EB9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C57F04-7B41-4D66-B280-7D5BE8FD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AD0DAE-F3FC-48F0-96A5-0D670382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96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D219A-B864-4336-9B25-9CBC45BB3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D7E76F-4A07-4FBD-AC25-2D3DC432FC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7944B7-52ED-4E7A-AEE1-A6552F065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6BA9F0-7436-4FCF-83D1-DFB771F9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6AF6B4-BF6E-4721-BA20-BA3AE263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F5520C-A133-42AB-82FE-B8122F69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11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85507-B2AC-42B0-88C5-65E3C5C2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B378B4-DEF1-448B-81E4-364E40BE2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4256A2-AA51-49A4-BDA5-ABFCEE033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420143-5A16-4C6E-950C-9FA2077E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331FCD-D4B6-477F-A0F9-B2AEBF45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22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26AF457-C21A-4B23-8A09-2A6FAA5B98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8E4B9F0-561C-4FE3-AF84-B3642D6AD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4D2F70-3034-4673-BF0E-636FB3B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4033C-ADDB-4586-BA28-AFA3AB6C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B07164-B3B0-4AE2-85F3-33188603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89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39BA2-1D88-42DC-BC61-2FCD971E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311F18-E609-4BE6-BB10-4E552C45C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AC67E0-D2EF-44AB-AB61-9B2048412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70298-97D5-4542-B958-DB1B9C10A8A4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FC27BE-D102-4193-B317-8E3F6F35B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63AA46-1256-4EBB-99F8-D744B6364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5102F-C561-457D-AB1F-9433AD34D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79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6.jp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image" Target="../media/image6.svg"/><Relationship Id="rId18" Type="http://schemas.openxmlformats.org/officeDocument/2006/relationships/image" Target="../media/image18.png"/><Relationship Id="rId3" Type="http://schemas.openxmlformats.org/officeDocument/2006/relationships/image" Target="../media/image11.png"/><Relationship Id="rId21" Type="http://schemas.openxmlformats.org/officeDocument/2006/relationships/image" Target="../media/image20.png"/><Relationship Id="rId7" Type="http://schemas.openxmlformats.org/officeDocument/2006/relationships/image" Target="../media/image10.svg"/><Relationship Id="rId12" Type="http://schemas.openxmlformats.org/officeDocument/2006/relationships/image" Target="../media/image5.png"/><Relationship Id="rId17" Type="http://schemas.openxmlformats.org/officeDocument/2006/relationships/slide" Target="slide1.xml"/><Relationship Id="rId2" Type="http://schemas.openxmlformats.org/officeDocument/2006/relationships/slide" Target="slide8.xml"/><Relationship Id="rId16" Type="http://schemas.openxmlformats.org/officeDocument/2006/relationships/image" Target="../media/image4.svg"/><Relationship Id="rId20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slide" Target="slide3.xml"/><Relationship Id="rId5" Type="http://schemas.openxmlformats.org/officeDocument/2006/relationships/slide" Target="slide7.xml"/><Relationship Id="rId1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9.svg"/><Relationship Id="rId4" Type="http://schemas.openxmlformats.org/officeDocument/2006/relationships/image" Target="../media/image12.svg"/><Relationship Id="rId9" Type="http://schemas.openxmlformats.org/officeDocument/2006/relationships/image" Target="../media/image7.png"/><Relationship Id="rId14" Type="http://schemas.openxmlformats.org/officeDocument/2006/relationships/slide" Target="slide2.xml"/><Relationship Id="rId22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ass.ru/info/2572806" TargetMode="External"/><Relationship Id="rId7" Type="http://schemas.openxmlformats.org/officeDocument/2006/relationships/image" Target="../media/image23.svg"/><Relationship Id="rId2" Type="http://schemas.openxmlformats.org/officeDocument/2006/relationships/hyperlink" Target="https://ru.wikipedia.org/wiki/%D0%98%D1%81%D1%82%D0%BE%D1%87%D0%BD%D0%B8%D0%BA_%D0%B8%D0%BD%D1%84%D0%BE%D1%80%D0%BC%D0%B0%D1%86%D0%B8%D0%B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hyperlink" Target="https://yandex.ru/images/search?pos=41&amp;from=tabbar&amp;p=1&amp;img_url=https%3A%2F%2Fsun9-22.userapi.com%2Fimpf%2FaEyhyV1dLb5SC1GKvcyl48qLwlXKGro3MMtI4Q%2Fd2lJtNpnV3M.jpg%3Fsize%3D604x404%26quality%3D96%26sign%3D2506fca40c51ae5dfeca101863272210%26type%3Dalbum&amp;text=%D1%80%D0%BE%D1%81%D1%81%D0%B8%D0%B9%D1%81%D0%BA%D0%B0%D1%8F%20%D0%B0%D0%BA%D0%B0%D0%B4%D0%B5%D0%BC%D0%B8%D1%8F%20%D0%BD%D0%B0%D1%83%D0%BA%20%D1%80%D0%B0%D0%BD%D1%8C%D1%88%D0%B5&amp;rpt=simage" TargetMode="External"/><Relationship Id="rId4" Type="http://schemas.openxmlformats.org/officeDocument/2006/relationships/hyperlink" Target="https://porusski.me/2017/10/27/013-rossijskaya-akademiya-nau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23BFA7A4-53EA-4352-8FA4-41A9369D9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17327">
            <a:off x="9642711" y="4054909"/>
            <a:ext cx="2237509" cy="2237509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5EEEE5A-C57D-448B-A04B-BF5DC619CAC8}"/>
              </a:ext>
            </a:extLst>
          </p:cNvPr>
          <p:cNvSpPr/>
          <p:nvPr/>
        </p:nvSpPr>
        <p:spPr>
          <a:xfrm>
            <a:off x="935182" y="607576"/>
            <a:ext cx="10321636" cy="133003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История Российской академии наук</a:t>
            </a:r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0001E0D9-577C-4C44-9948-FBEBDE9A586D}"/>
              </a:ext>
            </a:extLst>
          </p:cNvPr>
          <p:cNvGrpSpPr/>
          <p:nvPr/>
        </p:nvGrpSpPr>
        <p:grpSpPr>
          <a:xfrm>
            <a:off x="3047832" y="2344298"/>
            <a:ext cx="6061526" cy="658091"/>
            <a:chOff x="3047832" y="2344298"/>
            <a:chExt cx="6061526" cy="658091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A6E59406-9FCD-4D42-B9BA-CA8B38E7AFB5}"/>
                </a:ext>
              </a:extLst>
            </p:cNvPr>
            <p:cNvSpPr/>
            <p:nvPr/>
          </p:nvSpPr>
          <p:spPr>
            <a:xfrm>
              <a:off x="4129290" y="2344298"/>
              <a:ext cx="4980068" cy="6580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>
                  <a:solidFill>
                    <a:schemeClr val="tx1"/>
                  </a:solidFill>
                </a:rPr>
                <a:t>Академии</a:t>
              </a:r>
            </a:p>
          </p:txBody>
        </p:sp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61C9930C-8021-44A7-B6EB-BC91C8E460FE}"/>
                </a:ext>
              </a:extLst>
            </p:cNvPr>
            <p:cNvGrpSpPr/>
            <p:nvPr/>
          </p:nvGrpSpPr>
          <p:grpSpPr>
            <a:xfrm>
              <a:off x="3047832" y="2373245"/>
              <a:ext cx="644421" cy="600195"/>
              <a:chOff x="3082633" y="2402194"/>
              <a:chExt cx="644421" cy="600195"/>
            </a:xfrm>
          </p:grpSpPr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5094F74C-CDB1-4944-A597-DB757C6762F1}"/>
                  </a:ext>
                </a:extLst>
              </p:cNvPr>
              <p:cNvSpPr/>
              <p:nvPr/>
            </p:nvSpPr>
            <p:spPr>
              <a:xfrm>
                <a:off x="3082633" y="2402194"/>
                <a:ext cx="644421" cy="60019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22" name="Рисунок 21">
                <a:extLst>
                  <a:ext uri="{FF2B5EF4-FFF2-40B4-BE49-F238E27FC236}">
                    <a16:creationId xmlns:a16="http://schemas.microsoft.com/office/drawing/2014/main" id="{8C3CC3C8-0FAD-4148-96C7-FA55F45C28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210679" y="2480389"/>
                <a:ext cx="388328" cy="443804"/>
              </a:xfrm>
              <a:prstGeom prst="rect">
                <a:avLst/>
              </a:prstGeom>
            </p:spPr>
          </p:pic>
        </p:grp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4001B747-16DF-4955-AA8B-9A598498B17E}"/>
              </a:ext>
            </a:extLst>
          </p:cNvPr>
          <p:cNvGrpSpPr/>
          <p:nvPr/>
        </p:nvGrpSpPr>
        <p:grpSpPr>
          <a:xfrm>
            <a:off x="3047832" y="3156785"/>
            <a:ext cx="6061527" cy="658091"/>
            <a:chOff x="3047832" y="3156785"/>
            <a:chExt cx="6061527" cy="658091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38AE671E-84FE-45BA-9BCC-F82B207F7B4A}"/>
                </a:ext>
              </a:extLst>
            </p:cNvPr>
            <p:cNvSpPr/>
            <p:nvPr/>
          </p:nvSpPr>
          <p:spPr>
            <a:xfrm>
              <a:off x="4129290" y="3156785"/>
              <a:ext cx="4980069" cy="6580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>
                  <a:solidFill>
                    <a:schemeClr val="tx1"/>
                  </a:solidFill>
                </a:rPr>
                <a:t>Идея</a:t>
              </a:r>
            </a:p>
          </p:txBody>
        </p:sp>
        <p:grpSp>
          <p:nvGrpSpPr>
            <p:cNvPr id="26" name="Группа 25">
              <a:extLst>
                <a:ext uri="{FF2B5EF4-FFF2-40B4-BE49-F238E27FC236}">
                  <a16:creationId xmlns:a16="http://schemas.microsoft.com/office/drawing/2014/main" id="{EBCE0FA9-EC05-47A0-8956-FD5D3F160AD6}"/>
                </a:ext>
              </a:extLst>
            </p:cNvPr>
            <p:cNvGrpSpPr/>
            <p:nvPr/>
          </p:nvGrpSpPr>
          <p:grpSpPr>
            <a:xfrm>
              <a:off x="3047832" y="3185732"/>
              <a:ext cx="644421" cy="600196"/>
              <a:chOff x="3062040" y="3214680"/>
              <a:chExt cx="644421" cy="600196"/>
            </a:xfrm>
          </p:grpSpPr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842B4470-572C-4DBA-A045-B4D5FA0F5343}"/>
                  </a:ext>
                </a:extLst>
              </p:cNvPr>
              <p:cNvSpPr/>
              <p:nvPr/>
            </p:nvSpPr>
            <p:spPr>
              <a:xfrm>
                <a:off x="3062040" y="3214680"/>
                <a:ext cx="644421" cy="60019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25" name="Рисунок 24">
                <a:extLst>
                  <a:ext uri="{FF2B5EF4-FFF2-40B4-BE49-F238E27FC236}">
                    <a16:creationId xmlns:a16="http://schemas.microsoft.com/office/drawing/2014/main" id="{0749C85F-52BD-4F8C-937B-817710B32A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214402" y="3292933"/>
                <a:ext cx="339695" cy="494101"/>
              </a:xfrm>
              <a:prstGeom prst="rect">
                <a:avLst/>
              </a:prstGeom>
            </p:spPr>
          </p:pic>
        </p:grp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A5ECF844-98E3-465D-BB2B-5151A7F9A32A}"/>
              </a:ext>
            </a:extLst>
          </p:cNvPr>
          <p:cNvGrpSpPr/>
          <p:nvPr/>
        </p:nvGrpSpPr>
        <p:grpSpPr>
          <a:xfrm>
            <a:off x="3047832" y="3968315"/>
            <a:ext cx="6061515" cy="658092"/>
            <a:chOff x="3047832" y="3968315"/>
            <a:chExt cx="6061515" cy="658092"/>
          </a:xfrm>
        </p:grpSpPr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F715EFDB-152C-42FA-92B9-99625C9BD538}"/>
                </a:ext>
              </a:extLst>
            </p:cNvPr>
            <p:cNvSpPr/>
            <p:nvPr/>
          </p:nvSpPr>
          <p:spPr>
            <a:xfrm>
              <a:off x="4129279" y="3968315"/>
              <a:ext cx="4980068" cy="6580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>
                  <a:solidFill>
                    <a:schemeClr val="tx1"/>
                  </a:solidFill>
                </a:rPr>
                <a:t>Создание</a:t>
              </a:r>
            </a:p>
          </p:txBody>
        </p:sp>
        <p:grpSp>
          <p:nvGrpSpPr>
            <p:cNvPr id="43" name="Группа 42">
              <a:extLst>
                <a:ext uri="{FF2B5EF4-FFF2-40B4-BE49-F238E27FC236}">
                  <a16:creationId xmlns:a16="http://schemas.microsoft.com/office/drawing/2014/main" id="{4748AE1C-077F-4684-904D-B9B3F94133A6}"/>
                </a:ext>
              </a:extLst>
            </p:cNvPr>
            <p:cNvGrpSpPr/>
            <p:nvPr/>
          </p:nvGrpSpPr>
          <p:grpSpPr>
            <a:xfrm>
              <a:off x="3047832" y="3995289"/>
              <a:ext cx="644420" cy="600194"/>
              <a:chOff x="3047832" y="3995289"/>
              <a:chExt cx="644420" cy="600194"/>
            </a:xfrm>
          </p:grpSpPr>
          <p:sp>
            <p:nvSpPr>
              <p:cNvPr id="15" name="Прямоугольник: скругленные углы 14">
                <a:extLst>
                  <a:ext uri="{FF2B5EF4-FFF2-40B4-BE49-F238E27FC236}">
                    <a16:creationId xmlns:a16="http://schemas.microsoft.com/office/drawing/2014/main" id="{63EEDBAC-197A-4F21-8F53-5C8D6D799CB7}"/>
                  </a:ext>
                </a:extLst>
              </p:cNvPr>
              <p:cNvSpPr/>
              <p:nvPr/>
            </p:nvSpPr>
            <p:spPr>
              <a:xfrm>
                <a:off x="3047832" y="3995289"/>
                <a:ext cx="644420" cy="60019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36" name="Рисунок 35">
                <a:extLst>
                  <a:ext uri="{FF2B5EF4-FFF2-40B4-BE49-F238E27FC236}">
                    <a16:creationId xmlns:a16="http://schemas.microsoft.com/office/drawing/2014/main" id="{17A971DF-4A66-4449-BB90-940BDF8B91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147533" y="4072879"/>
                <a:ext cx="445014" cy="445014"/>
              </a:xfrm>
              <a:prstGeom prst="rect">
                <a:avLst/>
              </a:prstGeom>
            </p:spPr>
          </p:pic>
        </p:grp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80B84758-8BE8-4051-81C5-9027CD5DC389}"/>
              </a:ext>
            </a:extLst>
          </p:cNvPr>
          <p:cNvGrpSpPr/>
          <p:nvPr/>
        </p:nvGrpSpPr>
        <p:grpSpPr>
          <a:xfrm>
            <a:off x="3047832" y="4779846"/>
            <a:ext cx="6061515" cy="658092"/>
            <a:chOff x="3047832" y="4779846"/>
            <a:chExt cx="6061515" cy="658092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35D94E4B-FA59-49B5-B8B5-B28469B41528}"/>
                </a:ext>
              </a:extLst>
            </p:cNvPr>
            <p:cNvSpPr/>
            <p:nvPr/>
          </p:nvSpPr>
          <p:spPr>
            <a:xfrm>
              <a:off x="4129285" y="4779846"/>
              <a:ext cx="4980062" cy="6580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b="1" dirty="0">
                  <a:solidFill>
                    <a:schemeClr val="tx1"/>
                  </a:solidFill>
                </a:rPr>
                <a:t>Планы на создание</a:t>
              </a:r>
            </a:p>
          </p:txBody>
        </p:sp>
        <p:grpSp>
          <p:nvGrpSpPr>
            <p:cNvPr id="42" name="Группа 41">
              <a:extLst>
                <a:ext uri="{FF2B5EF4-FFF2-40B4-BE49-F238E27FC236}">
                  <a16:creationId xmlns:a16="http://schemas.microsoft.com/office/drawing/2014/main" id="{8E34B074-B484-4787-986C-4D58B5638D1A}"/>
                </a:ext>
              </a:extLst>
            </p:cNvPr>
            <p:cNvGrpSpPr/>
            <p:nvPr/>
          </p:nvGrpSpPr>
          <p:grpSpPr>
            <a:xfrm>
              <a:off x="3047832" y="4806138"/>
              <a:ext cx="644419" cy="600193"/>
              <a:chOff x="3047832" y="4806138"/>
              <a:chExt cx="644419" cy="600193"/>
            </a:xfrm>
          </p:grpSpPr>
          <p:sp>
            <p:nvSpPr>
              <p:cNvPr id="16" name="Прямоугольник: скругленные углы 15">
                <a:extLst>
                  <a:ext uri="{FF2B5EF4-FFF2-40B4-BE49-F238E27FC236}">
                    <a16:creationId xmlns:a16="http://schemas.microsoft.com/office/drawing/2014/main" id="{AD89E8AB-9B5A-4553-AC22-B5CC7DC57A57}"/>
                  </a:ext>
                </a:extLst>
              </p:cNvPr>
              <p:cNvSpPr/>
              <p:nvPr/>
            </p:nvSpPr>
            <p:spPr>
              <a:xfrm>
                <a:off x="3047832" y="4806138"/>
                <a:ext cx="644419" cy="60019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38" name="Рисунок 37">
                <a:extLst>
                  <a:ext uri="{FF2B5EF4-FFF2-40B4-BE49-F238E27FC236}">
                    <a16:creationId xmlns:a16="http://schemas.microsoft.com/office/drawing/2014/main" id="{9384307D-9D5B-46E5-899A-6FA87CBC73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218404" y="4875699"/>
                <a:ext cx="345802" cy="461069"/>
              </a:xfrm>
              <a:prstGeom prst="rect">
                <a:avLst/>
              </a:prstGeom>
            </p:spPr>
          </p:pic>
        </p:grpSp>
      </p:grp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2A626AC4-E5D3-4768-A1A2-35D280C7B639}"/>
              </a:ext>
            </a:extLst>
          </p:cNvPr>
          <p:cNvGrpSpPr/>
          <p:nvPr/>
        </p:nvGrpSpPr>
        <p:grpSpPr>
          <a:xfrm>
            <a:off x="3047832" y="5592332"/>
            <a:ext cx="6061514" cy="658092"/>
            <a:chOff x="3047832" y="5592332"/>
            <a:chExt cx="6061514" cy="658092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987842FA-B932-465E-BAA1-A3625C100BCA}"/>
                </a:ext>
              </a:extLst>
            </p:cNvPr>
            <p:cNvSpPr/>
            <p:nvPr/>
          </p:nvSpPr>
          <p:spPr>
            <a:xfrm>
              <a:off x="4129284" y="5592332"/>
              <a:ext cx="4980062" cy="6580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dirty="0">
                  <a:solidFill>
                    <a:schemeClr val="tx1"/>
                  </a:solidFill>
                </a:rPr>
                <a:t>Первый президент академии</a:t>
              </a:r>
            </a:p>
          </p:txBody>
        </p:sp>
        <p:grpSp>
          <p:nvGrpSpPr>
            <p:cNvPr id="41" name="Группа 40">
              <a:extLst>
                <a:ext uri="{FF2B5EF4-FFF2-40B4-BE49-F238E27FC236}">
                  <a16:creationId xmlns:a16="http://schemas.microsoft.com/office/drawing/2014/main" id="{0580809E-EC58-4CEF-9DF3-B1EF223D50AB}"/>
                </a:ext>
              </a:extLst>
            </p:cNvPr>
            <p:cNvGrpSpPr/>
            <p:nvPr/>
          </p:nvGrpSpPr>
          <p:grpSpPr>
            <a:xfrm>
              <a:off x="3047832" y="5621281"/>
              <a:ext cx="644419" cy="600193"/>
              <a:chOff x="3047832" y="5621281"/>
              <a:chExt cx="644419" cy="600193"/>
            </a:xfrm>
          </p:grpSpPr>
          <p:sp>
            <p:nvSpPr>
              <p:cNvPr id="17" name="Прямоугольник: скругленные углы 16">
                <a:extLst>
                  <a:ext uri="{FF2B5EF4-FFF2-40B4-BE49-F238E27FC236}">
                    <a16:creationId xmlns:a16="http://schemas.microsoft.com/office/drawing/2014/main" id="{4C3B1953-9788-41F5-B6C1-AA35D5E37D0A}"/>
                  </a:ext>
                </a:extLst>
              </p:cNvPr>
              <p:cNvSpPr/>
              <p:nvPr/>
            </p:nvSpPr>
            <p:spPr>
              <a:xfrm>
                <a:off x="3047832" y="5621281"/>
                <a:ext cx="644419" cy="60019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40" name="Рисунок 39">
                <a:extLst>
                  <a:ext uri="{FF2B5EF4-FFF2-40B4-BE49-F238E27FC236}">
                    <a16:creationId xmlns:a16="http://schemas.microsoft.com/office/drawing/2014/main" id="{02CF10AE-C980-4D6A-8165-58DFE5150D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127408" y="5710259"/>
                <a:ext cx="527794" cy="422235"/>
              </a:xfrm>
              <a:prstGeom prst="rect">
                <a:avLst/>
              </a:prstGeom>
            </p:spPr>
          </p:pic>
        </p:grpSp>
      </p:grp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A227AAD2-B9DF-4A67-BEF5-B33FBB1F1494}"/>
              </a:ext>
            </a:extLst>
          </p:cNvPr>
          <p:cNvSpPr/>
          <p:nvPr/>
        </p:nvSpPr>
        <p:spPr>
          <a:xfrm>
            <a:off x="0" y="-1194"/>
            <a:ext cx="12192000" cy="345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>
                <a:solidFill>
                  <a:schemeClr val="tx1"/>
                </a:solidFill>
              </a:rPr>
              <a:t>Терёшкин</a:t>
            </a:r>
            <a:r>
              <a:rPr lang="ru-RU" dirty="0">
                <a:solidFill>
                  <a:schemeClr val="tx1"/>
                </a:solidFill>
              </a:rPr>
              <a:t> Владимир, 8 «В», 2022, История</a:t>
            </a:r>
          </a:p>
        </p:txBody>
      </p:sp>
    </p:spTree>
    <p:extLst>
      <p:ext uri="{BB962C8B-B14F-4D97-AF65-F5344CB8AC3E}">
        <p14:creationId xmlns:p14="http://schemas.microsoft.com/office/powerpoint/2010/main" val="24168160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253AD1-FF45-4A8B-83CA-2B3F03ED610C}"/>
              </a:ext>
            </a:extLst>
          </p:cNvPr>
          <p:cNvSpPr/>
          <p:nvPr/>
        </p:nvSpPr>
        <p:spPr>
          <a:xfrm>
            <a:off x="0" y="0"/>
            <a:ext cx="10668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982B807-CFC4-4A2C-BE83-E7D9A0BAAD85}"/>
              </a:ext>
            </a:extLst>
          </p:cNvPr>
          <p:cNvGrpSpPr/>
          <p:nvPr/>
        </p:nvGrpSpPr>
        <p:grpSpPr>
          <a:xfrm>
            <a:off x="124679" y="1218960"/>
            <a:ext cx="825251" cy="768615"/>
            <a:chOff x="3082633" y="2402194"/>
            <a:chExt cx="644421" cy="600195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AD185FF-541F-4B60-B43B-29A68939ECF4}"/>
                </a:ext>
              </a:extLst>
            </p:cNvPr>
            <p:cNvSpPr/>
            <p:nvPr/>
          </p:nvSpPr>
          <p:spPr>
            <a:xfrm>
              <a:off x="3082633" y="2402194"/>
              <a:ext cx="644421" cy="6001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24B124DD-01EC-4BDC-A7EC-10EF22F00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10679" y="2480389"/>
              <a:ext cx="388328" cy="443804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48772B9-D4D0-4DA4-8890-0F5A71100B38}"/>
              </a:ext>
            </a:extLst>
          </p:cNvPr>
          <p:cNvGrpSpPr/>
          <p:nvPr/>
        </p:nvGrpSpPr>
        <p:grpSpPr>
          <a:xfrm>
            <a:off x="211188" y="2229769"/>
            <a:ext cx="644421" cy="600196"/>
            <a:chOff x="3062040" y="3214680"/>
            <a:chExt cx="644421" cy="6001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581198FA-BC21-4C92-BC0E-E781051C751C}"/>
                </a:ext>
              </a:extLst>
            </p:cNvPr>
            <p:cNvSpPr/>
            <p:nvPr/>
          </p:nvSpPr>
          <p:spPr>
            <a:xfrm>
              <a:off x="3062040" y="3214680"/>
              <a:ext cx="644421" cy="6001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665F8A85-C787-46F1-8846-CE9135D18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14402" y="3292933"/>
              <a:ext cx="339695" cy="494101"/>
            </a:xfrm>
            <a:prstGeom prst="rect">
              <a:avLst/>
            </a:prstGeom>
          </p:spPr>
        </p:pic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6C9A091-B716-4096-9EA3-DE6C5311BF56}"/>
              </a:ext>
            </a:extLst>
          </p:cNvPr>
          <p:cNvGrpSpPr/>
          <p:nvPr/>
        </p:nvGrpSpPr>
        <p:grpSpPr>
          <a:xfrm>
            <a:off x="211189" y="3083821"/>
            <a:ext cx="644420" cy="600194"/>
            <a:chOff x="3047832" y="3995289"/>
            <a:chExt cx="644420" cy="600194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0D1DA3D8-B03E-4838-AFBE-993E793D64F1}"/>
                </a:ext>
              </a:extLst>
            </p:cNvPr>
            <p:cNvSpPr/>
            <p:nvPr/>
          </p:nvSpPr>
          <p:spPr>
            <a:xfrm>
              <a:off x="3047832" y="3995289"/>
              <a:ext cx="644420" cy="6001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E1C80D51-3EEC-4654-BDA7-5D9D3F8B9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47533" y="4072879"/>
              <a:ext cx="445014" cy="445014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C3027C5-EAA1-4A6A-9D98-84A3C5310DF5}"/>
              </a:ext>
            </a:extLst>
          </p:cNvPr>
          <p:cNvGrpSpPr/>
          <p:nvPr/>
        </p:nvGrpSpPr>
        <p:grpSpPr>
          <a:xfrm>
            <a:off x="211187" y="3937871"/>
            <a:ext cx="644419" cy="600193"/>
            <a:chOff x="3047832" y="4806138"/>
            <a:chExt cx="644419" cy="600193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AB26B4A-982F-421F-A53B-11CF6A93C2B2}"/>
                </a:ext>
              </a:extLst>
            </p:cNvPr>
            <p:cNvSpPr/>
            <p:nvPr/>
          </p:nvSpPr>
          <p:spPr>
            <a:xfrm>
              <a:off x="3047832" y="4806138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0DA734AB-BC04-4266-B6E3-7607622AE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18404" y="4875699"/>
              <a:ext cx="345802" cy="461069"/>
            </a:xfrm>
            <a:prstGeom prst="rect">
              <a:avLst/>
            </a:prstGeom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0026C8-CAA8-46CC-86BF-F1F3285B77E8}"/>
              </a:ext>
            </a:extLst>
          </p:cNvPr>
          <p:cNvGrpSpPr/>
          <p:nvPr/>
        </p:nvGrpSpPr>
        <p:grpSpPr>
          <a:xfrm>
            <a:off x="228428" y="4791920"/>
            <a:ext cx="644419" cy="600193"/>
            <a:chOff x="3047832" y="5621281"/>
            <a:chExt cx="644419" cy="600193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606C4178-A4CE-4CD2-8E5A-FDD1D2656346}"/>
                </a:ext>
              </a:extLst>
            </p:cNvPr>
            <p:cNvSpPr/>
            <p:nvPr/>
          </p:nvSpPr>
          <p:spPr>
            <a:xfrm>
              <a:off x="3047832" y="5621281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EAB22600-FA43-41EF-ADB9-36E5D7E88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27408" y="5710259"/>
              <a:ext cx="527794" cy="422235"/>
            </a:xfrm>
            <a:prstGeom prst="rect">
              <a:avLst/>
            </a:prstGeom>
          </p:spPr>
        </p:pic>
      </p:grp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BEAD832-84F7-448E-82E9-6D8335175EB3}"/>
              </a:ext>
            </a:extLst>
          </p:cNvPr>
          <p:cNvSpPr/>
          <p:nvPr/>
        </p:nvSpPr>
        <p:spPr>
          <a:xfrm>
            <a:off x="1433945" y="273230"/>
            <a:ext cx="10321636" cy="104586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Академии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D4F6F0F-517C-4AD3-98C8-0CF815940E1B}"/>
              </a:ext>
            </a:extLst>
          </p:cNvPr>
          <p:cNvSpPr/>
          <p:nvPr/>
        </p:nvSpPr>
        <p:spPr>
          <a:xfrm>
            <a:off x="1469492" y="1628125"/>
            <a:ext cx="6158346" cy="12330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В то время «академиями» назывались многие научные общества в Европе.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C85BAE39-020F-480D-AC43-63265684752C}"/>
              </a:ext>
            </a:extLst>
          </p:cNvPr>
          <p:cNvSpPr/>
          <p:nvPr/>
        </p:nvSpPr>
        <p:spPr>
          <a:xfrm>
            <a:off x="1469492" y="3083821"/>
            <a:ext cx="6182821" cy="362178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Надо сказать, что тогда уже существовали: итальянская Академия дей </a:t>
            </a:r>
            <a:r>
              <a:rPr lang="ru-RU" sz="2400" dirty="0" err="1">
                <a:solidFill>
                  <a:schemeClr val="tx1"/>
                </a:solidFill>
              </a:rPr>
              <a:t>Линчеи</a:t>
            </a:r>
            <a:r>
              <a:rPr lang="ru-RU" sz="2400" dirty="0">
                <a:solidFill>
                  <a:schemeClr val="tx1"/>
                </a:solidFill>
              </a:rPr>
              <a:t> (</a:t>
            </a:r>
            <a:r>
              <a:rPr lang="ru-RU" sz="2400" dirty="0" err="1">
                <a:solidFill>
                  <a:schemeClr val="tx1"/>
                </a:solidFill>
              </a:rPr>
              <a:t>Accademia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dei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Lincei</a:t>
            </a:r>
            <a:r>
              <a:rPr lang="ru-RU" sz="2400" dirty="0">
                <a:solidFill>
                  <a:schemeClr val="tx1"/>
                </a:solidFill>
              </a:rPr>
              <a:t>); академии в Турине и Болонье; Французская академия (занималась проблемами языка и литературы); германское Общество испытателей природы; и многие другие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DCC4A5A-B8FC-4B7D-A39A-509019361F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182" y="1613242"/>
            <a:ext cx="3454156" cy="5092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95227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"/>
                            </p:stCondLst>
                            <p:childTnLst>
                              <p:par>
                                <p:cTn id="36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50"/>
                            </p:stCondLst>
                            <p:childTnLst>
                              <p:par>
                                <p:cTn id="48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253AD1-FF45-4A8B-83CA-2B3F03ED610C}"/>
              </a:ext>
            </a:extLst>
          </p:cNvPr>
          <p:cNvSpPr/>
          <p:nvPr/>
        </p:nvSpPr>
        <p:spPr>
          <a:xfrm>
            <a:off x="0" y="0"/>
            <a:ext cx="10668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982B807-CFC4-4A2C-BE83-E7D9A0BAAD85}"/>
              </a:ext>
            </a:extLst>
          </p:cNvPr>
          <p:cNvGrpSpPr/>
          <p:nvPr/>
        </p:nvGrpSpPr>
        <p:grpSpPr>
          <a:xfrm>
            <a:off x="211187" y="1333144"/>
            <a:ext cx="644419" cy="640000"/>
            <a:chOff x="3082633" y="2402194"/>
            <a:chExt cx="644421" cy="600195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AD185FF-541F-4B60-B43B-29A68939ECF4}"/>
                </a:ext>
              </a:extLst>
            </p:cNvPr>
            <p:cNvSpPr/>
            <p:nvPr/>
          </p:nvSpPr>
          <p:spPr>
            <a:xfrm>
              <a:off x="3082633" y="2402194"/>
              <a:ext cx="644421" cy="6001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24B124DD-01EC-4BDC-A7EC-10EF22F00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10679" y="2480389"/>
              <a:ext cx="388328" cy="443804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48772B9-D4D0-4DA4-8890-0F5A71100B38}"/>
              </a:ext>
            </a:extLst>
          </p:cNvPr>
          <p:cNvGrpSpPr/>
          <p:nvPr/>
        </p:nvGrpSpPr>
        <p:grpSpPr>
          <a:xfrm>
            <a:off x="126999" y="2121709"/>
            <a:ext cx="857251" cy="798420"/>
            <a:chOff x="3062040" y="3214680"/>
            <a:chExt cx="644421" cy="6001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581198FA-BC21-4C92-BC0E-E781051C751C}"/>
                </a:ext>
              </a:extLst>
            </p:cNvPr>
            <p:cNvSpPr/>
            <p:nvPr/>
          </p:nvSpPr>
          <p:spPr>
            <a:xfrm>
              <a:off x="3062040" y="3214680"/>
              <a:ext cx="644421" cy="6001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665F8A85-C787-46F1-8846-CE9135D18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14402" y="3292933"/>
              <a:ext cx="339695" cy="494101"/>
            </a:xfrm>
            <a:prstGeom prst="rect">
              <a:avLst/>
            </a:prstGeom>
          </p:spPr>
        </p:pic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6C9A091-B716-4096-9EA3-DE6C5311BF56}"/>
              </a:ext>
            </a:extLst>
          </p:cNvPr>
          <p:cNvGrpSpPr/>
          <p:nvPr/>
        </p:nvGrpSpPr>
        <p:grpSpPr>
          <a:xfrm>
            <a:off x="211189" y="3083821"/>
            <a:ext cx="644420" cy="600194"/>
            <a:chOff x="3047832" y="3995289"/>
            <a:chExt cx="644420" cy="600194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0D1DA3D8-B03E-4838-AFBE-993E793D64F1}"/>
                </a:ext>
              </a:extLst>
            </p:cNvPr>
            <p:cNvSpPr/>
            <p:nvPr/>
          </p:nvSpPr>
          <p:spPr>
            <a:xfrm>
              <a:off x="3047832" y="3995289"/>
              <a:ext cx="644420" cy="6001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E1C80D51-3EEC-4654-BDA7-5D9D3F8B9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47533" y="4072879"/>
              <a:ext cx="445014" cy="445014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C3027C5-EAA1-4A6A-9D98-84A3C5310DF5}"/>
              </a:ext>
            </a:extLst>
          </p:cNvPr>
          <p:cNvGrpSpPr/>
          <p:nvPr/>
        </p:nvGrpSpPr>
        <p:grpSpPr>
          <a:xfrm>
            <a:off x="211187" y="3937871"/>
            <a:ext cx="644419" cy="600193"/>
            <a:chOff x="3047832" y="4806138"/>
            <a:chExt cx="644419" cy="600193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AB26B4A-982F-421F-A53B-11CF6A93C2B2}"/>
                </a:ext>
              </a:extLst>
            </p:cNvPr>
            <p:cNvSpPr/>
            <p:nvPr/>
          </p:nvSpPr>
          <p:spPr>
            <a:xfrm>
              <a:off x="3047832" y="4806138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0DA734AB-BC04-4266-B6E3-7607622AE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18404" y="4875699"/>
              <a:ext cx="345802" cy="461069"/>
            </a:xfrm>
            <a:prstGeom prst="rect">
              <a:avLst/>
            </a:prstGeom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0026C8-CAA8-46CC-86BF-F1F3285B77E8}"/>
              </a:ext>
            </a:extLst>
          </p:cNvPr>
          <p:cNvGrpSpPr/>
          <p:nvPr/>
        </p:nvGrpSpPr>
        <p:grpSpPr>
          <a:xfrm>
            <a:off x="228428" y="4791920"/>
            <a:ext cx="644419" cy="600193"/>
            <a:chOff x="3047832" y="5621281"/>
            <a:chExt cx="644419" cy="600193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606C4178-A4CE-4CD2-8E5A-FDD1D2656346}"/>
                </a:ext>
              </a:extLst>
            </p:cNvPr>
            <p:cNvSpPr/>
            <p:nvPr/>
          </p:nvSpPr>
          <p:spPr>
            <a:xfrm>
              <a:off x="3047832" y="5621281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EAB22600-FA43-41EF-ADB9-36E5D7E88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27408" y="5710259"/>
              <a:ext cx="527794" cy="422235"/>
            </a:xfrm>
            <a:prstGeom prst="rect">
              <a:avLst/>
            </a:prstGeom>
          </p:spPr>
        </p:pic>
      </p:grp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BEAD832-84F7-448E-82E9-6D8335175EB3}"/>
              </a:ext>
            </a:extLst>
          </p:cNvPr>
          <p:cNvSpPr/>
          <p:nvPr/>
        </p:nvSpPr>
        <p:spPr>
          <a:xfrm>
            <a:off x="1433945" y="273230"/>
            <a:ext cx="10321636" cy="104586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Идея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62787C-A270-453D-A4A1-0F25920805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965" y="1653143"/>
            <a:ext cx="4686913" cy="30406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33E19420-92C8-4EAE-A6AB-DE73B3F01FD4}"/>
              </a:ext>
            </a:extLst>
          </p:cNvPr>
          <p:cNvSpPr/>
          <p:nvPr/>
        </p:nvSpPr>
        <p:spPr>
          <a:xfrm>
            <a:off x="1469492" y="1569189"/>
            <a:ext cx="5149577" cy="15146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План создания Академии наук сформировался у Петра I во время его заграничных путешествий.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606657E6-BC2A-4864-8D55-00E187D4143C}"/>
              </a:ext>
            </a:extLst>
          </p:cNvPr>
          <p:cNvSpPr/>
          <p:nvPr/>
        </p:nvSpPr>
        <p:spPr>
          <a:xfrm>
            <a:off x="1469491" y="3333912"/>
            <a:ext cx="5149577" cy="338554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300" dirty="0">
                <a:solidFill>
                  <a:schemeClr val="tx1"/>
                </a:solidFill>
              </a:rPr>
              <a:t>Во время своей поездки во Францию в мае 1717 г. он посетил Кабинет (библиотеку) короля в Тюильри, Королевскую типографию, обсерваторию, Сорбонну, Академию письменности и словесности и даже принял участие в заседании Королевской академии наук в Париже</a:t>
            </a:r>
            <a:r>
              <a:rPr lang="ru-RU" sz="2300" dirty="0"/>
              <a:t>.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11137D5-C95A-4A21-B2B6-D64C34C7D2F0}"/>
              </a:ext>
            </a:extLst>
          </p:cNvPr>
          <p:cNvSpPr/>
          <p:nvPr/>
        </p:nvSpPr>
        <p:spPr>
          <a:xfrm>
            <a:off x="6860613" y="4880898"/>
            <a:ext cx="4825616" cy="183855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</a:rPr>
              <a:t>Через полгода за участие в составлении подробнейшей карты Каспийского моря и его побережья члены французской Королевской академии наук единогласно избирают Петра I иностранным членом своей академии</a:t>
            </a:r>
          </a:p>
        </p:txBody>
      </p:sp>
    </p:spTree>
    <p:extLst>
      <p:ext uri="{BB962C8B-B14F-4D97-AF65-F5344CB8AC3E}">
        <p14:creationId xmlns:p14="http://schemas.microsoft.com/office/powerpoint/2010/main" val="1773488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"/>
                            </p:stCondLst>
                            <p:childTnLst>
                              <p:par>
                                <p:cTn id="42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253AD1-FF45-4A8B-83CA-2B3F03ED610C}"/>
              </a:ext>
            </a:extLst>
          </p:cNvPr>
          <p:cNvSpPr/>
          <p:nvPr/>
        </p:nvSpPr>
        <p:spPr>
          <a:xfrm>
            <a:off x="0" y="0"/>
            <a:ext cx="10668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982B807-CFC4-4A2C-BE83-E7D9A0BAAD85}"/>
              </a:ext>
            </a:extLst>
          </p:cNvPr>
          <p:cNvGrpSpPr/>
          <p:nvPr/>
        </p:nvGrpSpPr>
        <p:grpSpPr>
          <a:xfrm>
            <a:off x="211187" y="1333144"/>
            <a:ext cx="644419" cy="640000"/>
            <a:chOff x="3082633" y="2402194"/>
            <a:chExt cx="644421" cy="600195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AD185FF-541F-4B60-B43B-29A68939ECF4}"/>
                </a:ext>
              </a:extLst>
            </p:cNvPr>
            <p:cNvSpPr/>
            <p:nvPr/>
          </p:nvSpPr>
          <p:spPr>
            <a:xfrm>
              <a:off x="3082633" y="2402194"/>
              <a:ext cx="644421" cy="6001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24B124DD-01EC-4BDC-A7EC-10EF22F00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10679" y="2480389"/>
              <a:ext cx="388328" cy="443804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48772B9-D4D0-4DA4-8890-0F5A71100B38}"/>
              </a:ext>
            </a:extLst>
          </p:cNvPr>
          <p:cNvGrpSpPr/>
          <p:nvPr/>
        </p:nvGrpSpPr>
        <p:grpSpPr>
          <a:xfrm>
            <a:off x="126999" y="2121709"/>
            <a:ext cx="857251" cy="798420"/>
            <a:chOff x="3062040" y="3214680"/>
            <a:chExt cx="644421" cy="6001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581198FA-BC21-4C92-BC0E-E781051C751C}"/>
                </a:ext>
              </a:extLst>
            </p:cNvPr>
            <p:cNvSpPr/>
            <p:nvPr/>
          </p:nvSpPr>
          <p:spPr>
            <a:xfrm>
              <a:off x="3062040" y="3214680"/>
              <a:ext cx="644421" cy="6001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665F8A85-C787-46F1-8846-CE9135D18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14402" y="3292933"/>
              <a:ext cx="339695" cy="494101"/>
            </a:xfrm>
            <a:prstGeom prst="rect">
              <a:avLst/>
            </a:prstGeom>
          </p:spPr>
        </p:pic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6C9A091-B716-4096-9EA3-DE6C5311BF56}"/>
              </a:ext>
            </a:extLst>
          </p:cNvPr>
          <p:cNvGrpSpPr/>
          <p:nvPr/>
        </p:nvGrpSpPr>
        <p:grpSpPr>
          <a:xfrm>
            <a:off x="211189" y="3083821"/>
            <a:ext cx="644420" cy="600194"/>
            <a:chOff x="3047832" y="3995289"/>
            <a:chExt cx="644420" cy="600194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0D1DA3D8-B03E-4838-AFBE-993E793D64F1}"/>
                </a:ext>
              </a:extLst>
            </p:cNvPr>
            <p:cNvSpPr/>
            <p:nvPr/>
          </p:nvSpPr>
          <p:spPr>
            <a:xfrm>
              <a:off x="3047832" y="3995289"/>
              <a:ext cx="644420" cy="6001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E1C80D51-3EEC-4654-BDA7-5D9D3F8B9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47533" y="4072879"/>
              <a:ext cx="445014" cy="445014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C3027C5-EAA1-4A6A-9D98-84A3C5310DF5}"/>
              </a:ext>
            </a:extLst>
          </p:cNvPr>
          <p:cNvGrpSpPr/>
          <p:nvPr/>
        </p:nvGrpSpPr>
        <p:grpSpPr>
          <a:xfrm>
            <a:off x="211187" y="3937871"/>
            <a:ext cx="644419" cy="600193"/>
            <a:chOff x="3047832" y="4806138"/>
            <a:chExt cx="644419" cy="600193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AB26B4A-982F-421F-A53B-11CF6A93C2B2}"/>
                </a:ext>
              </a:extLst>
            </p:cNvPr>
            <p:cNvSpPr/>
            <p:nvPr/>
          </p:nvSpPr>
          <p:spPr>
            <a:xfrm>
              <a:off x="3047832" y="4806138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0DA734AB-BC04-4266-B6E3-7607622AE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18404" y="4875699"/>
              <a:ext cx="345802" cy="461069"/>
            </a:xfrm>
            <a:prstGeom prst="rect">
              <a:avLst/>
            </a:prstGeom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0026C8-CAA8-46CC-86BF-F1F3285B77E8}"/>
              </a:ext>
            </a:extLst>
          </p:cNvPr>
          <p:cNvGrpSpPr/>
          <p:nvPr/>
        </p:nvGrpSpPr>
        <p:grpSpPr>
          <a:xfrm>
            <a:off x="228428" y="4791920"/>
            <a:ext cx="644419" cy="600193"/>
            <a:chOff x="3047832" y="5621281"/>
            <a:chExt cx="644419" cy="600193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606C4178-A4CE-4CD2-8E5A-FDD1D2656346}"/>
                </a:ext>
              </a:extLst>
            </p:cNvPr>
            <p:cNvSpPr/>
            <p:nvPr/>
          </p:nvSpPr>
          <p:spPr>
            <a:xfrm>
              <a:off x="3047832" y="5621281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EAB22600-FA43-41EF-ADB9-36E5D7E88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27408" y="5710259"/>
              <a:ext cx="527794" cy="422235"/>
            </a:xfrm>
            <a:prstGeom prst="rect">
              <a:avLst/>
            </a:prstGeom>
          </p:spPr>
        </p:pic>
      </p:grp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BEAD832-84F7-448E-82E9-6D8335175EB3}"/>
              </a:ext>
            </a:extLst>
          </p:cNvPr>
          <p:cNvSpPr/>
          <p:nvPr/>
        </p:nvSpPr>
        <p:spPr>
          <a:xfrm>
            <a:off x="1433945" y="273230"/>
            <a:ext cx="10321636" cy="104586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Идея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62787C-A270-453D-A4A1-0F25920805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965" y="1653143"/>
            <a:ext cx="4686913" cy="30406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11137D5-C95A-4A21-B2B6-D64C34C7D2F0}"/>
              </a:ext>
            </a:extLst>
          </p:cNvPr>
          <p:cNvSpPr/>
          <p:nvPr/>
        </p:nvSpPr>
        <p:spPr>
          <a:xfrm>
            <a:off x="1585574" y="1653143"/>
            <a:ext cx="4825616" cy="304063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</a:rPr>
              <a:t>А между тем Петр посещает и Лондонское Королевское общество, и Гринвич, и Оксфорд, многочисленные музеи и лаборатории. Приезжая в Голландию, он тесно общается с голландскими мыслителями и другими виднейшими иностранными философами.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BF0BCF83-3538-4712-AFB2-1F5E337DCCF4}"/>
              </a:ext>
            </a:extLst>
          </p:cNvPr>
          <p:cNvSpPr/>
          <p:nvPr/>
        </p:nvSpPr>
        <p:spPr>
          <a:xfrm>
            <a:off x="1585574" y="5027823"/>
            <a:ext cx="10170007" cy="161923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300" dirty="0">
                <a:solidFill>
                  <a:schemeClr val="tx1"/>
                </a:solidFill>
              </a:rPr>
              <a:t>Увиденное и услышанное производит на него большое впечатление. После таких встреч и поездок мысль организовать в России научно-учебные центры, подобные университетам и академиям Западной Европы, уже никогда не покидает царя.</a:t>
            </a:r>
          </a:p>
        </p:txBody>
      </p:sp>
    </p:spTree>
    <p:extLst>
      <p:ext uri="{BB962C8B-B14F-4D97-AF65-F5344CB8AC3E}">
        <p14:creationId xmlns:p14="http://schemas.microsoft.com/office/powerpoint/2010/main" val="1959311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7" grpId="0" animBg="1"/>
      <p:bldP spid="27" grpId="1" animBg="1"/>
      <p:bldP spid="23" grpId="0" animBg="1"/>
      <p:bldP spid="2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253AD1-FF45-4A8B-83CA-2B3F03ED610C}"/>
              </a:ext>
            </a:extLst>
          </p:cNvPr>
          <p:cNvSpPr/>
          <p:nvPr/>
        </p:nvSpPr>
        <p:spPr>
          <a:xfrm>
            <a:off x="0" y="0"/>
            <a:ext cx="10668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982B807-CFC4-4A2C-BE83-E7D9A0BAAD85}"/>
              </a:ext>
            </a:extLst>
          </p:cNvPr>
          <p:cNvGrpSpPr/>
          <p:nvPr/>
        </p:nvGrpSpPr>
        <p:grpSpPr>
          <a:xfrm>
            <a:off x="211187" y="1333144"/>
            <a:ext cx="644419" cy="640000"/>
            <a:chOff x="3082633" y="2402194"/>
            <a:chExt cx="644421" cy="600195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AD185FF-541F-4B60-B43B-29A68939ECF4}"/>
                </a:ext>
              </a:extLst>
            </p:cNvPr>
            <p:cNvSpPr/>
            <p:nvPr/>
          </p:nvSpPr>
          <p:spPr>
            <a:xfrm>
              <a:off x="3082633" y="2402194"/>
              <a:ext cx="644421" cy="6001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24B124DD-01EC-4BDC-A7EC-10EF22F00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10679" y="2480389"/>
              <a:ext cx="388328" cy="443804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48772B9-D4D0-4DA4-8890-0F5A71100B38}"/>
              </a:ext>
            </a:extLst>
          </p:cNvPr>
          <p:cNvGrpSpPr/>
          <p:nvPr/>
        </p:nvGrpSpPr>
        <p:grpSpPr>
          <a:xfrm>
            <a:off x="211187" y="2229772"/>
            <a:ext cx="644418" cy="600193"/>
            <a:chOff x="3062040" y="3214680"/>
            <a:chExt cx="644421" cy="6001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581198FA-BC21-4C92-BC0E-E781051C751C}"/>
                </a:ext>
              </a:extLst>
            </p:cNvPr>
            <p:cNvSpPr/>
            <p:nvPr/>
          </p:nvSpPr>
          <p:spPr>
            <a:xfrm>
              <a:off x="3062040" y="3214680"/>
              <a:ext cx="644421" cy="6001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665F8A85-C787-46F1-8846-CE9135D18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14403" y="3270214"/>
              <a:ext cx="339695" cy="494101"/>
            </a:xfrm>
            <a:prstGeom prst="rect">
              <a:avLst/>
            </a:prstGeom>
          </p:spPr>
        </p:pic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6C9A091-B716-4096-9EA3-DE6C5311BF56}"/>
              </a:ext>
            </a:extLst>
          </p:cNvPr>
          <p:cNvGrpSpPr/>
          <p:nvPr/>
        </p:nvGrpSpPr>
        <p:grpSpPr>
          <a:xfrm>
            <a:off x="143958" y="2997668"/>
            <a:ext cx="824421" cy="767841"/>
            <a:chOff x="3047832" y="3995289"/>
            <a:chExt cx="644420" cy="600194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0D1DA3D8-B03E-4838-AFBE-993E793D64F1}"/>
                </a:ext>
              </a:extLst>
            </p:cNvPr>
            <p:cNvSpPr/>
            <p:nvPr/>
          </p:nvSpPr>
          <p:spPr>
            <a:xfrm>
              <a:off x="3047832" y="3995289"/>
              <a:ext cx="644420" cy="6001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E1C80D51-3EEC-4654-BDA7-5D9D3F8B9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47533" y="4072879"/>
              <a:ext cx="445014" cy="445014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C3027C5-EAA1-4A6A-9D98-84A3C5310DF5}"/>
              </a:ext>
            </a:extLst>
          </p:cNvPr>
          <p:cNvGrpSpPr/>
          <p:nvPr/>
        </p:nvGrpSpPr>
        <p:grpSpPr>
          <a:xfrm>
            <a:off x="211187" y="3937871"/>
            <a:ext cx="644419" cy="600193"/>
            <a:chOff x="3047832" y="4806138"/>
            <a:chExt cx="644419" cy="600193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AB26B4A-982F-421F-A53B-11CF6A93C2B2}"/>
                </a:ext>
              </a:extLst>
            </p:cNvPr>
            <p:cNvSpPr/>
            <p:nvPr/>
          </p:nvSpPr>
          <p:spPr>
            <a:xfrm>
              <a:off x="3047832" y="4806138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0DA734AB-BC04-4266-B6E3-7607622AE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18404" y="4875699"/>
              <a:ext cx="345802" cy="461069"/>
            </a:xfrm>
            <a:prstGeom prst="rect">
              <a:avLst/>
            </a:prstGeom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0026C8-CAA8-46CC-86BF-F1F3285B77E8}"/>
              </a:ext>
            </a:extLst>
          </p:cNvPr>
          <p:cNvGrpSpPr/>
          <p:nvPr/>
        </p:nvGrpSpPr>
        <p:grpSpPr>
          <a:xfrm>
            <a:off x="228428" y="4791920"/>
            <a:ext cx="644419" cy="600193"/>
            <a:chOff x="3047832" y="5621281"/>
            <a:chExt cx="644419" cy="600193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606C4178-A4CE-4CD2-8E5A-FDD1D2656346}"/>
                </a:ext>
              </a:extLst>
            </p:cNvPr>
            <p:cNvSpPr/>
            <p:nvPr/>
          </p:nvSpPr>
          <p:spPr>
            <a:xfrm>
              <a:off x="3047832" y="5621281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EAB22600-FA43-41EF-ADB9-36E5D7E88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27408" y="5710259"/>
              <a:ext cx="527794" cy="422235"/>
            </a:xfrm>
            <a:prstGeom prst="rect">
              <a:avLst/>
            </a:prstGeom>
          </p:spPr>
        </p:pic>
      </p:grp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BEAD832-84F7-448E-82E9-6D8335175EB3}"/>
              </a:ext>
            </a:extLst>
          </p:cNvPr>
          <p:cNvSpPr/>
          <p:nvPr/>
        </p:nvSpPr>
        <p:spPr>
          <a:xfrm>
            <a:off x="1433945" y="273230"/>
            <a:ext cx="10321636" cy="104586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Создание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11137D5-C95A-4A21-B2B6-D64C34C7D2F0}"/>
              </a:ext>
            </a:extLst>
          </p:cNvPr>
          <p:cNvSpPr/>
          <p:nvPr/>
        </p:nvSpPr>
        <p:spPr>
          <a:xfrm>
            <a:off x="1451398" y="1563504"/>
            <a:ext cx="5171864" cy="290499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200" dirty="0">
                <a:solidFill>
                  <a:schemeClr val="tx1"/>
                </a:solidFill>
              </a:rPr>
              <a:t>Основана 8 февраля (28 января по старому стилю) 1724 г. указом Сената по распоряжению императора Петра I, первые годы не имела фиксированного названия, часто именовалась "Академией наук" или "Академией наук и художеств".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099BCA09-A42A-47D1-9253-76B40E6115FA}"/>
              </a:ext>
            </a:extLst>
          </p:cNvPr>
          <p:cNvGrpSpPr/>
          <p:nvPr/>
        </p:nvGrpSpPr>
        <p:grpSpPr>
          <a:xfrm>
            <a:off x="6891633" y="1790789"/>
            <a:ext cx="4918608" cy="4663002"/>
            <a:chOff x="6965388" y="1759527"/>
            <a:chExt cx="4918608" cy="4663002"/>
          </a:xfrm>
        </p:grpSpPr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F39E4ADA-A017-4419-BBC9-356C30AE6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5388" y="1759527"/>
              <a:ext cx="4896931" cy="187919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A6A57BD2-EA86-4A03-AF60-457436070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5388" y="3650211"/>
              <a:ext cx="4918608" cy="277231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EE405FA0-DF81-4022-9A8E-39CB652B2F29}"/>
              </a:ext>
            </a:extLst>
          </p:cNvPr>
          <p:cNvSpPr/>
          <p:nvPr/>
        </p:nvSpPr>
        <p:spPr>
          <a:xfrm>
            <a:off x="1451398" y="4712908"/>
            <a:ext cx="5171864" cy="182054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200" dirty="0">
                <a:solidFill>
                  <a:srgbClr val="000000"/>
                </a:solidFill>
              </a:rPr>
              <a:t>Первое торжественное собрание академии прошло уже после смерти Петра I, 7 января 1726 г. - эта дата считается ее официальным днем открытия.</a:t>
            </a:r>
          </a:p>
        </p:txBody>
      </p:sp>
    </p:spTree>
    <p:extLst>
      <p:ext uri="{BB962C8B-B14F-4D97-AF65-F5344CB8AC3E}">
        <p14:creationId xmlns:p14="http://schemas.microsoft.com/office/powerpoint/2010/main" val="13358160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"/>
                            </p:stCondLst>
                            <p:childTnLst>
                              <p:par>
                                <p:cTn id="36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7" grpId="0" animBg="1"/>
      <p:bldP spid="27" grpId="1" animBg="1"/>
      <p:bldP spid="29" grpId="0" animBg="1"/>
      <p:bldP spid="2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253AD1-FF45-4A8B-83CA-2B3F03ED610C}"/>
              </a:ext>
            </a:extLst>
          </p:cNvPr>
          <p:cNvSpPr/>
          <p:nvPr/>
        </p:nvSpPr>
        <p:spPr>
          <a:xfrm>
            <a:off x="0" y="0"/>
            <a:ext cx="10668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982B807-CFC4-4A2C-BE83-E7D9A0BAAD85}"/>
              </a:ext>
            </a:extLst>
          </p:cNvPr>
          <p:cNvGrpSpPr/>
          <p:nvPr/>
        </p:nvGrpSpPr>
        <p:grpSpPr>
          <a:xfrm>
            <a:off x="211187" y="1333144"/>
            <a:ext cx="644419" cy="640000"/>
            <a:chOff x="3082633" y="2402194"/>
            <a:chExt cx="644421" cy="600195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AD185FF-541F-4B60-B43B-29A68939ECF4}"/>
                </a:ext>
              </a:extLst>
            </p:cNvPr>
            <p:cNvSpPr/>
            <p:nvPr/>
          </p:nvSpPr>
          <p:spPr>
            <a:xfrm>
              <a:off x="3082633" y="2402194"/>
              <a:ext cx="644421" cy="6001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24B124DD-01EC-4BDC-A7EC-10EF22F00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10679" y="2480389"/>
              <a:ext cx="388328" cy="443804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48772B9-D4D0-4DA4-8890-0F5A71100B38}"/>
              </a:ext>
            </a:extLst>
          </p:cNvPr>
          <p:cNvGrpSpPr/>
          <p:nvPr/>
        </p:nvGrpSpPr>
        <p:grpSpPr>
          <a:xfrm>
            <a:off x="211187" y="2229772"/>
            <a:ext cx="644418" cy="600193"/>
            <a:chOff x="3062040" y="3214680"/>
            <a:chExt cx="644421" cy="6001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581198FA-BC21-4C92-BC0E-E781051C751C}"/>
                </a:ext>
              </a:extLst>
            </p:cNvPr>
            <p:cNvSpPr/>
            <p:nvPr/>
          </p:nvSpPr>
          <p:spPr>
            <a:xfrm>
              <a:off x="3062040" y="3214680"/>
              <a:ext cx="644421" cy="6001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665F8A85-C787-46F1-8846-CE9135D18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14403" y="3270214"/>
              <a:ext cx="339695" cy="494101"/>
            </a:xfrm>
            <a:prstGeom prst="rect">
              <a:avLst/>
            </a:prstGeom>
          </p:spPr>
        </p:pic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6C9A091-B716-4096-9EA3-DE6C5311BF56}"/>
              </a:ext>
            </a:extLst>
          </p:cNvPr>
          <p:cNvGrpSpPr/>
          <p:nvPr/>
        </p:nvGrpSpPr>
        <p:grpSpPr>
          <a:xfrm>
            <a:off x="143958" y="2997668"/>
            <a:ext cx="824421" cy="767841"/>
            <a:chOff x="3047832" y="3995289"/>
            <a:chExt cx="644420" cy="600194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0D1DA3D8-B03E-4838-AFBE-993E793D64F1}"/>
                </a:ext>
              </a:extLst>
            </p:cNvPr>
            <p:cNvSpPr/>
            <p:nvPr/>
          </p:nvSpPr>
          <p:spPr>
            <a:xfrm>
              <a:off x="3047832" y="3995289"/>
              <a:ext cx="644420" cy="6001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E1C80D51-3EEC-4654-BDA7-5D9D3F8B9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47533" y="4072879"/>
              <a:ext cx="445014" cy="445014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C3027C5-EAA1-4A6A-9D98-84A3C5310DF5}"/>
              </a:ext>
            </a:extLst>
          </p:cNvPr>
          <p:cNvGrpSpPr/>
          <p:nvPr/>
        </p:nvGrpSpPr>
        <p:grpSpPr>
          <a:xfrm>
            <a:off x="211187" y="3937871"/>
            <a:ext cx="644419" cy="600193"/>
            <a:chOff x="3047832" y="4806138"/>
            <a:chExt cx="644419" cy="600193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AB26B4A-982F-421F-A53B-11CF6A93C2B2}"/>
                </a:ext>
              </a:extLst>
            </p:cNvPr>
            <p:cNvSpPr/>
            <p:nvPr/>
          </p:nvSpPr>
          <p:spPr>
            <a:xfrm>
              <a:off x="3047832" y="4806138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0DA734AB-BC04-4266-B6E3-7607622AE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18404" y="4875699"/>
              <a:ext cx="345802" cy="461069"/>
            </a:xfrm>
            <a:prstGeom prst="rect">
              <a:avLst/>
            </a:prstGeom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0026C8-CAA8-46CC-86BF-F1F3285B77E8}"/>
              </a:ext>
            </a:extLst>
          </p:cNvPr>
          <p:cNvGrpSpPr/>
          <p:nvPr/>
        </p:nvGrpSpPr>
        <p:grpSpPr>
          <a:xfrm>
            <a:off x="228428" y="4791920"/>
            <a:ext cx="644419" cy="600193"/>
            <a:chOff x="3047832" y="5621281"/>
            <a:chExt cx="644419" cy="600193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606C4178-A4CE-4CD2-8E5A-FDD1D2656346}"/>
                </a:ext>
              </a:extLst>
            </p:cNvPr>
            <p:cNvSpPr/>
            <p:nvPr/>
          </p:nvSpPr>
          <p:spPr>
            <a:xfrm>
              <a:off x="3047832" y="5621281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EAB22600-FA43-41EF-ADB9-36E5D7E88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27408" y="5710259"/>
              <a:ext cx="527794" cy="422235"/>
            </a:xfrm>
            <a:prstGeom prst="rect">
              <a:avLst/>
            </a:prstGeom>
          </p:spPr>
        </p:pic>
      </p:grp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BEAD832-84F7-448E-82E9-6D8335175EB3}"/>
              </a:ext>
            </a:extLst>
          </p:cNvPr>
          <p:cNvSpPr/>
          <p:nvPr/>
        </p:nvSpPr>
        <p:spPr>
          <a:xfrm>
            <a:off x="1433945" y="273230"/>
            <a:ext cx="10321636" cy="104586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Создание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11137D5-C95A-4A21-B2B6-D64C34C7D2F0}"/>
              </a:ext>
            </a:extLst>
          </p:cNvPr>
          <p:cNvSpPr/>
          <p:nvPr/>
        </p:nvSpPr>
        <p:spPr>
          <a:xfrm>
            <a:off x="1451398" y="1746206"/>
            <a:ext cx="5171864" cy="220200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300" dirty="0">
                <a:solidFill>
                  <a:schemeClr val="tx1"/>
                </a:solidFill>
              </a:rPr>
              <a:t>Первоначально располагалась в доме барона Петра Шафирова на Петроградской стороне, в 1728 г. переехала в новое здание Кунсткамеры на Васильевском острове.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39E4ADA-A017-4419-BBC9-356C30AE6B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69" y="1844240"/>
            <a:ext cx="4873823" cy="1870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EE405FA0-DF81-4022-9A8E-39CB652B2F29}"/>
              </a:ext>
            </a:extLst>
          </p:cNvPr>
          <p:cNvSpPr/>
          <p:nvPr/>
        </p:nvSpPr>
        <p:spPr>
          <a:xfrm>
            <a:off x="1451398" y="4141677"/>
            <a:ext cx="10432598" cy="239177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В 1747 г. императрица Елизавета Петровна присвоила учреждению постоянное название - Императорская академия наук и художеств в Санкт-Петербурге. Впоследствии оно называлось Императорской академией наук (1803-1836), Императорской Санкт-Петербургской академией наук (1836-1917). В мае 1917 г. была переименована в Российскую академию наук. В 1925 г. получила название Академия наук (АН) СССР.</a:t>
            </a:r>
          </a:p>
        </p:txBody>
      </p:sp>
    </p:spTree>
    <p:extLst>
      <p:ext uri="{BB962C8B-B14F-4D97-AF65-F5344CB8AC3E}">
        <p14:creationId xmlns:p14="http://schemas.microsoft.com/office/powerpoint/2010/main" val="3163011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9" grpId="0" animBg="1"/>
      <p:bldP spid="2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253AD1-FF45-4A8B-83CA-2B3F03ED610C}"/>
              </a:ext>
            </a:extLst>
          </p:cNvPr>
          <p:cNvSpPr/>
          <p:nvPr/>
        </p:nvSpPr>
        <p:spPr>
          <a:xfrm>
            <a:off x="0" y="0"/>
            <a:ext cx="10668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982B807-CFC4-4A2C-BE83-E7D9A0BAAD85}"/>
              </a:ext>
            </a:extLst>
          </p:cNvPr>
          <p:cNvGrpSpPr/>
          <p:nvPr/>
        </p:nvGrpSpPr>
        <p:grpSpPr>
          <a:xfrm>
            <a:off x="211187" y="1333144"/>
            <a:ext cx="644419" cy="640000"/>
            <a:chOff x="3082633" y="2402194"/>
            <a:chExt cx="644421" cy="600195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AD185FF-541F-4B60-B43B-29A68939ECF4}"/>
                </a:ext>
              </a:extLst>
            </p:cNvPr>
            <p:cNvSpPr/>
            <p:nvPr/>
          </p:nvSpPr>
          <p:spPr>
            <a:xfrm>
              <a:off x="3082633" y="2402194"/>
              <a:ext cx="644421" cy="6001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24B124DD-01EC-4BDC-A7EC-10EF22F00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10679" y="2480389"/>
              <a:ext cx="388328" cy="443804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48772B9-D4D0-4DA4-8890-0F5A71100B38}"/>
              </a:ext>
            </a:extLst>
          </p:cNvPr>
          <p:cNvGrpSpPr/>
          <p:nvPr/>
        </p:nvGrpSpPr>
        <p:grpSpPr>
          <a:xfrm>
            <a:off x="211187" y="2229772"/>
            <a:ext cx="644418" cy="600193"/>
            <a:chOff x="3062040" y="3214680"/>
            <a:chExt cx="644421" cy="6001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581198FA-BC21-4C92-BC0E-E781051C751C}"/>
                </a:ext>
              </a:extLst>
            </p:cNvPr>
            <p:cNvSpPr/>
            <p:nvPr/>
          </p:nvSpPr>
          <p:spPr>
            <a:xfrm>
              <a:off x="3062040" y="3214680"/>
              <a:ext cx="644421" cy="6001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665F8A85-C787-46F1-8846-CE9135D18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14403" y="3270214"/>
              <a:ext cx="339695" cy="494101"/>
            </a:xfrm>
            <a:prstGeom prst="rect">
              <a:avLst/>
            </a:prstGeom>
          </p:spPr>
        </p:pic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6C9A091-B716-4096-9EA3-DE6C5311BF56}"/>
              </a:ext>
            </a:extLst>
          </p:cNvPr>
          <p:cNvGrpSpPr/>
          <p:nvPr/>
        </p:nvGrpSpPr>
        <p:grpSpPr>
          <a:xfrm>
            <a:off x="211187" y="3128903"/>
            <a:ext cx="644421" cy="600194"/>
            <a:chOff x="3047832" y="3995289"/>
            <a:chExt cx="644420" cy="600194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0D1DA3D8-B03E-4838-AFBE-993E793D64F1}"/>
                </a:ext>
              </a:extLst>
            </p:cNvPr>
            <p:cNvSpPr/>
            <p:nvPr/>
          </p:nvSpPr>
          <p:spPr>
            <a:xfrm>
              <a:off x="3047832" y="3995289"/>
              <a:ext cx="644420" cy="6001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E1C80D51-3EEC-4654-BDA7-5D9D3F8B9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47533" y="4072879"/>
              <a:ext cx="445014" cy="445014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C3027C5-EAA1-4A6A-9D98-84A3C5310DF5}"/>
              </a:ext>
            </a:extLst>
          </p:cNvPr>
          <p:cNvGrpSpPr/>
          <p:nvPr/>
        </p:nvGrpSpPr>
        <p:grpSpPr>
          <a:xfrm>
            <a:off x="148651" y="3902169"/>
            <a:ext cx="769488" cy="716679"/>
            <a:chOff x="3047832" y="4806138"/>
            <a:chExt cx="644419" cy="600193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AB26B4A-982F-421F-A53B-11CF6A93C2B2}"/>
                </a:ext>
              </a:extLst>
            </p:cNvPr>
            <p:cNvSpPr/>
            <p:nvPr/>
          </p:nvSpPr>
          <p:spPr>
            <a:xfrm>
              <a:off x="3047832" y="4806138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0DA734AB-BC04-4266-B6E3-7607622AE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18404" y="4875699"/>
              <a:ext cx="345802" cy="461069"/>
            </a:xfrm>
            <a:prstGeom prst="rect">
              <a:avLst/>
            </a:prstGeom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0026C8-CAA8-46CC-86BF-F1F3285B77E8}"/>
              </a:ext>
            </a:extLst>
          </p:cNvPr>
          <p:cNvGrpSpPr/>
          <p:nvPr/>
        </p:nvGrpSpPr>
        <p:grpSpPr>
          <a:xfrm>
            <a:off x="228428" y="4791920"/>
            <a:ext cx="644419" cy="600193"/>
            <a:chOff x="3047832" y="5621281"/>
            <a:chExt cx="644419" cy="600193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606C4178-A4CE-4CD2-8E5A-FDD1D2656346}"/>
                </a:ext>
              </a:extLst>
            </p:cNvPr>
            <p:cNvSpPr/>
            <p:nvPr/>
          </p:nvSpPr>
          <p:spPr>
            <a:xfrm>
              <a:off x="3047832" y="5621281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EAB22600-FA43-41EF-ADB9-36E5D7E88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27408" y="5710259"/>
              <a:ext cx="527794" cy="422235"/>
            </a:xfrm>
            <a:prstGeom prst="rect">
              <a:avLst/>
            </a:prstGeom>
          </p:spPr>
        </p:pic>
      </p:grp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BEAD832-84F7-448E-82E9-6D8335175EB3}"/>
              </a:ext>
            </a:extLst>
          </p:cNvPr>
          <p:cNvSpPr/>
          <p:nvPr/>
        </p:nvSpPr>
        <p:spPr>
          <a:xfrm>
            <a:off x="1433945" y="273230"/>
            <a:ext cx="10321636" cy="104586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Планы на создание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93256B3-10AF-4C69-8FB5-A8606135B392}"/>
              </a:ext>
            </a:extLst>
          </p:cNvPr>
          <p:cNvSpPr/>
          <p:nvPr/>
        </p:nvSpPr>
        <p:spPr>
          <a:xfrm>
            <a:off x="1443479" y="1546907"/>
            <a:ext cx="10312102" cy="151856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300" dirty="0">
                <a:solidFill>
                  <a:schemeClr val="tx1"/>
                </a:solidFill>
              </a:rPr>
              <a:t>В соответствии с проектом Российская академия наук должна была по своей структуре значительно отличаться от западноевропейских академий.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7453EE54-C8E6-4602-A4BD-988F95AD2B7C}"/>
              </a:ext>
            </a:extLst>
          </p:cNvPr>
          <p:cNvGrpSpPr/>
          <p:nvPr/>
        </p:nvGrpSpPr>
        <p:grpSpPr>
          <a:xfrm>
            <a:off x="1332278" y="3284436"/>
            <a:ext cx="5087077" cy="3300334"/>
            <a:chOff x="6571627" y="838004"/>
            <a:chExt cx="5087077" cy="3300334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3210BCE9-0167-4055-8BA5-E3ED7E8BFBFB}"/>
                </a:ext>
              </a:extLst>
            </p:cNvPr>
            <p:cNvSpPr/>
            <p:nvPr/>
          </p:nvSpPr>
          <p:spPr>
            <a:xfrm>
              <a:off x="6595857" y="966909"/>
              <a:ext cx="623454" cy="6315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CECA7C8C-D388-42F4-BE2B-A37E05D80C27}"/>
                </a:ext>
              </a:extLst>
            </p:cNvPr>
            <p:cNvSpPr/>
            <p:nvPr/>
          </p:nvSpPr>
          <p:spPr>
            <a:xfrm>
              <a:off x="7378227" y="838004"/>
              <a:ext cx="4224539" cy="8893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tx1"/>
                  </a:solidFill>
                </a:rPr>
                <a:t>Совмещение научного исследования и обучения</a:t>
              </a:r>
            </a:p>
          </p:txBody>
        </p:sp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30B6E815-9E14-4DB9-B156-E8C1E2D7F762}"/>
                </a:ext>
              </a:extLst>
            </p:cNvPr>
            <p:cNvSpPr/>
            <p:nvPr/>
          </p:nvSpPr>
          <p:spPr>
            <a:xfrm>
              <a:off x="6571627" y="1959314"/>
              <a:ext cx="5087077" cy="21790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2200" dirty="0">
                  <a:solidFill>
                    <a:schemeClr val="tx1"/>
                  </a:solidFill>
                </a:rPr>
                <a:t>Она образовывала единство с Академическим университетом и гимназией, которые создавались при ней. </a:t>
              </a:r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8B130C32-B906-4810-B30E-F5D150243E3C}"/>
              </a:ext>
            </a:extLst>
          </p:cNvPr>
          <p:cNvGrpSpPr/>
          <p:nvPr/>
        </p:nvGrpSpPr>
        <p:grpSpPr>
          <a:xfrm>
            <a:off x="6650357" y="3284434"/>
            <a:ext cx="5313215" cy="3300336"/>
            <a:chOff x="6571626" y="3405265"/>
            <a:chExt cx="5313215" cy="3300336"/>
          </a:xfrm>
        </p:grpSpPr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54E14B1B-9F65-4C6B-8203-85C59520D521}"/>
                </a:ext>
              </a:extLst>
            </p:cNvPr>
            <p:cNvSpPr/>
            <p:nvPr/>
          </p:nvSpPr>
          <p:spPr>
            <a:xfrm>
              <a:off x="6571626" y="3534171"/>
              <a:ext cx="623454" cy="6315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A33A14F4-F3D0-464F-A8D4-1D85938C801A}"/>
                </a:ext>
              </a:extLst>
            </p:cNvPr>
            <p:cNvSpPr/>
            <p:nvPr/>
          </p:nvSpPr>
          <p:spPr>
            <a:xfrm>
              <a:off x="7356764" y="3405265"/>
              <a:ext cx="4494956" cy="8893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tx1"/>
                  </a:solidFill>
                </a:rPr>
                <a:t>Государственное учреждение</a:t>
              </a:r>
            </a:p>
          </p:txBody>
        </p:sp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1A500FE1-3DD8-409A-9E39-349969E06248}"/>
                </a:ext>
              </a:extLst>
            </p:cNvPr>
            <p:cNvSpPr/>
            <p:nvPr/>
          </p:nvSpPr>
          <p:spPr>
            <a:xfrm>
              <a:off x="6571626" y="4526577"/>
              <a:ext cx="5313215" cy="21790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2100" dirty="0">
                  <a:solidFill>
                    <a:schemeClr val="tx1"/>
                  </a:solidFill>
                </a:rPr>
                <a:t>Она представляла собой государственное учреждение (в отличие от частных и общественных западноевропейских), которое финансировалось за счёт государственной казны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622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"/>
                            </p:stCondLst>
                            <p:childTnLst>
                              <p:par>
                                <p:cTn id="36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50"/>
                            </p:stCondLst>
                            <p:childTnLst>
                              <p:par>
                                <p:cTn id="48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5" grpId="0" animBg="1"/>
      <p:bldP spid="2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253AD1-FF45-4A8B-83CA-2B3F03ED610C}"/>
              </a:ext>
            </a:extLst>
          </p:cNvPr>
          <p:cNvSpPr/>
          <p:nvPr/>
        </p:nvSpPr>
        <p:spPr>
          <a:xfrm>
            <a:off x="0" y="0"/>
            <a:ext cx="10668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982B807-CFC4-4A2C-BE83-E7D9A0BAAD85}"/>
              </a:ext>
            </a:extLst>
          </p:cNvPr>
          <p:cNvGrpSpPr/>
          <p:nvPr/>
        </p:nvGrpSpPr>
        <p:grpSpPr>
          <a:xfrm>
            <a:off x="211187" y="1333144"/>
            <a:ext cx="644419" cy="640000"/>
            <a:chOff x="3082633" y="2402194"/>
            <a:chExt cx="644421" cy="600195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AD185FF-541F-4B60-B43B-29A68939ECF4}"/>
                </a:ext>
              </a:extLst>
            </p:cNvPr>
            <p:cNvSpPr/>
            <p:nvPr/>
          </p:nvSpPr>
          <p:spPr>
            <a:xfrm>
              <a:off x="3082633" y="2402194"/>
              <a:ext cx="644421" cy="6001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24B124DD-01EC-4BDC-A7EC-10EF22F00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10679" y="2480389"/>
              <a:ext cx="388328" cy="443804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48772B9-D4D0-4DA4-8890-0F5A71100B38}"/>
              </a:ext>
            </a:extLst>
          </p:cNvPr>
          <p:cNvGrpSpPr/>
          <p:nvPr/>
        </p:nvGrpSpPr>
        <p:grpSpPr>
          <a:xfrm>
            <a:off x="211187" y="2229772"/>
            <a:ext cx="644418" cy="600193"/>
            <a:chOff x="3062040" y="3214680"/>
            <a:chExt cx="644421" cy="6001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581198FA-BC21-4C92-BC0E-E781051C751C}"/>
                </a:ext>
              </a:extLst>
            </p:cNvPr>
            <p:cNvSpPr/>
            <p:nvPr/>
          </p:nvSpPr>
          <p:spPr>
            <a:xfrm>
              <a:off x="3062040" y="3214680"/>
              <a:ext cx="644421" cy="6001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665F8A85-C787-46F1-8846-CE9135D18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14403" y="3270214"/>
              <a:ext cx="339695" cy="494101"/>
            </a:xfrm>
            <a:prstGeom prst="rect">
              <a:avLst/>
            </a:prstGeom>
          </p:spPr>
        </p:pic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6C9A091-B716-4096-9EA3-DE6C5311BF56}"/>
              </a:ext>
            </a:extLst>
          </p:cNvPr>
          <p:cNvGrpSpPr/>
          <p:nvPr/>
        </p:nvGrpSpPr>
        <p:grpSpPr>
          <a:xfrm>
            <a:off x="211187" y="3128903"/>
            <a:ext cx="644421" cy="600194"/>
            <a:chOff x="3047832" y="3995289"/>
            <a:chExt cx="644420" cy="600194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0D1DA3D8-B03E-4838-AFBE-993E793D64F1}"/>
                </a:ext>
              </a:extLst>
            </p:cNvPr>
            <p:cNvSpPr/>
            <p:nvPr/>
          </p:nvSpPr>
          <p:spPr>
            <a:xfrm>
              <a:off x="3047832" y="3995289"/>
              <a:ext cx="644420" cy="6001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E1C80D51-3EEC-4654-BDA7-5D9D3F8B9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47533" y="4072879"/>
              <a:ext cx="445014" cy="445014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C3027C5-EAA1-4A6A-9D98-84A3C5310DF5}"/>
              </a:ext>
            </a:extLst>
          </p:cNvPr>
          <p:cNvGrpSpPr/>
          <p:nvPr/>
        </p:nvGrpSpPr>
        <p:grpSpPr>
          <a:xfrm>
            <a:off x="228428" y="3985724"/>
            <a:ext cx="644420" cy="600194"/>
            <a:chOff x="3047832" y="4806138"/>
            <a:chExt cx="644419" cy="600193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AB26B4A-982F-421F-A53B-11CF6A93C2B2}"/>
                </a:ext>
              </a:extLst>
            </p:cNvPr>
            <p:cNvSpPr/>
            <p:nvPr/>
          </p:nvSpPr>
          <p:spPr>
            <a:xfrm>
              <a:off x="3047832" y="4806138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0DA734AB-BC04-4266-B6E3-7607622AE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18404" y="4875699"/>
              <a:ext cx="345802" cy="461069"/>
            </a:xfrm>
            <a:prstGeom prst="rect">
              <a:avLst/>
            </a:prstGeom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0026C8-CAA8-46CC-86BF-F1F3285B77E8}"/>
              </a:ext>
            </a:extLst>
          </p:cNvPr>
          <p:cNvGrpSpPr/>
          <p:nvPr/>
        </p:nvGrpSpPr>
        <p:grpSpPr>
          <a:xfrm>
            <a:off x="121920" y="4735384"/>
            <a:ext cx="847645" cy="789472"/>
            <a:chOff x="3047832" y="5621281"/>
            <a:chExt cx="644419" cy="600193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606C4178-A4CE-4CD2-8E5A-FDD1D2656346}"/>
                </a:ext>
              </a:extLst>
            </p:cNvPr>
            <p:cNvSpPr/>
            <p:nvPr/>
          </p:nvSpPr>
          <p:spPr>
            <a:xfrm>
              <a:off x="3047832" y="5621281"/>
              <a:ext cx="644419" cy="6001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EAB22600-FA43-41EF-ADB9-36E5D7E88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27408" y="5710259"/>
              <a:ext cx="527794" cy="422235"/>
            </a:xfrm>
            <a:prstGeom prst="rect">
              <a:avLst/>
            </a:prstGeom>
          </p:spPr>
        </p:pic>
      </p:grp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BEAD832-84F7-448E-82E9-6D8335175EB3}"/>
              </a:ext>
            </a:extLst>
          </p:cNvPr>
          <p:cNvSpPr/>
          <p:nvPr/>
        </p:nvSpPr>
        <p:spPr>
          <a:xfrm>
            <a:off x="1433945" y="273230"/>
            <a:ext cx="10321636" cy="104586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Первый президент академии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02BAE9-58E0-4E78-A345-5B83CEB70E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945" y="1604185"/>
            <a:ext cx="4445000" cy="4902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BE0577E-3ACA-49FA-9849-D1EC65A09BA7}"/>
              </a:ext>
            </a:extLst>
          </p:cNvPr>
          <p:cNvSpPr/>
          <p:nvPr/>
        </p:nvSpPr>
        <p:spPr>
          <a:xfrm>
            <a:off x="6096000" y="1653143"/>
            <a:ext cx="5659581" cy="14757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Первый президент Академии наук </a:t>
            </a:r>
            <a:r>
              <a:rPr lang="ru-RU" sz="2400" u="sng" dirty="0">
                <a:solidFill>
                  <a:schemeClr val="tx1"/>
                </a:solidFill>
              </a:rPr>
              <a:t>Лаврентий Блюментрост</a:t>
            </a:r>
            <a:r>
              <a:rPr lang="ru-RU" sz="2400" dirty="0">
                <a:solidFill>
                  <a:schemeClr val="tx1"/>
                </a:solidFill>
              </a:rPr>
              <a:t> родился в Москве в 1692 году.</a:t>
            </a:r>
          </a:p>
        </p:txBody>
      </p:sp>
    </p:spTree>
    <p:extLst>
      <p:ext uri="{BB962C8B-B14F-4D97-AF65-F5344CB8AC3E}">
        <p14:creationId xmlns:p14="http://schemas.microsoft.com/office/powerpoint/2010/main" val="1706350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84E7A07-A9AC-41A8-8BCE-4A44F6EBB413}"/>
              </a:ext>
            </a:extLst>
          </p:cNvPr>
          <p:cNvSpPr/>
          <p:nvPr/>
        </p:nvSpPr>
        <p:spPr>
          <a:xfrm>
            <a:off x="0" y="0"/>
            <a:ext cx="12192000" cy="955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98CA17B7-EAC6-4A34-A6C7-901A99D8AB37}"/>
              </a:ext>
            </a:extLst>
          </p:cNvPr>
          <p:cNvGrpSpPr/>
          <p:nvPr/>
        </p:nvGrpSpPr>
        <p:grpSpPr>
          <a:xfrm>
            <a:off x="3771805" y="157982"/>
            <a:ext cx="4418608" cy="640000"/>
            <a:chOff x="2317078" y="157982"/>
            <a:chExt cx="4418608" cy="640000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8752165C-9259-4F47-BA13-4C77528E703C}"/>
                </a:ext>
              </a:extLst>
            </p:cNvPr>
            <p:cNvGrpSpPr/>
            <p:nvPr/>
          </p:nvGrpSpPr>
          <p:grpSpPr>
            <a:xfrm>
              <a:off x="6091267" y="197786"/>
              <a:ext cx="644419" cy="600193"/>
              <a:chOff x="3047832" y="5621281"/>
              <a:chExt cx="644419" cy="600193"/>
            </a:xfrm>
          </p:grpSpPr>
          <p:sp>
            <p:nvSpPr>
              <p:cNvPr id="7" name="Прямоугольник: скругленные углы 6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70ECF060-C6C9-4C2A-88D9-022931AE1E50}"/>
                  </a:ext>
                </a:extLst>
              </p:cNvPr>
              <p:cNvSpPr/>
              <p:nvPr/>
            </p:nvSpPr>
            <p:spPr>
              <a:xfrm>
                <a:off x="3047832" y="5621281"/>
                <a:ext cx="644419" cy="60019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8" name="Рисунок 7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10082869-2837-4C1C-A059-6573B982E9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127408" y="5710259"/>
                <a:ext cx="527794" cy="422235"/>
              </a:xfrm>
              <a:prstGeom prst="rect">
                <a:avLst/>
              </a:prstGeom>
            </p:spPr>
          </p:pic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267646B8-B4BB-4357-BC98-3E1413784DEC}"/>
                </a:ext>
              </a:extLst>
            </p:cNvPr>
            <p:cNvGrpSpPr/>
            <p:nvPr/>
          </p:nvGrpSpPr>
          <p:grpSpPr>
            <a:xfrm>
              <a:off x="5143400" y="197788"/>
              <a:ext cx="644419" cy="600193"/>
              <a:chOff x="3047832" y="4806138"/>
              <a:chExt cx="644419" cy="600193"/>
            </a:xfrm>
          </p:grpSpPr>
          <p:sp>
            <p:nvSpPr>
              <p:cNvPr id="10" name="Прямоугольник: скругленные углы 9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66A30306-A372-4926-8F12-C856248F26DF}"/>
                  </a:ext>
                </a:extLst>
              </p:cNvPr>
              <p:cNvSpPr/>
              <p:nvPr/>
            </p:nvSpPr>
            <p:spPr>
              <a:xfrm>
                <a:off x="3047832" y="4806138"/>
                <a:ext cx="644419" cy="60019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11" name="Рисунок 10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B3558784-02ED-4C53-8ED6-D3C9C7B18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218404" y="4875699"/>
                <a:ext cx="345802" cy="461069"/>
              </a:xfrm>
              <a:prstGeom prst="rect">
                <a:avLst/>
              </a:prstGeom>
            </p:spPr>
          </p:pic>
        </p:grp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61466224-9F70-47FF-A72C-7D6B6E24DAC3}"/>
                </a:ext>
              </a:extLst>
            </p:cNvPr>
            <p:cNvGrpSpPr/>
            <p:nvPr/>
          </p:nvGrpSpPr>
          <p:grpSpPr>
            <a:xfrm>
              <a:off x="4201293" y="197788"/>
              <a:ext cx="644421" cy="600194"/>
              <a:chOff x="3047832" y="3995289"/>
              <a:chExt cx="644420" cy="600194"/>
            </a:xfrm>
          </p:grpSpPr>
          <p:sp>
            <p:nvSpPr>
              <p:cNvPr id="13" name="Прямоугольник: скругленные углы 12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B5470CE8-35D7-4182-B60F-19FF7034B8BC}"/>
                  </a:ext>
                </a:extLst>
              </p:cNvPr>
              <p:cNvSpPr/>
              <p:nvPr/>
            </p:nvSpPr>
            <p:spPr>
              <a:xfrm>
                <a:off x="3047832" y="3995289"/>
                <a:ext cx="644420" cy="60019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14" name="Рисунок 13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A031791F-86B5-4B93-B625-21559DD0B4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147533" y="4072879"/>
                <a:ext cx="445014" cy="445014"/>
              </a:xfrm>
              <a:prstGeom prst="rect">
                <a:avLst/>
              </a:prstGeom>
            </p:spPr>
          </p:pic>
        </p:grpSp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994E68B7-00AA-410F-8941-69CC9B964C7C}"/>
                </a:ext>
              </a:extLst>
            </p:cNvPr>
            <p:cNvGrpSpPr/>
            <p:nvPr/>
          </p:nvGrpSpPr>
          <p:grpSpPr>
            <a:xfrm>
              <a:off x="3259186" y="184713"/>
              <a:ext cx="644418" cy="600193"/>
              <a:chOff x="3062040" y="3214680"/>
              <a:chExt cx="644421" cy="600196"/>
            </a:xfrm>
          </p:grpSpPr>
          <p:sp>
            <p:nvSpPr>
              <p:cNvPr id="16" name="Прямоугольник: скругленные углы 15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0CB4DE4F-D9BA-4C4D-BFDC-2D397BEC149F}"/>
                  </a:ext>
                </a:extLst>
              </p:cNvPr>
              <p:cNvSpPr/>
              <p:nvPr/>
            </p:nvSpPr>
            <p:spPr>
              <a:xfrm>
                <a:off x="3062040" y="3214680"/>
                <a:ext cx="644421" cy="60019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6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17" name="Рисунок 16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9E23BC49-47F4-4929-9A84-FDFAEB638E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214403" y="3270214"/>
                <a:ext cx="339695" cy="494101"/>
              </a:xfrm>
              <a:prstGeom prst="rect">
                <a:avLst/>
              </a:prstGeom>
            </p:spPr>
          </p:pic>
        </p:grpSp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F64831A9-C8ED-4145-AB81-DDE9A6D73644}"/>
                </a:ext>
              </a:extLst>
            </p:cNvPr>
            <p:cNvGrpSpPr/>
            <p:nvPr/>
          </p:nvGrpSpPr>
          <p:grpSpPr>
            <a:xfrm>
              <a:off x="2317078" y="157982"/>
              <a:ext cx="644419" cy="640000"/>
              <a:chOff x="3082633" y="2402194"/>
              <a:chExt cx="644421" cy="600195"/>
            </a:xfrm>
          </p:grpSpPr>
          <p:sp>
            <p:nvSpPr>
              <p:cNvPr id="19" name="Прямоугольник: скругленные углы 18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A54D1F6D-0DBA-4740-B43A-CA0F0BF0EED8}"/>
                  </a:ext>
                </a:extLst>
              </p:cNvPr>
              <p:cNvSpPr/>
              <p:nvPr/>
            </p:nvSpPr>
            <p:spPr>
              <a:xfrm>
                <a:off x="3082633" y="2402194"/>
                <a:ext cx="644421" cy="60019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20" name="Рисунок 19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48621F4C-F85E-47CB-98CD-7199E4368E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3210679" y="2480389"/>
                <a:ext cx="388328" cy="443804"/>
              </a:xfrm>
              <a:prstGeom prst="rect">
                <a:avLst/>
              </a:prstGeom>
            </p:spPr>
          </p:pic>
        </p:grp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9A4557AD-83A1-4CFF-9AC7-AA02F3FAA9FE}"/>
              </a:ext>
            </a:extLst>
          </p:cNvPr>
          <p:cNvGrpSpPr/>
          <p:nvPr/>
        </p:nvGrpSpPr>
        <p:grpSpPr>
          <a:xfrm>
            <a:off x="220267" y="184711"/>
            <a:ext cx="644421" cy="600195"/>
            <a:chOff x="220267" y="184711"/>
            <a:chExt cx="644421" cy="600195"/>
          </a:xfrm>
        </p:grpSpPr>
        <p:sp>
          <p:nvSpPr>
            <p:cNvPr id="22" name="Прямоугольник: скругленные углы 21">
              <a:hlinkClick r:id="rId17" action="ppaction://hlinksldjump"/>
              <a:extLst>
                <a:ext uri="{FF2B5EF4-FFF2-40B4-BE49-F238E27FC236}">
                  <a16:creationId xmlns:a16="http://schemas.microsoft.com/office/drawing/2014/main" id="{59963037-6A35-45C1-B97D-F478E6811C7A}"/>
                </a:ext>
              </a:extLst>
            </p:cNvPr>
            <p:cNvSpPr/>
            <p:nvPr/>
          </p:nvSpPr>
          <p:spPr>
            <a:xfrm>
              <a:off x="220267" y="184711"/>
              <a:ext cx="644421" cy="6001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4" name="Рисунок 23">
              <a:hlinkClick r:id="rId17" action="ppaction://hlinksldjump"/>
              <a:extLst>
                <a:ext uri="{FF2B5EF4-FFF2-40B4-BE49-F238E27FC236}">
                  <a16:creationId xmlns:a16="http://schemas.microsoft.com/office/drawing/2014/main" id="{4585BC57-7F7C-4EB2-91B1-23C61088B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68951" y="234124"/>
              <a:ext cx="547051" cy="486268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40C34421-13CE-406B-9DFC-A9C24F60A51C}"/>
              </a:ext>
            </a:extLst>
          </p:cNvPr>
          <p:cNvGrpSpPr/>
          <p:nvPr/>
        </p:nvGrpSpPr>
        <p:grpSpPr>
          <a:xfrm>
            <a:off x="11327312" y="197786"/>
            <a:ext cx="644421" cy="600195"/>
            <a:chOff x="11327312" y="197786"/>
            <a:chExt cx="644421" cy="600195"/>
          </a:xfrm>
        </p:grpSpPr>
        <p:sp>
          <p:nvSpPr>
            <p:cNvPr id="26" name="Прямоугольник: скругленные углы 25">
              <a:hlinkClick r:id="rId20" action="ppaction://hlinksldjump"/>
              <a:extLst>
                <a:ext uri="{FF2B5EF4-FFF2-40B4-BE49-F238E27FC236}">
                  <a16:creationId xmlns:a16="http://schemas.microsoft.com/office/drawing/2014/main" id="{32442483-D039-4B80-9731-DC7D14D4E680}"/>
                </a:ext>
              </a:extLst>
            </p:cNvPr>
            <p:cNvSpPr/>
            <p:nvPr/>
          </p:nvSpPr>
          <p:spPr>
            <a:xfrm>
              <a:off x="11327312" y="197786"/>
              <a:ext cx="644421" cy="6001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8" name="Рисунок 27">
              <a:hlinkClick r:id="rId20" action="ppaction://hlinksldjump"/>
              <a:extLst>
                <a:ext uri="{FF2B5EF4-FFF2-40B4-BE49-F238E27FC236}">
                  <a16:creationId xmlns:a16="http://schemas.microsoft.com/office/drawing/2014/main" id="{2B406473-25B1-4F28-B702-E58AD9559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413311" y="261670"/>
              <a:ext cx="472421" cy="472421"/>
            </a:xfrm>
            <a:prstGeom prst="rect">
              <a:avLst/>
            </a:prstGeom>
          </p:spPr>
        </p:pic>
      </p:grp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7E1CB1A0-AE4E-44B8-BAD5-FA79F0AFAEBC}"/>
              </a:ext>
            </a:extLst>
          </p:cNvPr>
          <p:cNvSpPr/>
          <p:nvPr/>
        </p:nvSpPr>
        <p:spPr>
          <a:xfrm>
            <a:off x="2182327" y="2680855"/>
            <a:ext cx="7591801" cy="149629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850776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8FEAB89-6DE8-4DAC-8EAD-D61319A7BA5C}"/>
              </a:ext>
            </a:extLst>
          </p:cNvPr>
          <p:cNvSpPr/>
          <p:nvPr/>
        </p:nvSpPr>
        <p:spPr>
          <a:xfrm>
            <a:off x="838200" y="498764"/>
            <a:ext cx="10515600" cy="120534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</a:rPr>
              <a:t>Техническая информация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9CCBDDDD-7C8C-4BCF-BCD3-728B96594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6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Шрифты: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ru-RU" dirty="0"/>
              <a:t>- </a:t>
            </a:r>
            <a:r>
              <a:rPr lang="en-US" dirty="0"/>
              <a:t>Calibri, </a:t>
            </a:r>
            <a:r>
              <a:rPr lang="en-US" dirty="0">
                <a:latin typeface="+mj-lt"/>
              </a:rPr>
              <a:t>Calibri Light</a:t>
            </a:r>
          </a:p>
          <a:p>
            <a:pPr marL="0" indent="0">
              <a:buNone/>
            </a:pPr>
            <a:r>
              <a:rPr lang="ru-RU" dirty="0"/>
              <a:t>Софт:</a:t>
            </a:r>
          </a:p>
          <a:p>
            <a:pPr marL="0" indent="0">
              <a:buNone/>
            </a:pPr>
            <a:r>
              <a:rPr lang="ru-RU" dirty="0"/>
              <a:t>    - </a:t>
            </a:r>
            <a:r>
              <a:rPr lang="en-US" dirty="0"/>
              <a:t>PowerPoint 2019</a:t>
            </a:r>
          </a:p>
          <a:p>
            <a:pPr marL="0" indent="0">
              <a:buNone/>
            </a:pPr>
            <a:r>
              <a:rPr lang="ru-RU" dirty="0"/>
              <a:t>Лицензия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ru-RU" sz="2400" dirty="0"/>
              <a:t>    </a:t>
            </a:r>
            <a:r>
              <a:rPr lang="en-US" sz="2400" dirty="0"/>
              <a:t>- </a:t>
            </a:r>
            <a:r>
              <a:rPr lang="ru-RU" sz="2400" dirty="0"/>
              <a:t>Давайте вместе представим, что у этой презентации есть лицензия и там прописано, что воровать эту презентацию </a:t>
            </a:r>
            <a:r>
              <a:rPr lang="ru-RU" sz="2400" dirty="0" err="1"/>
              <a:t>нельзяя</a:t>
            </a:r>
            <a:r>
              <a:rPr lang="ru-RU" sz="2400" dirty="0"/>
              <a:t>..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55927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E127736-4329-45E2-A1BA-F101D52ED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6132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Что такое источники информации:</a:t>
            </a:r>
          </a:p>
          <a:p>
            <a:pPr marL="0" indent="0">
              <a:buNone/>
            </a:pPr>
            <a:r>
              <a:rPr lang="ru-RU" dirty="0"/>
              <a:t>    - </a:t>
            </a:r>
            <a:r>
              <a:rPr lang="en-US" sz="2400" dirty="0">
                <a:hlinkClick r:id="rId2"/>
              </a:rPr>
              <a:t>https://ru.wikipedia.org/wiki/</a:t>
            </a:r>
            <a:r>
              <a:rPr lang="ru-RU" sz="2400" dirty="0" err="1">
                <a:hlinkClick r:id="rId2"/>
              </a:rPr>
              <a:t>Источник_информации</a:t>
            </a:r>
            <a:endParaRPr lang="ru-RU" sz="2400" dirty="0"/>
          </a:p>
          <a:p>
            <a:pPr marL="0" indent="0">
              <a:buNone/>
            </a:pPr>
            <a:r>
              <a:rPr lang="ru-RU" dirty="0"/>
              <a:t>Текст:</a:t>
            </a:r>
          </a:p>
          <a:p>
            <a:pPr marL="0" indent="0">
              <a:buNone/>
            </a:pPr>
            <a:r>
              <a:rPr lang="ru-RU" dirty="0"/>
              <a:t>    -</a:t>
            </a:r>
            <a:r>
              <a:rPr lang="ru-RU" sz="2400" dirty="0"/>
              <a:t> Совмещение (</a:t>
            </a:r>
            <a:r>
              <a:rPr lang="ru-RU" sz="2400" dirty="0" err="1"/>
              <a:t>ухты</a:t>
            </a:r>
            <a:r>
              <a:rPr lang="ru-RU" sz="2400" dirty="0"/>
              <a:t> </a:t>
            </a:r>
            <a:r>
              <a:rPr lang="ru-RU" sz="2400" dirty="0" err="1"/>
              <a:t>комбооо</a:t>
            </a:r>
            <a:r>
              <a:rPr lang="ru-RU" sz="2400" dirty="0"/>
              <a:t> </a:t>
            </a:r>
            <a:r>
              <a:rPr lang="ru-RU" sz="2400" dirty="0" err="1"/>
              <a:t>ехууу</a:t>
            </a:r>
            <a:r>
              <a:rPr lang="ru-RU" sz="2400" dirty="0"/>
              <a:t>) 2 источников:</a:t>
            </a:r>
          </a:p>
          <a:p>
            <a:pPr marL="0" indent="0">
              <a:buNone/>
            </a:pPr>
            <a:r>
              <a:rPr lang="ru-RU" sz="2400" dirty="0"/>
              <a:t>        - </a:t>
            </a:r>
            <a:r>
              <a:rPr lang="en-US" sz="2400" dirty="0">
                <a:hlinkClick r:id="rId3"/>
              </a:rPr>
              <a:t>https://tass.ru/info/2572806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        - </a:t>
            </a:r>
            <a:r>
              <a:rPr lang="en-US" sz="2400" dirty="0">
                <a:hlinkClick r:id="rId4"/>
              </a:rPr>
              <a:t>https://porusski.me/2017/10/27/013-rossijskaya-akademiya-nauk/</a:t>
            </a:r>
            <a:endParaRPr lang="ru-RU" sz="2400" dirty="0"/>
          </a:p>
          <a:p>
            <a:pPr marL="0" indent="0">
              <a:buNone/>
            </a:pPr>
            <a:r>
              <a:rPr lang="ru-RU" dirty="0"/>
              <a:t>Картинки:</a:t>
            </a:r>
          </a:p>
          <a:p>
            <a:pPr marL="0" indent="0">
              <a:buNone/>
            </a:pPr>
            <a:r>
              <a:rPr lang="ru-RU" sz="3200" dirty="0"/>
              <a:t>    </a:t>
            </a:r>
            <a:r>
              <a:rPr lang="ru-RU" dirty="0"/>
              <a:t>- </a:t>
            </a:r>
            <a:r>
              <a:rPr lang="ru-RU" sz="2400" dirty="0">
                <a:hlinkClick r:id="rId5"/>
              </a:rPr>
              <a:t>Яндекс картинки</a:t>
            </a:r>
            <a:endParaRPr lang="ru-RU" sz="3200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51370E9-7BC4-46F3-8547-379613E006C1}"/>
              </a:ext>
            </a:extLst>
          </p:cNvPr>
          <p:cNvSpPr/>
          <p:nvPr/>
        </p:nvSpPr>
        <p:spPr>
          <a:xfrm>
            <a:off x="838200" y="471054"/>
            <a:ext cx="10515600" cy="11914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</a:rPr>
              <a:t>Источники информации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DA86D875-46F1-461F-8E92-ACC4315887AD}"/>
              </a:ext>
            </a:extLst>
          </p:cNvPr>
          <p:cNvGrpSpPr/>
          <p:nvPr/>
        </p:nvGrpSpPr>
        <p:grpSpPr>
          <a:xfrm>
            <a:off x="696191" y="6040582"/>
            <a:ext cx="10799618" cy="685799"/>
            <a:chOff x="696191" y="6040582"/>
            <a:chExt cx="10799618" cy="685799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BA56230-C13C-4550-8592-D842E228A6FB}"/>
                </a:ext>
              </a:extLst>
            </p:cNvPr>
            <p:cNvSpPr/>
            <p:nvPr/>
          </p:nvSpPr>
          <p:spPr>
            <a:xfrm>
              <a:off x="1430481" y="6047508"/>
              <a:ext cx="10065328" cy="6788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Для того, чтобы перейти по ссылке, нажмите на неё левой кнопкой мышки, зажав клавишу </a:t>
              </a:r>
              <a:r>
                <a:rPr lang="en-US" dirty="0">
                  <a:solidFill>
                    <a:schemeClr val="tx1"/>
                  </a:solidFill>
                </a:rPr>
                <a:t>CTRL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CF904835-3CAC-488C-BDCC-7E1748612491}"/>
                </a:ext>
              </a:extLst>
            </p:cNvPr>
            <p:cNvGrpSpPr/>
            <p:nvPr/>
          </p:nvGrpSpPr>
          <p:grpSpPr>
            <a:xfrm>
              <a:off x="696191" y="6040582"/>
              <a:ext cx="734291" cy="678873"/>
              <a:chOff x="696191" y="6040582"/>
              <a:chExt cx="734291" cy="678873"/>
            </a:xfrm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DC1751FD-10EF-42F3-A8AB-37736C65F213}"/>
                  </a:ext>
                </a:extLst>
              </p:cNvPr>
              <p:cNvSpPr/>
              <p:nvPr/>
            </p:nvSpPr>
            <p:spPr>
              <a:xfrm>
                <a:off x="696191" y="6040582"/>
                <a:ext cx="734291" cy="67887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8" name="Рисунок 7">
                <a:extLst>
                  <a:ext uri="{FF2B5EF4-FFF2-40B4-BE49-F238E27FC236}">
                    <a16:creationId xmlns:a16="http://schemas.microsoft.com/office/drawing/2014/main" id="{4EC5569A-D8AD-476C-AF8F-81DD6BB783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79318" y="6109853"/>
                <a:ext cx="568036" cy="56803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41711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591</Words>
  <Application>Microsoft Office PowerPoint</Application>
  <PresentationFormat>Широкоэкранный</PresentationFormat>
  <Paragraphs>51</Paragraphs>
  <Slides>11</Slides>
  <Notes>0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vionar</dc:creator>
  <cp:lastModifiedBy>vionar</cp:lastModifiedBy>
  <cp:revision>23</cp:revision>
  <dcterms:created xsi:type="dcterms:W3CDTF">2022-02-03T14:58:05Z</dcterms:created>
  <dcterms:modified xsi:type="dcterms:W3CDTF">2022-02-03T18:47:18Z</dcterms:modified>
</cp:coreProperties>
</file>