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onar" initials="v" lastIdx="1" clrIdx="0">
    <p:extLst>
      <p:ext uri="{19B8F6BF-5375-455C-9EA6-DF929625EA0E}">
        <p15:presenceInfo xmlns:p15="http://schemas.microsoft.com/office/powerpoint/2012/main" userId="viona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Стиль из темы 1 - акцент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Стиль из темы 1 - акцент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27F97BB-C833-4FB7-BDE5-3F7075034690}" styleName="Стиль из темы 2 - акцент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584A58-49A8-4448-82E9-D7459ED11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D172A89-CBBB-4C87-AE15-2E56E9A3CD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A07D92-3A0E-4A35-9F28-4BF500B4F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C0FF8-5895-470D-A410-9213BB85A104}" type="datetimeFigureOut">
              <a:rPr lang="ru-RU" smtClean="0"/>
              <a:t>15.12.2021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8D89C6-9537-41F8-BE7C-CB421BCF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668AE5-28C4-4618-BD17-DA425449B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DFAA-756B-4CF8-B8F5-5D881AC62A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9861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EA7914-4739-46B6-B71F-CA5691F03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C0B2DE-BB0D-4A48-A67B-BBB65DBD9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F247EC-835F-418C-A45C-A783BD267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C0FF8-5895-470D-A410-9213BB85A104}" type="datetimeFigureOut">
              <a:rPr lang="ru-RU" smtClean="0"/>
              <a:t>15.12.2021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19DD28-969A-49CA-8021-7942E0FB7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CAB95B-EE91-4275-9738-FEDE3A2A7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DFAA-756B-4CF8-B8F5-5D881AC62A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9129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E96C-CF59-441D-A55A-EEACD211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CFF9411-94D7-4075-BF8D-517E3598E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DEADEEC-6EC8-47A4-AE28-1277E1002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C0FF8-5895-470D-A410-9213BB85A104}" type="datetimeFigureOut">
              <a:rPr lang="ru-RU" smtClean="0"/>
              <a:t>15.12.2021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E643CF-BA05-4933-BD75-1491CB454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FC79C45-3B03-40B6-8806-ACDF358AC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DFAA-756B-4CF8-B8F5-5D881AC62A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610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9D9D86-0865-4A66-8BBB-2CF34EC50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D06D6B-C5C3-4995-8A5D-BD39F947D8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C1E7494-493E-4AB8-8B26-2A76996055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36ECACE-DED4-4EB8-B06D-DDB3E87E2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C0FF8-5895-470D-A410-9213BB85A104}" type="datetimeFigureOut">
              <a:rPr lang="ru-RU" smtClean="0"/>
              <a:t>15.12.2021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BD15D65-6185-414A-895F-5ED96A5AA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EECFE2A-6C5D-4463-823D-B2E31C2A3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DFAA-756B-4CF8-B8F5-5D881AC62A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3945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173ADE-8BEF-418D-8D8F-BBF437268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20C84AD-A446-49B5-85F2-54B080B33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23695A6-4D49-4CA5-A45F-CF2DE0231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59B7E1D-A23B-49C2-B51D-F896D8C9F5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2CCA6CA-B17A-4D75-887F-DA8D874DF9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249D304-834D-4F9C-891B-7C416CFC8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C0FF8-5895-470D-A410-9213BB85A104}" type="datetimeFigureOut">
              <a:rPr lang="ru-RU" smtClean="0"/>
              <a:t>15.12.2021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E788FCE-7A5B-4AA0-A016-3DC560CF3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89C1C2E-6617-4A21-9D01-E7274BFF0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DFAA-756B-4CF8-B8F5-5D881AC62A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9183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A0297B-55E1-4D94-BCB1-2EEE89C53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525A7C8-9D67-4B99-8110-099D30194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C0FF8-5895-470D-A410-9213BB85A104}" type="datetimeFigureOut">
              <a:rPr lang="ru-RU" smtClean="0"/>
              <a:t>15.12.2021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4B437C4-9594-40C1-A8C6-218439C94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CC3C74A-410F-4873-9489-7E21E54FD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DFAA-756B-4CF8-B8F5-5D881AC62A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1581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EBED402-B93F-4809-846C-DCE160E76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C0FF8-5895-470D-A410-9213BB85A104}" type="datetimeFigureOut">
              <a:rPr lang="ru-RU" smtClean="0"/>
              <a:t>15.12.2021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4967023-9D49-41E8-9F78-14E2753FF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CFEB6FA-8D88-4CAE-872C-904203E1C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DFAA-756B-4CF8-B8F5-5D881AC62A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9477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F1FFF6-5294-47AD-8976-3834DC369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8A500A-DBD3-403F-B969-858976ACA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6DBC80F-D063-4C2F-97EA-E0C3527EDF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B43C09A-08E6-4413-B84C-4A6EA30B3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C0FF8-5895-470D-A410-9213BB85A104}" type="datetimeFigureOut">
              <a:rPr lang="ru-RU" smtClean="0"/>
              <a:t>15.12.2021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C2D6E79-6176-47A0-81B4-A3D49F1EB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B84979F-E294-4E3B-937E-E36424E06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DFAA-756B-4CF8-B8F5-5D881AC62A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7309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B03952-46C8-48AF-ACA5-35408FE6D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8F0DB1C-4E8B-4CA5-95A9-AA3ECFCE25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4FBAE1D-445F-41C9-833A-E7993238FF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D80C181-8BA0-4A82-8286-B8DAAD220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C0FF8-5895-470D-A410-9213BB85A104}" type="datetimeFigureOut">
              <a:rPr lang="ru-RU" smtClean="0"/>
              <a:t>15.12.2021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B892471-AFB7-461F-81BE-E6F0CA919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3E9ECEA-C0CB-4885-8787-BBCE2A0A1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DFAA-756B-4CF8-B8F5-5D881AC62A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409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65BCEC-7C81-42A0-B148-6731014C0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A3510D5-0C22-48B4-A1FD-3E7694CD50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C0A786-2474-4C84-88BA-CFF507C5B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C0FF8-5895-470D-A410-9213BB85A104}" type="datetimeFigureOut">
              <a:rPr lang="ru-RU" smtClean="0"/>
              <a:t>15.12.2021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E10E28-80A4-4A24-A2A2-BEDB38B96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893E0B-F9DB-4F82-8D52-27DF7A396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DFAA-756B-4CF8-B8F5-5D881AC62A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3158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44869F2-64F7-4ADD-900A-38A1FB22CC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A6A928B-7794-46A9-8A49-04BA37B3D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0F640D-546D-48D8-843E-0FB06F169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C0FF8-5895-470D-A410-9213BB85A104}" type="datetimeFigureOut">
              <a:rPr lang="ru-RU" smtClean="0"/>
              <a:t>15.12.2021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7CD9A1-56DE-4CDB-8AA8-8198A4190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7C7B219-E265-4E59-B6DC-CAAA46993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DFAA-756B-4CF8-B8F5-5D881AC62A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0636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819493-5A15-4385-A64C-A8B6E9444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74F019C-7191-4055-ACFC-23CFF3A9C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81E7026-3549-447C-8164-735B8FD40D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2C0FF8-5895-470D-A410-9213BB85A104}" type="datetimeFigureOut">
              <a:rPr lang="ru-RU" smtClean="0"/>
              <a:t>15.12.2021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F994D0-E050-49AE-99E3-BA4137DE8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F24D7E-078C-4876-937E-3FB7B4BBB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4DFAA-756B-4CF8-B8F5-5D881AC62A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5997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6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0100C9-8FCA-4D44-97D0-7FE09022C7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32800"/>
            <a:ext cx="9144000" cy="1334799"/>
          </a:xfrm>
          <a:solidFill>
            <a:schemeClr val="bg1"/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txBody>
          <a:bodyPr/>
          <a:lstStyle/>
          <a:p>
            <a:r>
              <a:rPr lang="ru-RU" dirty="0"/>
              <a:t>Образование в ЮАР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0E1AEEF-4754-4C37-984A-C423BC0547D7}"/>
              </a:ext>
            </a:extLst>
          </p:cNvPr>
          <p:cNvSpPr/>
          <p:nvPr/>
        </p:nvSpPr>
        <p:spPr>
          <a:xfrm>
            <a:off x="1524000" y="2923314"/>
            <a:ext cx="3172691" cy="59574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Индекс уровня образования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31BFC9C-DE66-4EE8-8E45-B0D5C4DF30A8}"/>
              </a:ext>
            </a:extLst>
          </p:cNvPr>
          <p:cNvSpPr/>
          <p:nvPr/>
        </p:nvSpPr>
        <p:spPr>
          <a:xfrm>
            <a:off x="7495311" y="2923314"/>
            <a:ext cx="3172691" cy="59574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Начальная школа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7605320-ADF9-4FFB-B01F-15CF57BED5B7}"/>
              </a:ext>
            </a:extLst>
          </p:cNvPr>
          <p:cNvSpPr/>
          <p:nvPr/>
        </p:nvSpPr>
        <p:spPr>
          <a:xfrm>
            <a:off x="4994563" y="2923314"/>
            <a:ext cx="2202874" cy="59574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Языки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A5ABB6E-EAE2-464F-9A25-E89D1E845B1B}"/>
              </a:ext>
            </a:extLst>
          </p:cNvPr>
          <p:cNvSpPr/>
          <p:nvPr/>
        </p:nvSpPr>
        <p:spPr>
          <a:xfrm>
            <a:off x="1523999" y="3772988"/>
            <a:ext cx="2327565" cy="59574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Средняя школа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90CDB56-F156-4A89-B29D-07EE4679C5EA}"/>
              </a:ext>
            </a:extLst>
          </p:cNvPr>
          <p:cNvSpPr/>
          <p:nvPr/>
        </p:nvSpPr>
        <p:spPr>
          <a:xfrm>
            <a:off x="4175415" y="3772988"/>
            <a:ext cx="2996046" cy="59574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Высшее образование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E11602E-2DFA-4FEF-BED8-20F879C6B49F}"/>
              </a:ext>
            </a:extLst>
          </p:cNvPr>
          <p:cNvSpPr/>
          <p:nvPr/>
        </p:nvSpPr>
        <p:spPr>
          <a:xfrm>
            <a:off x="7495310" y="3738352"/>
            <a:ext cx="3172691" cy="59574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Для иностранных студентов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C674B4E-490C-4A49-B007-F1C93DB08E20}"/>
              </a:ext>
            </a:extLst>
          </p:cNvPr>
          <p:cNvSpPr/>
          <p:nvPr/>
        </p:nvSpPr>
        <p:spPr>
          <a:xfrm>
            <a:off x="1524000" y="2572597"/>
            <a:ext cx="9144000" cy="457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C1903F9-01D7-44A2-B0D4-B48044D4B19F}"/>
              </a:ext>
            </a:extLst>
          </p:cNvPr>
          <p:cNvSpPr/>
          <p:nvPr/>
        </p:nvSpPr>
        <p:spPr>
          <a:xfrm>
            <a:off x="0" y="6515792"/>
            <a:ext cx="6096000" cy="34220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</a:rPr>
              <a:t>Владимир </a:t>
            </a:r>
            <a:r>
              <a:rPr lang="ru-RU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Терёщкин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8 «В»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802D807-2829-433E-9A2E-62676860A00F}"/>
              </a:ext>
            </a:extLst>
          </p:cNvPr>
          <p:cNvSpPr/>
          <p:nvPr/>
        </p:nvSpPr>
        <p:spPr>
          <a:xfrm>
            <a:off x="6096000" y="6515792"/>
            <a:ext cx="6096002" cy="34220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</a:rPr>
              <a:t>Дата сдачи: 16 декабря 2021 года</a:t>
            </a:r>
          </a:p>
        </p:txBody>
      </p:sp>
    </p:spTree>
    <p:extLst>
      <p:ext uri="{BB962C8B-B14F-4D97-AF65-F5344CB8AC3E}">
        <p14:creationId xmlns:p14="http://schemas.microsoft.com/office/powerpoint/2010/main" val="347152862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6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7FE3F7-3B57-46DA-B85D-2A2EE9E71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8243454" cy="817418"/>
          </a:xfrm>
          <a:solidFill>
            <a:schemeClr val="bg1"/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txBody>
          <a:bodyPr>
            <a:normAutofit/>
          </a:bodyPr>
          <a:lstStyle/>
          <a:p>
            <a:r>
              <a:rPr lang="ru-RU" sz="3600" dirty="0"/>
              <a:t>Образование в  ЮАР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9E413571-7C56-4461-B84C-1AFCBB70F113}"/>
              </a:ext>
            </a:extLst>
          </p:cNvPr>
          <p:cNvSpPr txBox="1">
            <a:spLocks/>
          </p:cNvSpPr>
          <p:nvPr/>
        </p:nvSpPr>
        <p:spPr>
          <a:xfrm>
            <a:off x="8243455" y="-1"/>
            <a:ext cx="3948545" cy="81741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Немного о ЮАР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F2435B2-911B-45CD-BAC1-441148034C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8897" y="1417979"/>
            <a:ext cx="7004326" cy="4668383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F91AEC1-7718-445C-97A8-E41B0E462E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133" y="1011981"/>
            <a:ext cx="4277325" cy="2673328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A9CCE73-A393-4385-8205-4C869A8FBE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777" y="3879871"/>
            <a:ext cx="4267682" cy="2846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916872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6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7FE3F7-3B57-46DA-B85D-2A2EE9E71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8243454" cy="817418"/>
          </a:xfrm>
          <a:solidFill>
            <a:schemeClr val="bg1"/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txBody>
          <a:bodyPr>
            <a:normAutofit/>
          </a:bodyPr>
          <a:lstStyle/>
          <a:p>
            <a:r>
              <a:rPr lang="ru-RU" sz="3600" dirty="0"/>
              <a:t>Образование в  ЮАР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9E413571-7C56-4461-B84C-1AFCBB70F113}"/>
              </a:ext>
            </a:extLst>
          </p:cNvPr>
          <p:cNvSpPr txBox="1">
            <a:spLocks/>
          </p:cNvSpPr>
          <p:nvPr/>
        </p:nvSpPr>
        <p:spPr>
          <a:xfrm>
            <a:off x="8243455" y="-1"/>
            <a:ext cx="3948545" cy="81741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Немного о ЮАР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E3D035A-3FE0-4096-A6FC-A6A3D80792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025237"/>
            <a:ext cx="5631969" cy="3753305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368C213-BE52-407E-BE7F-7999F1C98AC9}"/>
              </a:ext>
            </a:extLst>
          </p:cNvPr>
          <p:cNvSpPr/>
          <p:nvPr/>
        </p:nvSpPr>
        <p:spPr>
          <a:xfrm>
            <a:off x="221671" y="1025237"/>
            <a:ext cx="5631969" cy="548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sz="2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</a:t>
            </a:r>
            <a:r>
              <a:rPr lang="ru-RU" sz="21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Ю</a:t>
            </a:r>
            <a:r>
              <a:rPr lang="ru-RU" sz="2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жноафриканская республика (англ. </a:t>
            </a:r>
            <a:r>
              <a:rPr lang="ru-RU" sz="21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South</a:t>
            </a:r>
            <a:r>
              <a:rPr lang="ru-RU" sz="2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ru-RU" sz="21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Afrika</a:t>
            </a:r>
            <a:r>
              <a:rPr lang="ru-RU" sz="2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), или </a:t>
            </a:r>
            <a:r>
              <a:rPr lang="ru-RU" sz="21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ЮАР</a:t>
            </a:r>
            <a:r>
              <a:rPr lang="ru-RU" sz="2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образовалась не так давно и путь её становления заслуживает отдельной книги. Сейчас это активно развивающееся молодое государство, трепетно относящееся к вопросам образования, на которое тратит практически пятую часть своих доходов. ЮАР является одной из самых национально разнообразных стран Африки и имеет наибольшую долю белого, азиатского и смешанного населения на континенте. Страна обладает богатыми минеральными ресурсами, а также является самой экономически развитой в Африке и имеет относительно прочные мировые позиции. Единственная африканская страна — участник G20*.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FEC2A62-D858-47DF-A81E-937EE609651B}"/>
              </a:ext>
            </a:extLst>
          </p:cNvPr>
          <p:cNvSpPr/>
          <p:nvPr/>
        </p:nvSpPr>
        <p:spPr>
          <a:xfrm>
            <a:off x="6096000" y="5070764"/>
            <a:ext cx="5631969" cy="144087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</a:rPr>
              <a:t>* </a:t>
            </a:r>
            <a:r>
              <a:rPr lang="ru-RU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G20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</a:rPr>
              <a:t> - клуб правительств и глав центральных банков государств с наиболее развитой и развивающейся экономикой. (Туда также входят США, Россия, Саудовская Аравия, Бразилия, Европейский союз и др.)</a:t>
            </a:r>
          </a:p>
        </p:txBody>
      </p:sp>
    </p:spTree>
    <p:extLst>
      <p:ext uri="{BB962C8B-B14F-4D97-AF65-F5344CB8AC3E}">
        <p14:creationId xmlns:p14="http://schemas.microsoft.com/office/powerpoint/2010/main" val="187900100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6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7FE3F7-3B57-46DA-B85D-2A2EE9E71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8243454" cy="817418"/>
          </a:xfrm>
          <a:solidFill>
            <a:schemeClr val="bg1"/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txBody>
          <a:bodyPr>
            <a:normAutofit/>
          </a:bodyPr>
          <a:lstStyle/>
          <a:p>
            <a:r>
              <a:rPr lang="ru-RU" sz="3600" dirty="0"/>
              <a:t>Образование в  ЮАР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9E413571-7C56-4461-B84C-1AFCBB70F113}"/>
              </a:ext>
            </a:extLst>
          </p:cNvPr>
          <p:cNvSpPr txBox="1">
            <a:spLocks/>
          </p:cNvSpPr>
          <p:nvPr/>
        </p:nvSpPr>
        <p:spPr>
          <a:xfrm>
            <a:off x="8243455" y="-1"/>
            <a:ext cx="3948545" cy="81741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Индекс уровня образования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E31E483-AFED-4654-BF3D-353EF8B12718}"/>
              </a:ext>
            </a:extLst>
          </p:cNvPr>
          <p:cNvSpPr/>
          <p:nvPr/>
        </p:nvSpPr>
        <p:spPr>
          <a:xfrm>
            <a:off x="1052945" y="1136072"/>
            <a:ext cx="10945091" cy="59574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Д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ля того, чтобы понимать насколько развито образование в стране пользуются EI (Education Index)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CDDF515-2ACD-4981-8AEE-5B8E866E8DAB}"/>
              </a:ext>
            </a:extLst>
          </p:cNvPr>
          <p:cNvSpPr/>
          <p:nvPr/>
        </p:nvSpPr>
        <p:spPr>
          <a:xfrm>
            <a:off x="193964" y="1136072"/>
            <a:ext cx="762001" cy="59574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Microsoft Uighur" panose="02000000000000000000" pitchFamily="2" charset="-78"/>
              </a:rPr>
              <a:t>&gt;&gt;</a:t>
            </a:r>
            <a:endParaRPr lang="ru-RU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B0A0220-01E8-429F-AA4C-B3B8BC4FD384}"/>
              </a:ext>
            </a:extLst>
          </p:cNvPr>
          <p:cNvSpPr/>
          <p:nvPr/>
        </p:nvSpPr>
        <p:spPr>
          <a:xfrm>
            <a:off x="193964" y="2119745"/>
            <a:ext cx="5902036" cy="4350328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Индекс уровня образования в странах мира (Education Index) — это комбинированный показатель Программы развития Организации Объединённых Наций (ПРООН). Индекс рассматривается в качестве одного из ключевых показателей социального развития и используется для расчёта Индекса человеческого развития (</a:t>
            </a:r>
            <a:r>
              <a:rPr lang="ru-RU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Human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ru-RU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Development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Index), выпускаемого в рамках специальной серии докладов Организации Объединённых Наций (ООН) о развитии человека.</a:t>
            </a:r>
          </a:p>
          <a:p>
            <a:b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ru-RU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aphicFrame>
        <p:nvGraphicFramePr>
          <p:cNvPr id="16" name="Таблица 16">
            <a:extLst>
              <a:ext uri="{FF2B5EF4-FFF2-40B4-BE49-F238E27FC236}">
                <a16:creationId xmlns:a16="http://schemas.microsoft.com/office/drawing/2014/main" id="{A2595C5F-E32D-4175-BDB4-E2DCB97587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2103359"/>
              </p:ext>
            </p:extLst>
          </p:nvPr>
        </p:nvGraphicFramePr>
        <p:xfrm>
          <a:off x="6525490" y="2520142"/>
          <a:ext cx="5366325" cy="39499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491">
                  <a:extLst>
                    <a:ext uri="{9D8B030D-6E8A-4147-A177-3AD203B41FA5}">
                      <a16:colId xmlns:a16="http://schemas.microsoft.com/office/drawing/2014/main" val="2644864286"/>
                    </a:ext>
                  </a:extLst>
                </a:gridCol>
                <a:gridCol w="2189018">
                  <a:extLst>
                    <a:ext uri="{9D8B030D-6E8A-4147-A177-3AD203B41FA5}">
                      <a16:colId xmlns:a16="http://schemas.microsoft.com/office/drawing/2014/main" val="2650206609"/>
                    </a:ext>
                  </a:extLst>
                </a:gridCol>
                <a:gridCol w="1985816">
                  <a:extLst>
                    <a:ext uri="{9D8B030D-6E8A-4147-A177-3AD203B41FA5}">
                      <a16:colId xmlns:a16="http://schemas.microsoft.com/office/drawing/2014/main" val="2311993218"/>
                    </a:ext>
                  </a:extLst>
                </a:gridCol>
              </a:tblGrid>
              <a:tr h="383771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Место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Страна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Индекс, 1 = 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7081197"/>
                  </a:ext>
                </a:extLst>
              </a:tr>
              <a:tr h="383771"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Германия</a:t>
                      </a:r>
                      <a:endParaRPr lang="ru-RU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0,943</a:t>
                      </a:r>
                      <a:endParaRPr lang="ru-RU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144318"/>
                  </a:ext>
                </a:extLst>
              </a:tr>
              <a:tr h="383771"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</a:t>
                      </a:r>
                      <a:endParaRPr lang="ru-RU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Россия</a:t>
                      </a:r>
                      <a:endParaRPr lang="ru-RU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0.823</a:t>
                      </a:r>
                      <a:endParaRPr lang="ru-RU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7293163"/>
                  </a:ext>
                </a:extLst>
              </a:tr>
              <a:tr h="383771"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</a:t>
                      </a:r>
                      <a:endParaRPr lang="ru-RU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Украина</a:t>
                      </a:r>
                      <a:endParaRPr lang="ru-RU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0.799</a:t>
                      </a:r>
                      <a:endParaRPr lang="ru-RU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013793"/>
                  </a:ext>
                </a:extLst>
              </a:tr>
              <a:tr h="383771"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/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ЮАР</a:t>
                      </a:r>
                      <a:endParaRPr lang="ru-RU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0.724</a:t>
                      </a:r>
                      <a:endParaRPr lang="ru-RU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943487"/>
                  </a:ext>
                </a:extLst>
              </a:tr>
              <a:tr h="383771"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</a:t>
                      </a:r>
                      <a:endParaRPr lang="ru-RU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Азербайджан</a:t>
                      </a:r>
                      <a:endParaRPr lang="ru-RU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0.711</a:t>
                      </a:r>
                      <a:endParaRPr lang="ru-RU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4401403"/>
                  </a:ext>
                </a:extLst>
              </a:tr>
              <a:tr h="383771"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92</a:t>
                      </a:r>
                      <a:endParaRPr lang="ru-RU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Бразилия</a:t>
                      </a:r>
                      <a:endParaRPr lang="ru-RU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0.694</a:t>
                      </a:r>
                      <a:endParaRPr lang="ru-RU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9047858"/>
                  </a:ext>
                </a:extLst>
              </a:tr>
              <a:tr h="383771"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137</a:t>
                      </a:r>
                      <a:endParaRPr lang="ru-RU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Индия</a:t>
                      </a:r>
                      <a:endParaRPr lang="ru-RU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0.555</a:t>
                      </a:r>
                      <a:endParaRPr lang="ru-RU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674049"/>
                  </a:ext>
                </a:extLst>
              </a:tr>
              <a:tr h="383771"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177</a:t>
                      </a:r>
                      <a:endParaRPr lang="ru-RU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Гвинея</a:t>
                      </a:r>
                      <a:endParaRPr lang="ru-RU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0.354</a:t>
                      </a:r>
                      <a:endParaRPr lang="ru-RU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7480760"/>
                  </a:ext>
                </a:extLst>
              </a:tr>
              <a:tr h="383771"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189</a:t>
                      </a:r>
                      <a:endParaRPr lang="ru-RU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Нигер</a:t>
                      </a:r>
                      <a:endParaRPr lang="ru-RU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0.249</a:t>
                      </a:r>
                      <a:endParaRPr lang="ru-RU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466090"/>
                  </a:ext>
                </a:extLst>
              </a:tr>
            </a:tbl>
          </a:graphicData>
        </a:graphic>
      </p:graphicFrame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4713FEA-02CE-46AD-9F83-50C3848DEE7B}"/>
              </a:ext>
            </a:extLst>
          </p:cNvPr>
          <p:cNvSpPr/>
          <p:nvPr/>
        </p:nvSpPr>
        <p:spPr>
          <a:xfrm>
            <a:off x="6509327" y="2119745"/>
            <a:ext cx="5366325" cy="34636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</a:rPr>
              <a:t>За 2019 год:</a:t>
            </a:r>
          </a:p>
        </p:txBody>
      </p:sp>
    </p:spTree>
    <p:extLst>
      <p:ext uri="{BB962C8B-B14F-4D97-AF65-F5344CB8AC3E}">
        <p14:creationId xmlns:p14="http://schemas.microsoft.com/office/powerpoint/2010/main" val="41936310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6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7FE3F7-3B57-46DA-B85D-2A2EE9E71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8243454" cy="817418"/>
          </a:xfrm>
          <a:solidFill>
            <a:schemeClr val="bg1"/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txBody>
          <a:bodyPr>
            <a:normAutofit/>
          </a:bodyPr>
          <a:lstStyle/>
          <a:p>
            <a:r>
              <a:rPr lang="ru-RU" sz="3600" dirty="0"/>
              <a:t>Образование в  ЮАР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9E413571-7C56-4461-B84C-1AFCBB70F113}"/>
              </a:ext>
            </a:extLst>
          </p:cNvPr>
          <p:cNvSpPr txBox="1">
            <a:spLocks/>
          </p:cNvSpPr>
          <p:nvPr/>
        </p:nvSpPr>
        <p:spPr>
          <a:xfrm>
            <a:off x="8243455" y="-1"/>
            <a:ext cx="3948545" cy="81741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Языки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C05F827-C60E-4C89-A847-CC5466575D31}"/>
              </a:ext>
            </a:extLst>
          </p:cNvPr>
          <p:cNvSpPr/>
          <p:nvPr/>
        </p:nvSpPr>
        <p:spPr>
          <a:xfrm>
            <a:off x="443345" y="1357745"/>
            <a:ext cx="4696691" cy="509847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В ЮАР одиннадцать официальных языков. Поэтому в школах преподавание может вестись на одном из них, максимальное число школ «заточено» под английский язык, но учебники издаются на всех 11.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E6AF740-6033-4058-94F7-6D9A2BA161D3}"/>
              </a:ext>
            </a:extLst>
          </p:cNvPr>
          <p:cNvSpPr/>
          <p:nvPr/>
        </p:nvSpPr>
        <p:spPr>
          <a:xfrm>
            <a:off x="5500256" y="1357744"/>
            <a:ext cx="6248400" cy="509847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Африкаанс</a:t>
            </a:r>
          </a:p>
          <a:p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Английский</a:t>
            </a:r>
          </a:p>
          <a:p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южный ндебеле</a:t>
            </a:r>
          </a:p>
          <a:p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коса</a:t>
            </a:r>
          </a:p>
          <a:p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зулу</a:t>
            </a:r>
          </a:p>
          <a:p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северный </a:t>
            </a:r>
            <a:r>
              <a:rPr lang="ru-RU" sz="2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сото</a:t>
            </a:r>
            <a:endParaRPr lang="ru-RU" sz="2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сесото</a:t>
            </a:r>
          </a:p>
          <a:p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тсвана</a:t>
            </a:r>
          </a:p>
          <a:p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свази</a:t>
            </a:r>
          </a:p>
          <a:p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венда</a:t>
            </a:r>
          </a:p>
          <a:p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тсонга</a:t>
            </a:r>
          </a:p>
        </p:txBody>
      </p:sp>
    </p:spTree>
    <p:extLst>
      <p:ext uri="{BB962C8B-B14F-4D97-AF65-F5344CB8AC3E}">
        <p14:creationId xmlns:p14="http://schemas.microsoft.com/office/powerpoint/2010/main" val="2992476919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6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7FE3F7-3B57-46DA-B85D-2A2EE9E71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8243454" cy="817418"/>
          </a:xfrm>
          <a:solidFill>
            <a:schemeClr val="bg1"/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txBody>
          <a:bodyPr>
            <a:normAutofit/>
          </a:bodyPr>
          <a:lstStyle/>
          <a:p>
            <a:r>
              <a:rPr lang="ru-RU" sz="3600" dirty="0"/>
              <a:t>Образование в  ЮАР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9E413571-7C56-4461-B84C-1AFCBB70F113}"/>
              </a:ext>
            </a:extLst>
          </p:cNvPr>
          <p:cNvSpPr txBox="1">
            <a:spLocks/>
          </p:cNvSpPr>
          <p:nvPr/>
        </p:nvSpPr>
        <p:spPr>
          <a:xfrm>
            <a:off x="8243455" y="-1"/>
            <a:ext cx="3948545" cy="81741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Начальная школа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C05F827-C60E-4C89-A847-CC5466575D31}"/>
              </a:ext>
            </a:extLst>
          </p:cNvPr>
          <p:cNvSpPr/>
          <p:nvPr/>
        </p:nvSpPr>
        <p:spPr>
          <a:xfrm>
            <a:off x="484909" y="1163781"/>
            <a:ext cx="11222182" cy="357447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Как и в других странах, образование в ЮАР делится на начальное, среднее и высшее. Учебный год длится 11 месяцев, продолжаясь с января по ноябрь. Африканские дети первый класс начинают посещать в возрасте 5 — 6 лет (на год раньше, чем россияне). До этого родители могут отдать малыша в подготовительный класс. Он необязательный, но даёт достаточно много для успешного школьного старта, поэтому родители предпочитают его не игнорировать. Начальное образование в ЮАР обязательное, оно продолжается 9 лет и делится на 3 ступени одинаковой продолжительности (по 3 года). После каждого цикла проводится тестирование, но не с целью перевода на другую ступень (это происходит автоматически), а с </a:t>
            </a:r>
            <a:r>
              <a:rPr lang="ru-RU" sz="22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целью определения уровня образованности школьников в целом по стране.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2B01F5DF-7939-4711-9C05-8E5BFECB4FB0}"/>
              </a:ext>
            </a:extLst>
          </p:cNvPr>
          <p:cNvSpPr/>
          <p:nvPr/>
        </p:nvSpPr>
        <p:spPr>
          <a:xfrm>
            <a:off x="443344" y="5181594"/>
            <a:ext cx="2757054" cy="928255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Начальная школа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92AFB572-626E-4DC3-92F0-23E38A08B0B2}"/>
              </a:ext>
            </a:extLst>
          </p:cNvPr>
          <p:cNvSpPr/>
          <p:nvPr/>
        </p:nvSpPr>
        <p:spPr>
          <a:xfrm>
            <a:off x="443344" y="6179124"/>
            <a:ext cx="2757054" cy="360218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</a:rPr>
              <a:t>9лет</a:t>
            </a:r>
          </a:p>
        </p:txBody>
      </p:sp>
      <p:sp>
        <p:nvSpPr>
          <p:cNvPr id="8" name="Стрелка: вправо 7">
            <a:extLst>
              <a:ext uri="{FF2B5EF4-FFF2-40B4-BE49-F238E27FC236}">
                <a16:creationId xmlns:a16="http://schemas.microsoft.com/office/drawing/2014/main" id="{21586B95-948A-42FC-B116-87957E945D2D}"/>
              </a:ext>
            </a:extLst>
          </p:cNvPr>
          <p:cNvSpPr/>
          <p:nvPr/>
        </p:nvSpPr>
        <p:spPr>
          <a:xfrm>
            <a:off x="3276597" y="5396328"/>
            <a:ext cx="1309258" cy="782788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Экзамены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26434105-FE1A-404B-AD50-0735594883C3}"/>
              </a:ext>
            </a:extLst>
          </p:cNvPr>
          <p:cNvSpPr/>
          <p:nvPr/>
        </p:nvSpPr>
        <p:spPr>
          <a:xfrm>
            <a:off x="4689761" y="5181586"/>
            <a:ext cx="2757054" cy="92825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Средняя школа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91E3C0B2-9267-4189-8B41-52B02457124F}"/>
              </a:ext>
            </a:extLst>
          </p:cNvPr>
          <p:cNvSpPr/>
          <p:nvPr/>
        </p:nvSpPr>
        <p:spPr>
          <a:xfrm>
            <a:off x="4689761" y="6179116"/>
            <a:ext cx="2757054" cy="36021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</a:rPr>
              <a:t>3 лет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E884D803-35DC-4944-9E94-AAD83C4DE0C4}"/>
              </a:ext>
            </a:extLst>
          </p:cNvPr>
          <p:cNvSpPr/>
          <p:nvPr/>
        </p:nvSpPr>
        <p:spPr>
          <a:xfrm>
            <a:off x="8936179" y="5153879"/>
            <a:ext cx="2757054" cy="92825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Высшее образование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CAA76536-4C03-430A-88F7-C9127EB68527}"/>
              </a:ext>
            </a:extLst>
          </p:cNvPr>
          <p:cNvSpPr/>
          <p:nvPr/>
        </p:nvSpPr>
        <p:spPr>
          <a:xfrm>
            <a:off x="8936179" y="6151409"/>
            <a:ext cx="2757054" cy="36021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</a:rPr>
              <a:t>да сколько им надо лет</a:t>
            </a:r>
          </a:p>
        </p:txBody>
      </p:sp>
      <p:sp>
        <p:nvSpPr>
          <p:cNvPr id="18" name="Стрелка: вправо 17">
            <a:extLst>
              <a:ext uri="{FF2B5EF4-FFF2-40B4-BE49-F238E27FC236}">
                <a16:creationId xmlns:a16="http://schemas.microsoft.com/office/drawing/2014/main" id="{88569EA4-CF10-476B-A3A8-F83B53C03736}"/>
              </a:ext>
            </a:extLst>
          </p:cNvPr>
          <p:cNvSpPr/>
          <p:nvPr/>
        </p:nvSpPr>
        <p:spPr>
          <a:xfrm>
            <a:off x="7536868" y="5444801"/>
            <a:ext cx="1309258" cy="782788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Экзамены</a:t>
            </a:r>
          </a:p>
        </p:txBody>
      </p:sp>
    </p:spTree>
    <p:extLst>
      <p:ext uri="{BB962C8B-B14F-4D97-AF65-F5344CB8AC3E}">
        <p14:creationId xmlns:p14="http://schemas.microsoft.com/office/powerpoint/2010/main" val="3865707139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6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7FE3F7-3B57-46DA-B85D-2A2EE9E71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8243454" cy="817418"/>
          </a:xfrm>
          <a:solidFill>
            <a:schemeClr val="bg1"/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txBody>
          <a:bodyPr>
            <a:normAutofit/>
          </a:bodyPr>
          <a:lstStyle/>
          <a:p>
            <a:r>
              <a:rPr lang="ru-RU" sz="3600" dirty="0"/>
              <a:t>Образование в  ЮАР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9E413571-7C56-4461-B84C-1AFCBB70F113}"/>
              </a:ext>
            </a:extLst>
          </p:cNvPr>
          <p:cNvSpPr txBox="1">
            <a:spLocks/>
          </p:cNvSpPr>
          <p:nvPr/>
        </p:nvSpPr>
        <p:spPr>
          <a:xfrm>
            <a:off x="8243455" y="-1"/>
            <a:ext cx="3948545" cy="81741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Средняя школа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C05F827-C60E-4C89-A847-CC5466575D31}"/>
              </a:ext>
            </a:extLst>
          </p:cNvPr>
          <p:cNvSpPr/>
          <p:nvPr/>
        </p:nvSpPr>
        <p:spPr>
          <a:xfrm>
            <a:off x="484909" y="1163781"/>
            <a:ext cx="11222182" cy="357447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Средняя школа в ЮАР, в которую дети поступают после 9 лет обучения в начальной школе, ближе к нашему колледжу или училищу. В ней дети учатся ещё 3 года, получая углублённые знания по иностранным языкам, естественным наукам и получая «рабочую» специальность. После 12 класса дети сдают первый серьёзный экзамен, успешное прохождение которого даёт право на получение Аттестата о среднем образовании и возможность поступления в вуз.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2B01F5DF-7939-4711-9C05-8E5BFECB4FB0}"/>
              </a:ext>
            </a:extLst>
          </p:cNvPr>
          <p:cNvSpPr/>
          <p:nvPr/>
        </p:nvSpPr>
        <p:spPr>
          <a:xfrm>
            <a:off x="443344" y="5181594"/>
            <a:ext cx="2757054" cy="92825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Начальная школа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92AFB572-626E-4DC3-92F0-23E38A08B0B2}"/>
              </a:ext>
            </a:extLst>
          </p:cNvPr>
          <p:cNvSpPr/>
          <p:nvPr/>
        </p:nvSpPr>
        <p:spPr>
          <a:xfrm>
            <a:off x="443344" y="6179124"/>
            <a:ext cx="2757054" cy="36021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</a:rPr>
              <a:t>9лет</a:t>
            </a:r>
          </a:p>
        </p:txBody>
      </p:sp>
      <p:sp>
        <p:nvSpPr>
          <p:cNvPr id="8" name="Стрелка: вправо 7">
            <a:extLst>
              <a:ext uri="{FF2B5EF4-FFF2-40B4-BE49-F238E27FC236}">
                <a16:creationId xmlns:a16="http://schemas.microsoft.com/office/drawing/2014/main" id="{21586B95-948A-42FC-B116-87957E945D2D}"/>
              </a:ext>
            </a:extLst>
          </p:cNvPr>
          <p:cNvSpPr/>
          <p:nvPr/>
        </p:nvSpPr>
        <p:spPr>
          <a:xfrm>
            <a:off x="3276597" y="5396328"/>
            <a:ext cx="1309258" cy="782788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Экзамены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26434105-FE1A-404B-AD50-0735594883C3}"/>
              </a:ext>
            </a:extLst>
          </p:cNvPr>
          <p:cNvSpPr/>
          <p:nvPr/>
        </p:nvSpPr>
        <p:spPr>
          <a:xfrm>
            <a:off x="4689761" y="5181586"/>
            <a:ext cx="2757054" cy="928255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Средняя школа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91E3C0B2-9267-4189-8B41-52B02457124F}"/>
              </a:ext>
            </a:extLst>
          </p:cNvPr>
          <p:cNvSpPr/>
          <p:nvPr/>
        </p:nvSpPr>
        <p:spPr>
          <a:xfrm>
            <a:off x="4689761" y="6179116"/>
            <a:ext cx="2757054" cy="360218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</a:rPr>
              <a:t>3 лет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E884D803-35DC-4944-9E94-AAD83C4DE0C4}"/>
              </a:ext>
            </a:extLst>
          </p:cNvPr>
          <p:cNvSpPr/>
          <p:nvPr/>
        </p:nvSpPr>
        <p:spPr>
          <a:xfrm>
            <a:off x="8936179" y="5153879"/>
            <a:ext cx="2757054" cy="92825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Высшее образование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CAA76536-4C03-430A-88F7-C9127EB68527}"/>
              </a:ext>
            </a:extLst>
          </p:cNvPr>
          <p:cNvSpPr/>
          <p:nvPr/>
        </p:nvSpPr>
        <p:spPr>
          <a:xfrm>
            <a:off x="8936179" y="6151409"/>
            <a:ext cx="2757054" cy="36021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</a:rPr>
              <a:t>да сколько им надо лет</a:t>
            </a:r>
          </a:p>
        </p:txBody>
      </p:sp>
      <p:sp>
        <p:nvSpPr>
          <p:cNvPr id="18" name="Стрелка: вправо 17">
            <a:extLst>
              <a:ext uri="{FF2B5EF4-FFF2-40B4-BE49-F238E27FC236}">
                <a16:creationId xmlns:a16="http://schemas.microsoft.com/office/drawing/2014/main" id="{88569EA4-CF10-476B-A3A8-F83B53C03736}"/>
              </a:ext>
            </a:extLst>
          </p:cNvPr>
          <p:cNvSpPr/>
          <p:nvPr/>
        </p:nvSpPr>
        <p:spPr>
          <a:xfrm>
            <a:off x="7536868" y="5444801"/>
            <a:ext cx="1309258" cy="782788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Экзамены</a:t>
            </a:r>
          </a:p>
        </p:txBody>
      </p:sp>
    </p:spTree>
    <p:extLst>
      <p:ext uri="{BB962C8B-B14F-4D97-AF65-F5344CB8AC3E}">
        <p14:creationId xmlns:p14="http://schemas.microsoft.com/office/powerpoint/2010/main" val="478664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6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7FE3F7-3B57-46DA-B85D-2A2EE9E71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8243454" cy="817418"/>
          </a:xfrm>
          <a:solidFill>
            <a:schemeClr val="bg1"/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txBody>
          <a:bodyPr>
            <a:normAutofit/>
          </a:bodyPr>
          <a:lstStyle/>
          <a:p>
            <a:r>
              <a:rPr lang="ru-RU" sz="3600" dirty="0"/>
              <a:t>Образование в  ЮАР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9E413571-7C56-4461-B84C-1AFCBB70F113}"/>
              </a:ext>
            </a:extLst>
          </p:cNvPr>
          <p:cNvSpPr txBox="1">
            <a:spLocks/>
          </p:cNvSpPr>
          <p:nvPr/>
        </p:nvSpPr>
        <p:spPr>
          <a:xfrm>
            <a:off x="8243455" y="-1"/>
            <a:ext cx="3948545" cy="81741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Высшее образование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C05F827-C60E-4C89-A847-CC5466575D31}"/>
              </a:ext>
            </a:extLst>
          </p:cNvPr>
          <p:cNvSpPr/>
          <p:nvPr/>
        </p:nvSpPr>
        <p:spPr>
          <a:xfrm>
            <a:off x="484909" y="1066799"/>
            <a:ext cx="11222182" cy="381000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Площадь Южноафриканской республики в два раза больше площади Франции, однако здесь всего 11 университетов, 6 технических вузов и 6 гуманитарных. Для Европы это небольшие цифры, а для Африки — колоссальные! Поступить в один из вузов ЮАР можно лишь с национальным аттестатом о среднем образовании, имеющем максимальный балл, предоставив портфолио своих научных школьных работ или спортивных достижений, а также пройдя собеседование с деканом. Требования к поступающим высоки, достаточно высок и уровень обучения в вузах, среди которых несколько вполне соперничают с европейскими, получив мировую известность. Это:</a:t>
            </a:r>
          </a:p>
          <a:p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sym typeface="Wingdings" panose="05000000000000000000" pitchFamily="2" charset="2"/>
              </a:rPr>
              <a:t>&gt; </a:t>
            </a:r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университет им. Нельсона </a:t>
            </a:r>
            <a:r>
              <a:rPr lang="ru-RU" sz="2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Манделлы</a:t>
            </a:r>
            <a:endParaRPr lang="en-US" sz="2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&gt; </a:t>
            </a:r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университет города Кейптаун</a:t>
            </a:r>
            <a:endParaRPr lang="en-US" sz="2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&gt; </a:t>
            </a:r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университет Претории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2B01F5DF-7939-4711-9C05-8E5BFECB4FB0}"/>
              </a:ext>
            </a:extLst>
          </p:cNvPr>
          <p:cNvSpPr/>
          <p:nvPr/>
        </p:nvSpPr>
        <p:spPr>
          <a:xfrm>
            <a:off x="443344" y="5181594"/>
            <a:ext cx="2757054" cy="92825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Начальная школа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92AFB572-626E-4DC3-92F0-23E38A08B0B2}"/>
              </a:ext>
            </a:extLst>
          </p:cNvPr>
          <p:cNvSpPr/>
          <p:nvPr/>
        </p:nvSpPr>
        <p:spPr>
          <a:xfrm>
            <a:off x="443344" y="6179124"/>
            <a:ext cx="2757054" cy="36021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</a:rPr>
              <a:t>9лет</a:t>
            </a:r>
          </a:p>
        </p:txBody>
      </p:sp>
      <p:sp>
        <p:nvSpPr>
          <p:cNvPr id="8" name="Стрелка: вправо 7">
            <a:extLst>
              <a:ext uri="{FF2B5EF4-FFF2-40B4-BE49-F238E27FC236}">
                <a16:creationId xmlns:a16="http://schemas.microsoft.com/office/drawing/2014/main" id="{21586B95-948A-42FC-B116-87957E945D2D}"/>
              </a:ext>
            </a:extLst>
          </p:cNvPr>
          <p:cNvSpPr/>
          <p:nvPr/>
        </p:nvSpPr>
        <p:spPr>
          <a:xfrm>
            <a:off x="3276597" y="5396328"/>
            <a:ext cx="1309258" cy="782788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Экзамены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26434105-FE1A-404B-AD50-0735594883C3}"/>
              </a:ext>
            </a:extLst>
          </p:cNvPr>
          <p:cNvSpPr/>
          <p:nvPr/>
        </p:nvSpPr>
        <p:spPr>
          <a:xfrm>
            <a:off x="4689761" y="5181586"/>
            <a:ext cx="2757054" cy="92825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Средняя школа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91E3C0B2-9267-4189-8B41-52B02457124F}"/>
              </a:ext>
            </a:extLst>
          </p:cNvPr>
          <p:cNvSpPr/>
          <p:nvPr/>
        </p:nvSpPr>
        <p:spPr>
          <a:xfrm>
            <a:off x="4689761" y="6179116"/>
            <a:ext cx="2757054" cy="36021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</a:rPr>
              <a:t>9лет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E884D803-35DC-4944-9E94-AAD83C4DE0C4}"/>
              </a:ext>
            </a:extLst>
          </p:cNvPr>
          <p:cNvSpPr/>
          <p:nvPr/>
        </p:nvSpPr>
        <p:spPr>
          <a:xfrm>
            <a:off x="8936179" y="5153879"/>
            <a:ext cx="2757054" cy="928255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Высшее образование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CAA76536-4C03-430A-88F7-C9127EB68527}"/>
              </a:ext>
            </a:extLst>
          </p:cNvPr>
          <p:cNvSpPr/>
          <p:nvPr/>
        </p:nvSpPr>
        <p:spPr>
          <a:xfrm>
            <a:off x="8936179" y="6151409"/>
            <a:ext cx="2757054" cy="360218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</a:rPr>
              <a:t>да сколько им надо лет</a:t>
            </a:r>
          </a:p>
        </p:txBody>
      </p:sp>
      <p:sp>
        <p:nvSpPr>
          <p:cNvPr id="18" name="Стрелка: вправо 17">
            <a:extLst>
              <a:ext uri="{FF2B5EF4-FFF2-40B4-BE49-F238E27FC236}">
                <a16:creationId xmlns:a16="http://schemas.microsoft.com/office/drawing/2014/main" id="{88569EA4-CF10-476B-A3A8-F83B53C03736}"/>
              </a:ext>
            </a:extLst>
          </p:cNvPr>
          <p:cNvSpPr/>
          <p:nvPr/>
        </p:nvSpPr>
        <p:spPr>
          <a:xfrm>
            <a:off x="7536868" y="5444801"/>
            <a:ext cx="1309258" cy="782788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Экзамены</a:t>
            </a:r>
          </a:p>
        </p:txBody>
      </p:sp>
    </p:spTree>
    <p:extLst>
      <p:ext uri="{BB962C8B-B14F-4D97-AF65-F5344CB8AC3E}">
        <p14:creationId xmlns:p14="http://schemas.microsoft.com/office/powerpoint/2010/main" val="22273662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6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7FE3F7-3B57-46DA-B85D-2A2EE9E71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8243454" cy="817418"/>
          </a:xfrm>
          <a:solidFill>
            <a:schemeClr val="bg1"/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txBody>
          <a:bodyPr>
            <a:normAutofit/>
          </a:bodyPr>
          <a:lstStyle/>
          <a:p>
            <a:r>
              <a:rPr lang="ru-RU" sz="3600" dirty="0"/>
              <a:t>Образование в  ЮАР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9E413571-7C56-4461-B84C-1AFCBB70F113}"/>
              </a:ext>
            </a:extLst>
          </p:cNvPr>
          <p:cNvSpPr txBox="1">
            <a:spLocks/>
          </p:cNvSpPr>
          <p:nvPr/>
        </p:nvSpPr>
        <p:spPr>
          <a:xfrm>
            <a:off x="8243455" y="-1"/>
            <a:ext cx="3948545" cy="81741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Для иностранных студентов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C05F827-C60E-4C89-A847-CC5466575D31}"/>
              </a:ext>
            </a:extLst>
          </p:cNvPr>
          <p:cNvSpPr/>
          <p:nvPr/>
        </p:nvSpPr>
        <p:spPr>
          <a:xfrm>
            <a:off x="810491" y="2867891"/>
            <a:ext cx="10571018" cy="369916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В трёх вышеперечисленных вузах можно встретить иностранцев. Их немного, но они всё же есть. Если вы прекрасно владеете английским языком, то можете подать документы в интересующий вас вуз ЮАР и подождать ответа. Вам могут отказать, предложить сдать экзамены и зачислить. В первом случае нужно искать другой вуз, во втором — получать гостевую визу и ехать сдавать экзамены, в третьем — оформлять учебную визу и отправляться на учёбу.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B7F1016-714A-49E3-8D82-A32C19D2180B}"/>
              </a:ext>
            </a:extLst>
          </p:cNvPr>
          <p:cNvSpPr/>
          <p:nvPr/>
        </p:nvSpPr>
        <p:spPr>
          <a:xfrm>
            <a:off x="810491" y="1080654"/>
            <a:ext cx="10571018" cy="166254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Напоминание:</a:t>
            </a:r>
          </a:p>
          <a:p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sym typeface="Wingdings" panose="05000000000000000000" pitchFamily="2" charset="2"/>
              </a:rPr>
              <a:t>&gt; </a:t>
            </a:r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университет им. Нельсона </a:t>
            </a:r>
            <a:r>
              <a:rPr lang="ru-RU" sz="2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Манделлы</a:t>
            </a:r>
            <a:endParaRPr lang="en-US" sz="2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&gt; </a:t>
            </a:r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университет города Кейптаун</a:t>
            </a:r>
            <a:endParaRPr lang="en-US" sz="2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&gt; </a:t>
            </a:r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университет Претории</a:t>
            </a:r>
          </a:p>
        </p:txBody>
      </p:sp>
    </p:spTree>
    <p:extLst>
      <p:ext uri="{BB962C8B-B14F-4D97-AF65-F5344CB8AC3E}">
        <p14:creationId xmlns:p14="http://schemas.microsoft.com/office/powerpoint/2010/main" val="16966015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6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7FE3F7-3B57-46DA-B85D-2A2EE9E71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8243454" cy="817418"/>
          </a:xfrm>
          <a:solidFill>
            <a:schemeClr val="bg1"/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txBody>
          <a:bodyPr>
            <a:normAutofit/>
          </a:bodyPr>
          <a:lstStyle/>
          <a:p>
            <a:r>
              <a:rPr lang="ru-RU" sz="3600" dirty="0"/>
              <a:t>Образование в  ЮАР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9E413571-7C56-4461-B84C-1AFCBB70F113}"/>
              </a:ext>
            </a:extLst>
          </p:cNvPr>
          <p:cNvSpPr txBox="1">
            <a:spLocks/>
          </p:cNvSpPr>
          <p:nvPr/>
        </p:nvSpPr>
        <p:spPr>
          <a:xfrm>
            <a:off x="8243455" y="-1"/>
            <a:ext cx="3948545" cy="81741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Конец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15D7D1F-7053-444B-8C62-774B4634DB69}"/>
              </a:ext>
            </a:extLst>
          </p:cNvPr>
          <p:cNvSpPr/>
          <p:nvPr/>
        </p:nvSpPr>
        <p:spPr>
          <a:xfrm>
            <a:off x="3020290" y="1357747"/>
            <a:ext cx="6151419" cy="101138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Спасибо за внимание!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510B344-6CAE-4A75-BC06-B038A97B29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6836" y="2690177"/>
            <a:ext cx="5671259" cy="377989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55B2216-55D4-48F4-84B8-1D81C87461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905" y="2687386"/>
            <a:ext cx="5671259" cy="3782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6583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854</Words>
  <Application>Microsoft Office PowerPoint</Application>
  <PresentationFormat>Широкоэкранный</PresentationFormat>
  <Paragraphs>112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Тема Office</vt:lpstr>
      <vt:lpstr>Образование в ЮАР</vt:lpstr>
      <vt:lpstr>Образование в  ЮАР</vt:lpstr>
      <vt:lpstr>Образование в  ЮАР</vt:lpstr>
      <vt:lpstr>Образование в  ЮАР</vt:lpstr>
      <vt:lpstr>Образование в  ЮАР</vt:lpstr>
      <vt:lpstr>Образование в  ЮАР</vt:lpstr>
      <vt:lpstr>Образование в  ЮАР</vt:lpstr>
      <vt:lpstr>Образование в  ЮАР</vt:lpstr>
      <vt:lpstr>Образование в  ЮАР</vt:lpstr>
      <vt:lpstr>Образование в  ЮАР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Образование в ЮАР</dc:title>
  <dc:creator>vionar</dc:creator>
  <cp:lastModifiedBy>vionar</cp:lastModifiedBy>
  <cp:revision>16</cp:revision>
  <dcterms:created xsi:type="dcterms:W3CDTF">2021-12-15T18:58:12Z</dcterms:created>
  <dcterms:modified xsi:type="dcterms:W3CDTF">2021-12-15T21:05:07Z</dcterms:modified>
</cp:coreProperties>
</file>