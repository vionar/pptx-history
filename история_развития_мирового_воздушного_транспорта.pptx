
<file path=[Content_Types].xml><?xml version="1.0" encoding="utf-8"?>
<Types xmlns="http://schemas.openxmlformats.org/package/2006/content-types">
  <Default Extension="jpeg" ContentType="image/jpeg"/>
  <Default Extension="jpg" ContentType="image/jpeg"/>
  <Default Extension="jpg_large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81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CEC21-8EB5-4A6D-9A53-790B475CF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B9A9FB-6475-45E7-AC23-29A3C1C53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5BCB34-B409-441C-8B06-597C5BDC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D1BC-9A6E-44C8-B618-1E38A82C52F8}" type="datetimeFigureOut">
              <a:rPr lang="ru-RU" smtClean="0"/>
              <a:t>21.12.2021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08A916-4FDF-4753-857D-31AF883C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CFCFBD-EAC5-4745-946C-28B01536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8A84F-6D3F-413F-BDBB-87E1BBC14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14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7CFB74-332A-48D0-A659-02E26DF79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F7AFA5-1AA4-423A-8F14-67076C87F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7A09E5-8F48-43F8-B04A-0AB35ACE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D1BC-9A6E-44C8-B618-1E38A82C52F8}" type="datetimeFigureOut">
              <a:rPr lang="ru-RU" smtClean="0"/>
              <a:t>21.12.2021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091BE2-389F-4D7E-BB10-A02EA268B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625A7F-B02B-495D-9EB6-B698F24E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8A84F-6D3F-413F-BDBB-87E1BBC14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12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AD0B5-978A-493B-AA77-6137BD54B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34192C-A0F2-4FBB-B4A7-3A73CA7E4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D702AC-98AE-45A2-85E3-6E7C51A8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D1BC-9A6E-44C8-B618-1E38A82C52F8}" type="datetimeFigureOut">
              <a:rPr lang="ru-RU" smtClean="0"/>
              <a:t>21.12.2021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072B6C-719E-493F-B129-DF7335144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96A7E7-EEE9-41D0-9E99-5AB5C5AE8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8A84F-6D3F-413F-BDBB-87E1BBC14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730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2731B3-A7E6-495F-B7B9-ACF25C1C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F40791-47FB-4285-B5CB-98F40C14A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9A6685-18AE-4FC1-967E-28F22A036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80960B-DE6B-4285-AA62-5799C8A3B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D1BC-9A6E-44C8-B618-1E38A82C52F8}" type="datetimeFigureOut">
              <a:rPr lang="ru-RU" smtClean="0"/>
              <a:t>21.12.2021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142C67-9E32-4C32-BBFC-9C85A7A5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85E6CA-A92F-42A5-B7BD-ACDC3D13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8A84F-6D3F-413F-BDBB-87E1BBC14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64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8BC30-C02D-4161-8B87-260BC8A74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F4EAD6-9F96-4F9B-9C93-9F0A3F428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BBA520-A41A-43F8-BBBB-1569A80C5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82E28F2-D244-4309-8689-84E423ECD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DC36A8-CD37-4C59-8888-05EF027B7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4FFB9C5-DF48-4FD4-A552-42B65085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D1BC-9A6E-44C8-B618-1E38A82C52F8}" type="datetimeFigureOut">
              <a:rPr lang="ru-RU" smtClean="0"/>
              <a:t>21.12.2021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BEB76DA-7858-4993-9163-EAB88487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FAB7C71-F144-4253-B6C1-856E91B1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8A84F-6D3F-413F-BDBB-87E1BBC14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916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48781-27CD-42E0-AFF3-334EB81C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906AD9-CD29-413C-BB32-BDCC1DFB5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D1BC-9A6E-44C8-B618-1E38A82C52F8}" type="datetimeFigureOut">
              <a:rPr lang="ru-RU" smtClean="0"/>
              <a:t>21.12.2021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2EA4211-0E63-4EBD-B647-6D6B8417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A9D200-CFC4-45C1-8FED-1A7BB372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8A84F-6D3F-413F-BDBB-87E1BBC14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25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BBE461-BFFE-43F3-8BA7-CD7686BD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D1BC-9A6E-44C8-B618-1E38A82C52F8}" type="datetimeFigureOut">
              <a:rPr lang="ru-RU" smtClean="0"/>
              <a:t>21.12.2021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1D45203-583D-44F4-97F3-C96D3F4A9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E18B5E-EEEE-46C6-8C3C-A8E3B6A0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8A84F-6D3F-413F-BDBB-87E1BBC14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05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7C4F9F-348A-4E5E-B0B1-28170CA0A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B11764-0F38-4220-90AA-79E79BF5E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0B73FC-12BA-413A-A130-6090933C6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929BDE-25D6-4EEE-B8DC-AA0705901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D1BC-9A6E-44C8-B618-1E38A82C52F8}" type="datetimeFigureOut">
              <a:rPr lang="ru-RU" smtClean="0"/>
              <a:t>21.12.2021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615417-99ED-4AD6-8EF6-DB5A574E8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FF8595-3802-4D76-9369-6179A0A7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8A84F-6D3F-413F-BDBB-87E1BBC14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33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E6C51-4BD1-4EA4-ADBD-D5DA0DC11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B4B56-1054-4D16-BB2F-26485CCA8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A94EEA-C856-401C-8601-938B3007D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18C4F3-1499-4DC0-8574-B6DD21FEA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D1BC-9A6E-44C8-B618-1E38A82C52F8}" type="datetimeFigureOut">
              <a:rPr lang="ru-RU" smtClean="0"/>
              <a:t>21.12.2021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098A78-0EBA-4FB5-9563-A75768A4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558700-A2A6-4922-918C-DDD04CF2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8A84F-6D3F-413F-BDBB-87E1BBC14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358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2FA68-DFB9-4136-BE56-E6528937C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BCC70A-F07C-4061-94F8-7BD419418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CBE5CD-ADAF-469B-B7A1-BEC423FC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D1BC-9A6E-44C8-B618-1E38A82C52F8}" type="datetimeFigureOut">
              <a:rPr lang="ru-RU" smtClean="0"/>
              <a:t>21.12.2021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60D012-2FB4-40EC-B8FE-1A3823380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D311BC-46D0-4BC1-9785-F017F888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8A84F-6D3F-413F-BDBB-87E1BBC14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93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B910D5C-C238-4DA4-B6C0-3A40C1645F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93F169-0CB7-4560-BB72-2B6CE461C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4D8301-3419-4BCC-9909-914B0657F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D1BC-9A6E-44C8-B618-1E38A82C52F8}" type="datetimeFigureOut">
              <a:rPr lang="ru-RU" smtClean="0"/>
              <a:t>21.12.2021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CD06E9-D433-470A-8AC2-7CA721EBB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13A069-5EDA-40C7-8BB3-9C8C625A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8A84F-6D3F-413F-BDBB-87E1BBC14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00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B7CD9C-9977-4975-8B9E-2ED2BBB7B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EC0EAE-A985-49CC-B1F0-559A2EC54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F8D9D4-5EA1-428E-AB55-2E975F327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CD1BC-9A6E-44C8-B618-1E38A82C52F8}" type="datetimeFigureOut">
              <a:rPr lang="ru-RU" smtClean="0"/>
              <a:t>21.12.2021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44B232-BAC2-4368-8A61-0CB158B7A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1FEE30-A30C-4C2E-B636-562B1E5B0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8A84F-6D3F-413F-BDBB-87E1BBC14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6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_large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F34E47-70BC-4458-AFAF-C66495B82E80}"/>
              </a:ext>
            </a:extLst>
          </p:cNvPr>
          <p:cNvSpPr/>
          <p:nvPr/>
        </p:nvSpPr>
        <p:spPr>
          <a:xfrm>
            <a:off x="110836" y="124690"/>
            <a:ext cx="11956473" cy="6553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A935B-54CC-4CF9-9163-AC24342FB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726" y="554180"/>
            <a:ext cx="10806547" cy="1307091"/>
          </a:xfrm>
          <a:solidFill>
            <a:schemeClr val="bg1">
              <a:lumMod val="9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r>
              <a:rPr lang="ru-RU" sz="4000" dirty="0">
                <a:latin typeface="Century Gothic" panose="020B0502020202020204" pitchFamily="34" charset="0"/>
              </a:rPr>
              <a:t>ИСТОРИЯ РАЗВИТИЯ МИРОВОГО ВОЗДУШНОГО ТРАНСПОРТА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35B19B-0E03-486F-9936-18149080E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125" y="2094920"/>
            <a:ext cx="6677891" cy="4432450"/>
          </a:xfrm>
          <a:prstGeom prst="rect">
            <a:avLst/>
          </a:prstGeom>
          <a:ln w="28575"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313441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D720BE-24D8-47EB-A4B3-9102A3D911AD}"/>
              </a:ext>
            </a:extLst>
          </p:cNvPr>
          <p:cNvSpPr/>
          <p:nvPr/>
        </p:nvSpPr>
        <p:spPr>
          <a:xfrm>
            <a:off x="110836" y="110835"/>
            <a:ext cx="11928763" cy="658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B82AA6-A4C3-4A37-9A32-90F458F6F483}"/>
              </a:ext>
            </a:extLst>
          </p:cNvPr>
          <p:cNvSpPr/>
          <p:nvPr/>
        </p:nvSpPr>
        <p:spPr>
          <a:xfrm flipH="1">
            <a:off x="4233251" y="990600"/>
            <a:ext cx="45719" cy="33112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79F2C0-5F57-4D39-B123-5908E08E567E}"/>
              </a:ext>
            </a:extLst>
          </p:cNvPr>
          <p:cNvSpPr/>
          <p:nvPr/>
        </p:nvSpPr>
        <p:spPr>
          <a:xfrm>
            <a:off x="4488873" y="955963"/>
            <a:ext cx="7158644" cy="3311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Первый в мире полет выполнили, как известно, американцы братья Уилбер и Орвилл Райт в 1903 году. На сконструированном ими аэроплане «Флайер-1» был установлен самодельный бензиновый мотор мощностью 12 лошадиных сил. Сам «рейс» длился 12 секунд, за которые удалось преодолеть всего лишь 36,5 метра. Но тем не менее это было началом авиации, а Америка стала родиной первого аэроплана.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ACDDD5-24B0-4F9E-90F1-EBF56BAFFA22}"/>
              </a:ext>
            </a:extLst>
          </p:cNvPr>
          <p:cNvSpPr/>
          <p:nvPr/>
        </p:nvSpPr>
        <p:spPr>
          <a:xfrm>
            <a:off x="0" y="5227319"/>
            <a:ext cx="12192000" cy="16306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57C72E-B58F-49DB-BEC8-BF67585F9A12}"/>
              </a:ext>
            </a:extLst>
          </p:cNvPr>
          <p:cNvSpPr/>
          <p:nvPr/>
        </p:nvSpPr>
        <p:spPr>
          <a:xfrm>
            <a:off x="0" y="5181600"/>
            <a:ext cx="12081164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77452A-9D1E-4041-9C70-7344487A9A4A}"/>
              </a:ext>
            </a:extLst>
          </p:cNvPr>
          <p:cNvSpPr/>
          <p:nvPr/>
        </p:nvSpPr>
        <p:spPr>
          <a:xfrm>
            <a:off x="249382" y="5597236"/>
            <a:ext cx="4457008" cy="10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1"/>
                </a:solidFill>
                <a:latin typeface="Century Gothic" panose="020B0502020202020204" pitchFamily="34" charset="0"/>
                <a:cs typeface="Consolas" panose="020B0609020204030204" pitchFamily="49" charset="0"/>
              </a:rPr>
              <a:t>Воздушный транспорт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8A32037-11F4-41D6-AC53-2EA4AEBA451B}"/>
              </a:ext>
            </a:extLst>
          </p:cNvPr>
          <p:cNvGrpSpPr/>
          <p:nvPr/>
        </p:nvGrpSpPr>
        <p:grpSpPr>
          <a:xfrm>
            <a:off x="5202382" y="5902037"/>
            <a:ext cx="1474261" cy="476598"/>
            <a:chOff x="5527964" y="5902037"/>
            <a:chExt cx="1745672" cy="476598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B8DAB5A-9122-425C-AE41-EE91C21E41FC}"/>
                </a:ext>
              </a:extLst>
            </p:cNvPr>
            <p:cNvSpPr/>
            <p:nvPr/>
          </p:nvSpPr>
          <p:spPr>
            <a:xfrm>
              <a:off x="5527964" y="5902037"/>
              <a:ext cx="1745672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Начало</a:t>
              </a:r>
            </a:p>
          </p:txBody>
        </p:sp>
        <p:sp>
          <p:nvSpPr>
            <p:cNvPr id="14" name="Управляющая кнопка: &quot;На главную&quot;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739BE66-FEAD-497F-B004-1930A4BC70A8}"/>
                </a:ext>
              </a:extLst>
            </p:cNvPr>
            <p:cNvSpPr/>
            <p:nvPr/>
          </p:nvSpPr>
          <p:spPr>
            <a:xfrm>
              <a:off x="5527964" y="5902037"/>
              <a:ext cx="555441" cy="476598"/>
            </a:xfrm>
            <a:prstGeom prst="actionButtonHo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AB01BEF-DB18-49D2-82B3-83F7561673E9}"/>
              </a:ext>
            </a:extLst>
          </p:cNvPr>
          <p:cNvGrpSpPr/>
          <p:nvPr/>
        </p:nvGrpSpPr>
        <p:grpSpPr>
          <a:xfrm>
            <a:off x="6965386" y="5901342"/>
            <a:ext cx="2168686" cy="476598"/>
            <a:chOff x="6900842" y="5902037"/>
            <a:chExt cx="2440479" cy="476598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BFD326-416C-4EA6-8FD0-095BC176D856}"/>
                </a:ext>
              </a:extLst>
            </p:cNvPr>
            <p:cNvSpPr/>
            <p:nvPr/>
          </p:nvSpPr>
          <p:spPr>
            <a:xfrm>
              <a:off x="6900842" y="5902037"/>
              <a:ext cx="2440479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Авиакомпании</a:t>
              </a:r>
            </a:p>
          </p:txBody>
        </p:sp>
        <p:sp>
          <p:nvSpPr>
            <p:cNvPr id="22" name="Часть круга 21">
              <a:extLst>
                <a:ext uri="{FF2B5EF4-FFF2-40B4-BE49-F238E27FC236}">
                  <a16:creationId xmlns:a16="http://schemas.microsoft.com/office/drawing/2014/main" id="{D4454154-7F17-4AEE-881D-31949C09EFC6}"/>
                </a:ext>
              </a:extLst>
            </p:cNvPr>
            <p:cNvSpPr/>
            <p:nvPr/>
          </p:nvSpPr>
          <p:spPr>
            <a:xfrm>
              <a:off x="6951035" y="5968538"/>
              <a:ext cx="374642" cy="342205"/>
            </a:xfrm>
            <a:prstGeom prst="pi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7DD0663-6692-493B-B6A6-B8C03AF0568F}"/>
              </a:ext>
            </a:extLst>
          </p:cNvPr>
          <p:cNvGrpSpPr/>
          <p:nvPr/>
        </p:nvGrpSpPr>
        <p:grpSpPr>
          <a:xfrm>
            <a:off x="9422815" y="5865317"/>
            <a:ext cx="2309455" cy="547255"/>
            <a:chOff x="9422815" y="5865317"/>
            <a:chExt cx="2309455" cy="547255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1E1BDAC1-3CF6-4B85-AB51-29848B2182D5}"/>
                </a:ext>
              </a:extLst>
            </p:cNvPr>
            <p:cNvSpPr/>
            <p:nvPr/>
          </p:nvSpPr>
          <p:spPr>
            <a:xfrm>
              <a:off x="9452157" y="5901342"/>
              <a:ext cx="2280113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Современность</a:t>
              </a:r>
            </a:p>
          </p:txBody>
        </p:sp>
        <p:sp>
          <p:nvSpPr>
            <p:cNvPr id="24" name="Управляющая кнопка: &quot;Получить сведения&quot;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544F302-6C12-4FF9-930A-5D39FEB1F955}"/>
                </a:ext>
              </a:extLst>
            </p:cNvPr>
            <p:cNvSpPr/>
            <p:nvPr/>
          </p:nvSpPr>
          <p:spPr>
            <a:xfrm>
              <a:off x="9422815" y="5865317"/>
              <a:ext cx="457200" cy="547255"/>
            </a:xfrm>
            <a:prstGeom prst="actionButtonInformati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81D982A-217C-4310-80FF-A611CDC59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60" y="1280850"/>
            <a:ext cx="3819689" cy="266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499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D720BE-24D8-47EB-A4B3-9102A3D911AD}"/>
              </a:ext>
            </a:extLst>
          </p:cNvPr>
          <p:cNvSpPr/>
          <p:nvPr/>
        </p:nvSpPr>
        <p:spPr>
          <a:xfrm>
            <a:off x="110836" y="110835"/>
            <a:ext cx="11928763" cy="658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B82AA6-A4C3-4A37-9A32-90F458F6F483}"/>
              </a:ext>
            </a:extLst>
          </p:cNvPr>
          <p:cNvSpPr/>
          <p:nvPr/>
        </p:nvSpPr>
        <p:spPr>
          <a:xfrm flipH="1">
            <a:off x="6305007" y="1000991"/>
            <a:ext cx="45719" cy="33112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79F2C0-5F57-4D39-B123-5908E08E567E}"/>
              </a:ext>
            </a:extLst>
          </p:cNvPr>
          <p:cNvSpPr/>
          <p:nvPr/>
        </p:nvSpPr>
        <p:spPr>
          <a:xfrm>
            <a:off x="387929" y="956363"/>
            <a:ext cx="5609748" cy="340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В 1913 году в России состоялся полет первого в мире 4-моторного самолета «Русский витязь». В начале 1917 года в стране действовало 20 авиа- и моторостроительных заводов, производивших оригинальные и лицензионные воздушные суда.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ACDDD5-24B0-4F9E-90F1-EBF56BAFFA22}"/>
              </a:ext>
            </a:extLst>
          </p:cNvPr>
          <p:cNvSpPr/>
          <p:nvPr/>
        </p:nvSpPr>
        <p:spPr>
          <a:xfrm>
            <a:off x="0" y="5227319"/>
            <a:ext cx="12192000" cy="16306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57C72E-B58F-49DB-BEC8-BF67585F9A12}"/>
              </a:ext>
            </a:extLst>
          </p:cNvPr>
          <p:cNvSpPr/>
          <p:nvPr/>
        </p:nvSpPr>
        <p:spPr>
          <a:xfrm>
            <a:off x="0" y="5181600"/>
            <a:ext cx="12081164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77452A-9D1E-4041-9C70-7344487A9A4A}"/>
              </a:ext>
            </a:extLst>
          </p:cNvPr>
          <p:cNvSpPr/>
          <p:nvPr/>
        </p:nvSpPr>
        <p:spPr>
          <a:xfrm>
            <a:off x="249382" y="5597236"/>
            <a:ext cx="4457008" cy="10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1"/>
                </a:solidFill>
                <a:latin typeface="Century Gothic" panose="020B0502020202020204" pitchFamily="34" charset="0"/>
                <a:cs typeface="Consolas" panose="020B0609020204030204" pitchFamily="49" charset="0"/>
              </a:rPr>
              <a:t>Воздушный транспорт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8A32037-11F4-41D6-AC53-2EA4AEBA451B}"/>
              </a:ext>
            </a:extLst>
          </p:cNvPr>
          <p:cNvGrpSpPr/>
          <p:nvPr/>
        </p:nvGrpSpPr>
        <p:grpSpPr>
          <a:xfrm>
            <a:off x="5202382" y="5902037"/>
            <a:ext cx="1455675" cy="476598"/>
            <a:chOff x="5527964" y="5902037"/>
            <a:chExt cx="1745672" cy="476598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B8DAB5A-9122-425C-AE41-EE91C21E41FC}"/>
                </a:ext>
              </a:extLst>
            </p:cNvPr>
            <p:cNvSpPr/>
            <p:nvPr/>
          </p:nvSpPr>
          <p:spPr>
            <a:xfrm>
              <a:off x="5527964" y="5902037"/>
              <a:ext cx="1745672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Начало</a:t>
              </a:r>
            </a:p>
          </p:txBody>
        </p:sp>
        <p:sp>
          <p:nvSpPr>
            <p:cNvPr id="14" name="Управляющая кнопка: &quot;На главную&quot;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739BE66-FEAD-497F-B004-1930A4BC70A8}"/>
                </a:ext>
              </a:extLst>
            </p:cNvPr>
            <p:cNvSpPr/>
            <p:nvPr/>
          </p:nvSpPr>
          <p:spPr>
            <a:xfrm>
              <a:off x="5527964" y="5902037"/>
              <a:ext cx="555441" cy="476598"/>
            </a:xfrm>
            <a:prstGeom prst="actionButtonHo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AB01BEF-DB18-49D2-82B3-83F7561673E9}"/>
              </a:ext>
            </a:extLst>
          </p:cNvPr>
          <p:cNvGrpSpPr/>
          <p:nvPr/>
        </p:nvGrpSpPr>
        <p:grpSpPr>
          <a:xfrm>
            <a:off x="6954982" y="5901342"/>
            <a:ext cx="2179090" cy="476598"/>
            <a:chOff x="6900842" y="5902037"/>
            <a:chExt cx="2440479" cy="476598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BFD326-416C-4EA6-8FD0-095BC176D856}"/>
                </a:ext>
              </a:extLst>
            </p:cNvPr>
            <p:cNvSpPr/>
            <p:nvPr/>
          </p:nvSpPr>
          <p:spPr>
            <a:xfrm>
              <a:off x="6900842" y="5902037"/>
              <a:ext cx="2440479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Авиакомпании</a:t>
              </a:r>
            </a:p>
          </p:txBody>
        </p:sp>
        <p:sp>
          <p:nvSpPr>
            <p:cNvPr id="22" name="Часть круга 21">
              <a:extLst>
                <a:ext uri="{FF2B5EF4-FFF2-40B4-BE49-F238E27FC236}">
                  <a16:creationId xmlns:a16="http://schemas.microsoft.com/office/drawing/2014/main" id="{D4454154-7F17-4AEE-881D-31949C09EFC6}"/>
                </a:ext>
              </a:extLst>
            </p:cNvPr>
            <p:cNvSpPr/>
            <p:nvPr/>
          </p:nvSpPr>
          <p:spPr>
            <a:xfrm>
              <a:off x="6920001" y="5968538"/>
              <a:ext cx="374642" cy="342205"/>
            </a:xfrm>
            <a:prstGeom prst="pi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7DD0663-6692-493B-B6A6-B8C03AF0568F}"/>
              </a:ext>
            </a:extLst>
          </p:cNvPr>
          <p:cNvGrpSpPr/>
          <p:nvPr/>
        </p:nvGrpSpPr>
        <p:grpSpPr>
          <a:xfrm>
            <a:off x="9422815" y="5865317"/>
            <a:ext cx="2309455" cy="547255"/>
            <a:chOff x="9422815" y="5865317"/>
            <a:chExt cx="2309455" cy="547255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1E1BDAC1-3CF6-4B85-AB51-29848B2182D5}"/>
                </a:ext>
              </a:extLst>
            </p:cNvPr>
            <p:cNvSpPr/>
            <p:nvPr/>
          </p:nvSpPr>
          <p:spPr>
            <a:xfrm>
              <a:off x="9452157" y="5901342"/>
              <a:ext cx="2280113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Современность</a:t>
              </a:r>
            </a:p>
          </p:txBody>
        </p:sp>
        <p:sp>
          <p:nvSpPr>
            <p:cNvPr id="24" name="Управляющая кнопка: &quot;Получить сведения&quot;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544F302-6C12-4FF9-930A-5D39FEB1F955}"/>
                </a:ext>
              </a:extLst>
            </p:cNvPr>
            <p:cNvSpPr/>
            <p:nvPr/>
          </p:nvSpPr>
          <p:spPr>
            <a:xfrm>
              <a:off x="9422815" y="5865317"/>
              <a:ext cx="457200" cy="547255"/>
            </a:xfrm>
            <a:prstGeom prst="actionButtonInformati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08E399-092A-4C59-A895-3E64349DF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056" y="956363"/>
            <a:ext cx="5074213" cy="338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04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D720BE-24D8-47EB-A4B3-9102A3D911AD}"/>
              </a:ext>
            </a:extLst>
          </p:cNvPr>
          <p:cNvSpPr/>
          <p:nvPr/>
        </p:nvSpPr>
        <p:spPr>
          <a:xfrm>
            <a:off x="110836" y="110835"/>
            <a:ext cx="11928763" cy="658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B82AA6-A4C3-4A37-9A32-90F458F6F483}"/>
              </a:ext>
            </a:extLst>
          </p:cNvPr>
          <p:cNvSpPr/>
          <p:nvPr/>
        </p:nvSpPr>
        <p:spPr>
          <a:xfrm flipH="1">
            <a:off x="5587111" y="990599"/>
            <a:ext cx="45719" cy="33112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79F2C0-5F57-4D39-B123-5908E08E567E}"/>
              </a:ext>
            </a:extLst>
          </p:cNvPr>
          <p:cNvSpPr/>
          <p:nvPr/>
        </p:nvSpPr>
        <p:spPr>
          <a:xfrm>
            <a:off x="5984044" y="956363"/>
            <a:ext cx="5803896" cy="340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Уильямом Боингом была основана фирма по выпуску легких почтовых гидросамолетов, которая сегодня является компанией «Боинг»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ACDDD5-24B0-4F9E-90F1-EBF56BAFFA22}"/>
              </a:ext>
            </a:extLst>
          </p:cNvPr>
          <p:cNvSpPr/>
          <p:nvPr/>
        </p:nvSpPr>
        <p:spPr>
          <a:xfrm>
            <a:off x="0" y="5227319"/>
            <a:ext cx="12192000" cy="16306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57C72E-B58F-49DB-BEC8-BF67585F9A12}"/>
              </a:ext>
            </a:extLst>
          </p:cNvPr>
          <p:cNvSpPr/>
          <p:nvPr/>
        </p:nvSpPr>
        <p:spPr>
          <a:xfrm>
            <a:off x="0" y="5181600"/>
            <a:ext cx="12081164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77452A-9D1E-4041-9C70-7344487A9A4A}"/>
              </a:ext>
            </a:extLst>
          </p:cNvPr>
          <p:cNvSpPr/>
          <p:nvPr/>
        </p:nvSpPr>
        <p:spPr>
          <a:xfrm>
            <a:off x="249382" y="5597236"/>
            <a:ext cx="4457008" cy="10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1"/>
                </a:solidFill>
                <a:latin typeface="Century Gothic" panose="020B0502020202020204" pitchFamily="34" charset="0"/>
                <a:cs typeface="Consolas" panose="020B0609020204030204" pitchFamily="49" charset="0"/>
              </a:rPr>
              <a:t>Воздушный транспорт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8A32037-11F4-41D6-AC53-2EA4AEBA451B}"/>
              </a:ext>
            </a:extLst>
          </p:cNvPr>
          <p:cNvGrpSpPr/>
          <p:nvPr/>
        </p:nvGrpSpPr>
        <p:grpSpPr>
          <a:xfrm>
            <a:off x="5202382" y="5902037"/>
            <a:ext cx="1455675" cy="476598"/>
            <a:chOff x="5527964" y="5902037"/>
            <a:chExt cx="1745672" cy="476598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B8DAB5A-9122-425C-AE41-EE91C21E41FC}"/>
                </a:ext>
              </a:extLst>
            </p:cNvPr>
            <p:cNvSpPr/>
            <p:nvPr/>
          </p:nvSpPr>
          <p:spPr>
            <a:xfrm>
              <a:off x="5527964" y="5902037"/>
              <a:ext cx="1745672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Начало</a:t>
              </a:r>
            </a:p>
          </p:txBody>
        </p:sp>
        <p:sp>
          <p:nvSpPr>
            <p:cNvPr id="14" name="Управляющая кнопка: &quot;На главную&quot;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739BE66-FEAD-497F-B004-1930A4BC70A8}"/>
                </a:ext>
              </a:extLst>
            </p:cNvPr>
            <p:cNvSpPr/>
            <p:nvPr/>
          </p:nvSpPr>
          <p:spPr>
            <a:xfrm>
              <a:off x="5527964" y="5902037"/>
              <a:ext cx="555441" cy="476598"/>
            </a:xfrm>
            <a:prstGeom prst="actionButtonHo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AB01BEF-DB18-49D2-82B3-83F7561673E9}"/>
              </a:ext>
            </a:extLst>
          </p:cNvPr>
          <p:cNvGrpSpPr/>
          <p:nvPr/>
        </p:nvGrpSpPr>
        <p:grpSpPr>
          <a:xfrm>
            <a:off x="6954982" y="5901342"/>
            <a:ext cx="2179090" cy="476598"/>
            <a:chOff x="6900842" y="5902037"/>
            <a:chExt cx="2440479" cy="476598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BFD326-416C-4EA6-8FD0-095BC176D856}"/>
                </a:ext>
              </a:extLst>
            </p:cNvPr>
            <p:cNvSpPr/>
            <p:nvPr/>
          </p:nvSpPr>
          <p:spPr>
            <a:xfrm>
              <a:off x="6900842" y="5902037"/>
              <a:ext cx="2440479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Авиакомпании</a:t>
              </a:r>
            </a:p>
          </p:txBody>
        </p:sp>
        <p:sp>
          <p:nvSpPr>
            <p:cNvPr id="22" name="Часть круга 21">
              <a:extLst>
                <a:ext uri="{FF2B5EF4-FFF2-40B4-BE49-F238E27FC236}">
                  <a16:creationId xmlns:a16="http://schemas.microsoft.com/office/drawing/2014/main" id="{D4454154-7F17-4AEE-881D-31949C09EFC6}"/>
                </a:ext>
              </a:extLst>
            </p:cNvPr>
            <p:cNvSpPr/>
            <p:nvPr/>
          </p:nvSpPr>
          <p:spPr>
            <a:xfrm>
              <a:off x="6920001" y="5968538"/>
              <a:ext cx="374642" cy="342205"/>
            </a:xfrm>
            <a:prstGeom prst="pi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7DD0663-6692-493B-B6A6-B8C03AF0568F}"/>
              </a:ext>
            </a:extLst>
          </p:cNvPr>
          <p:cNvGrpSpPr/>
          <p:nvPr/>
        </p:nvGrpSpPr>
        <p:grpSpPr>
          <a:xfrm>
            <a:off x="9422815" y="5865317"/>
            <a:ext cx="2309455" cy="547255"/>
            <a:chOff x="9422815" y="5865317"/>
            <a:chExt cx="2309455" cy="547255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1E1BDAC1-3CF6-4B85-AB51-29848B2182D5}"/>
                </a:ext>
              </a:extLst>
            </p:cNvPr>
            <p:cNvSpPr/>
            <p:nvPr/>
          </p:nvSpPr>
          <p:spPr>
            <a:xfrm>
              <a:off x="9452157" y="5901342"/>
              <a:ext cx="2280113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Современность</a:t>
              </a:r>
            </a:p>
          </p:txBody>
        </p:sp>
        <p:sp>
          <p:nvSpPr>
            <p:cNvPr id="24" name="Управляющая кнопка: &quot;Получить сведения&quot;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544F302-6C12-4FF9-930A-5D39FEB1F955}"/>
                </a:ext>
              </a:extLst>
            </p:cNvPr>
            <p:cNvSpPr/>
            <p:nvPr/>
          </p:nvSpPr>
          <p:spPr>
            <a:xfrm>
              <a:off x="9422815" y="5865317"/>
              <a:ext cx="457200" cy="547255"/>
            </a:xfrm>
            <a:prstGeom prst="actionButtonInformati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4FA6D54-F8BC-4014-9310-CE9C87AC4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89" y="726791"/>
            <a:ext cx="4914208" cy="368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83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D720BE-24D8-47EB-A4B3-9102A3D911AD}"/>
              </a:ext>
            </a:extLst>
          </p:cNvPr>
          <p:cNvSpPr/>
          <p:nvPr/>
        </p:nvSpPr>
        <p:spPr>
          <a:xfrm>
            <a:off x="110836" y="110835"/>
            <a:ext cx="11928763" cy="658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B82AA6-A4C3-4A37-9A32-90F458F6F483}"/>
              </a:ext>
            </a:extLst>
          </p:cNvPr>
          <p:cNvSpPr/>
          <p:nvPr/>
        </p:nvSpPr>
        <p:spPr>
          <a:xfrm flipH="1">
            <a:off x="6307550" y="990599"/>
            <a:ext cx="45719" cy="33112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79F2C0-5F57-4D39-B123-5908E08E567E}"/>
              </a:ext>
            </a:extLst>
          </p:cNvPr>
          <p:cNvSpPr/>
          <p:nvPr/>
        </p:nvSpPr>
        <p:spPr>
          <a:xfrm>
            <a:off x="220570" y="956363"/>
            <a:ext cx="5803896" cy="340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Причем зачинателем этого дела выступила Россия, что и понятно, учитывая необъятные пространства страны и хроническое бездорожье. Весной 1923 года было образовано акционерное общество «</a:t>
            </a:r>
            <a:r>
              <a:rPr lang="ru-RU" sz="2400" dirty="0" err="1">
                <a:solidFill>
                  <a:schemeClr val="tx1"/>
                </a:solidFill>
              </a:rPr>
              <a:t>добролет</a:t>
            </a:r>
            <a:r>
              <a:rPr lang="ru-RU" sz="2400" dirty="0">
                <a:solidFill>
                  <a:schemeClr val="tx1"/>
                </a:solidFill>
              </a:rPr>
              <a:t>», активно занявшееся прокладкой авиалиний и формированием парка самолетов.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ACDDD5-24B0-4F9E-90F1-EBF56BAFFA22}"/>
              </a:ext>
            </a:extLst>
          </p:cNvPr>
          <p:cNvSpPr/>
          <p:nvPr/>
        </p:nvSpPr>
        <p:spPr>
          <a:xfrm>
            <a:off x="0" y="5227319"/>
            <a:ext cx="12192000" cy="16306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57C72E-B58F-49DB-BEC8-BF67585F9A12}"/>
              </a:ext>
            </a:extLst>
          </p:cNvPr>
          <p:cNvSpPr/>
          <p:nvPr/>
        </p:nvSpPr>
        <p:spPr>
          <a:xfrm>
            <a:off x="0" y="5181600"/>
            <a:ext cx="12081164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77452A-9D1E-4041-9C70-7344487A9A4A}"/>
              </a:ext>
            </a:extLst>
          </p:cNvPr>
          <p:cNvSpPr/>
          <p:nvPr/>
        </p:nvSpPr>
        <p:spPr>
          <a:xfrm>
            <a:off x="249382" y="5597236"/>
            <a:ext cx="4457008" cy="10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1"/>
                </a:solidFill>
                <a:latin typeface="Century Gothic" panose="020B0502020202020204" pitchFamily="34" charset="0"/>
                <a:cs typeface="Consolas" panose="020B0609020204030204" pitchFamily="49" charset="0"/>
              </a:rPr>
              <a:t>Воздушный транспорт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8A32037-11F4-41D6-AC53-2EA4AEBA451B}"/>
              </a:ext>
            </a:extLst>
          </p:cNvPr>
          <p:cNvGrpSpPr/>
          <p:nvPr/>
        </p:nvGrpSpPr>
        <p:grpSpPr>
          <a:xfrm>
            <a:off x="5202382" y="5902037"/>
            <a:ext cx="1455675" cy="476598"/>
            <a:chOff x="5527964" y="5902037"/>
            <a:chExt cx="1745672" cy="476598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B8DAB5A-9122-425C-AE41-EE91C21E41FC}"/>
                </a:ext>
              </a:extLst>
            </p:cNvPr>
            <p:cNvSpPr/>
            <p:nvPr/>
          </p:nvSpPr>
          <p:spPr>
            <a:xfrm>
              <a:off x="5527964" y="5902037"/>
              <a:ext cx="1745672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Начало</a:t>
              </a:r>
            </a:p>
          </p:txBody>
        </p:sp>
        <p:sp>
          <p:nvSpPr>
            <p:cNvPr id="14" name="Управляющая кнопка: &quot;На главную&quot;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739BE66-FEAD-497F-B004-1930A4BC70A8}"/>
                </a:ext>
              </a:extLst>
            </p:cNvPr>
            <p:cNvSpPr/>
            <p:nvPr/>
          </p:nvSpPr>
          <p:spPr>
            <a:xfrm>
              <a:off x="5527964" y="5902037"/>
              <a:ext cx="555441" cy="476598"/>
            </a:xfrm>
            <a:prstGeom prst="actionButtonHo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AB01BEF-DB18-49D2-82B3-83F7561673E9}"/>
              </a:ext>
            </a:extLst>
          </p:cNvPr>
          <p:cNvGrpSpPr/>
          <p:nvPr/>
        </p:nvGrpSpPr>
        <p:grpSpPr>
          <a:xfrm>
            <a:off x="6954982" y="5901342"/>
            <a:ext cx="2179090" cy="476598"/>
            <a:chOff x="6900842" y="5902037"/>
            <a:chExt cx="2440479" cy="476598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BFD326-416C-4EA6-8FD0-095BC176D856}"/>
                </a:ext>
              </a:extLst>
            </p:cNvPr>
            <p:cNvSpPr/>
            <p:nvPr/>
          </p:nvSpPr>
          <p:spPr>
            <a:xfrm>
              <a:off x="6900842" y="5902037"/>
              <a:ext cx="2440479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Авиакомпании</a:t>
              </a:r>
            </a:p>
          </p:txBody>
        </p:sp>
        <p:sp>
          <p:nvSpPr>
            <p:cNvPr id="22" name="Часть круга 21">
              <a:extLst>
                <a:ext uri="{FF2B5EF4-FFF2-40B4-BE49-F238E27FC236}">
                  <a16:creationId xmlns:a16="http://schemas.microsoft.com/office/drawing/2014/main" id="{D4454154-7F17-4AEE-881D-31949C09EFC6}"/>
                </a:ext>
              </a:extLst>
            </p:cNvPr>
            <p:cNvSpPr/>
            <p:nvPr/>
          </p:nvSpPr>
          <p:spPr>
            <a:xfrm>
              <a:off x="6920001" y="5968538"/>
              <a:ext cx="374642" cy="342205"/>
            </a:xfrm>
            <a:prstGeom prst="pi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7DD0663-6692-493B-B6A6-B8C03AF0568F}"/>
              </a:ext>
            </a:extLst>
          </p:cNvPr>
          <p:cNvGrpSpPr/>
          <p:nvPr/>
        </p:nvGrpSpPr>
        <p:grpSpPr>
          <a:xfrm>
            <a:off x="9422815" y="5865317"/>
            <a:ext cx="2309455" cy="547255"/>
            <a:chOff x="9422815" y="5865317"/>
            <a:chExt cx="2309455" cy="547255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1E1BDAC1-3CF6-4B85-AB51-29848B2182D5}"/>
                </a:ext>
              </a:extLst>
            </p:cNvPr>
            <p:cNvSpPr/>
            <p:nvPr/>
          </p:nvSpPr>
          <p:spPr>
            <a:xfrm>
              <a:off x="9452157" y="5901342"/>
              <a:ext cx="2280113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Современность</a:t>
              </a:r>
            </a:p>
          </p:txBody>
        </p:sp>
        <p:sp>
          <p:nvSpPr>
            <p:cNvPr id="24" name="Управляющая кнопка: &quot;Получить сведения&quot;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544F302-6C12-4FF9-930A-5D39FEB1F955}"/>
                </a:ext>
              </a:extLst>
            </p:cNvPr>
            <p:cNvSpPr/>
            <p:nvPr/>
          </p:nvSpPr>
          <p:spPr>
            <a:xfrm>
              <a:off x="9422815" y="5865317"/>
              <a:ext cx="457200" cy="547255"/>
            </a:xfrm>
            <a:prstGeom prst="actionButtonInformati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B43AA5-3149-4EF6-AD6C-1F14B43C3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276" y="402422"/>
            <a:ext cx="5346154" cy="433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303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D720BE-24D8-47EB-A4B3-9102A3D911AD}"/>
              </a:ext>
            </a:extLst>
          </p:cNvPr>
          <p:cNvSpPr/>
          <p:nvPr/>
        </p:nvSpPr>
        <p:spPr>
          <a:xfrm>
            <a:off x="110836" y="110835"/>
            <a:ext cx="11928763" cy="658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B82AA6-A4C3-4A37-9A32-90F458F6F483}"/>
              </a:ext>
            </a:extLst>
          </p:cNvPr>
          <p:cNvSpPr/>
          <p:nvPr/>
        </p:nvSpPr>
        <p:spPr>
          <a:xfrm rot="5400000" flipH="1">
            <a:off x="5907359" y="1691632"/>
            <a:ext cx="45719" cy="33112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79F2C0-5F57-4D39-B123-5908E08E567E}"/>
              </a:ext>
            </a:extLst>
          </p:cNvPr>
          <p:cNvSpPr/>
          <p:nvPr/>
        </p:nvSpPr>
        <p:spPr>
          <a:xfrm>
            <a:off x="2386448" y="3487891"/>
            <a:ext cx="7377537" cy="15731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DELTA была, </a:t>
            </a:r>
            <a:r>
              <a:rPr lang="ru-RU" sz="2400" dirty="0" err="1">
                <a:solidFill>
                  <a:schemeClr val="tx1"/>
                </a:solidFill>
              </a:rPr>
              <a:t>Imperial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Аirways</a:t>
            </a:r>
            <a:r>
              <a:rPr lang="ru-RU" sz="2400" dirty="0">
                <a:solidFill>
                  <a:schemeClr val="tx1"/>
                </a:solidFill>
              </a:rPr>
              <a:t>, были созданы лишь годом позже, а </a:t>
            </a:r>
            <a:r>
              <a:rPr lang="ru-RU" sz="2400" dirty="0" err="1">
                <a:solidFill>
                  <a:schemeClr val="tx1"/>
                </a:solidFill>
              </a:rPr>
              <a:t>Lufthansa</a:t>
            </a:r>
            <a:r>
              <a:rPr lang="ru-RU" sz="2400" dirty="0">
                <a:solidFill>
                  <a:schemeClr val="tx1"/>
                </a:solidFill>
              </a:rPr>
              <a:t> — 2 годами. С 1933 года создан </a:t>
            </a:r>
            <a:r>
              <a:rPr lang="ru-RU" sz="2400" dirty="0" err="1">
                <a:solidFill>
                  <a:schemeClr val="tx1"/>
                </a:solidFill>
              </a:rPr>
              <a:t>АirFrancе</a:t>
            </a:r>
            <a:r>
              <a:rPr lang="ru-RU" sz="2400" dirty="0">
                <a:solidFill>
                  <a:schemeClr val="tx1"/>
                </a:solidFill>
              </a:rPr>
              <a:t>, а </a:t>
            </a:r>
            <a:r>
              <a:rPr lang="ru-RU" sz="2400" dirty="0" err="1">
                <a:solidFill>
                  <a:schemeClr val="tx1"/>
                </a:solidFill>
              </a:rPr>
              <a:t>Аmerican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Аirlines</a:t>
            </a:r>
            <a:r>
              <a:rPr lang="ru-RU" sz="2400" dirty="0">
                <a:solidFill>
                  <a:schemeClr val="tx1"/>
                </a:solidFill>
              </a:rPr>
              <a:t> -  1934 году.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ACDDD5-24B0-4F9E-90F1-EBF56BAFFA22}"/>
              </a:ext>
            </a:extLst>
          </p:cNvPr>
          <p:cNvSpPr/>
          <p:nvPr/>
        </p:nvSpPr>
        <p:spPr>
          <a:xfrm>
            <a:off x="0" y="5227319"/>
            <a:ext cx="12192000" cy="16306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57C72E-B58F-49DB-BEC8-BF67585F9A12}"/>
              </a:ext>
            </a:extLst>
          </p:cNvPr>
          <p:cNvSpPr/>
          <p:nvPr/>
        </p:nvSpPr>
        <p:spPr>
          <a:xfrm>
            <a:off x="0" y="5181600"/>
            <a:ext cx="12081164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77452A-9D1E-4041-9C70-7344487A9A4A}"/>
              </a:ext>
            </a:extLst>
          </p:cNvPr>
          <p:cNvSpPr/>
          <p:nvPr/>
        </p:nvSpPr>
        <p:spPr>
          <a:xfrm>
            <a:off x="249382" y="5597236"/>
            <a:ext cx="4457008" cy="10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1"/>
                </a:solidFill>
                <a:latin typeface="Century Gothic" panose="020B0502020202020204" pitchFamily="34" charset="0"/>
                <a:cs typeface="Consolas" panose="020B0609020204030204" pitchFamily="49" charset="0"/>
              </a:rPr>
              <a:t>Воздушный транспорт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8A32037-11F4-41D6-AC53-2EA4AEBA451B}"/>
              </a:ext>
            </a:extLst>
          </p:cNvPr>
          <p:cNvGrpSpPr/>
          <p:nvPr/>
        </p:nvGrpSpPr>
        <p:grpSpPr>
          <a:xfrm>
            <a:off x="5202382" y="5902037"/>
            <a:ext cx="1455675" cy="476598"/>
            <a:chOff x="5527964" y="5902037"/>
            <a:chExt cx="1745672" cy="476598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B8DAB5A-9122-425C-AE41-EE91C21E41FC}"/>
                </a:ext>
              </a:extLst>
            </p:cNvPr>
            <p:cNvSpPr/>
            <p:nvPr/>
          </p:nvSpPr>
          <p:spPr>
            <a:xfrm>
              <a:off x="5527964" y="5902037"/>
              <a:ext cx="1745672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Начало</a:t>
              </a:r>
            </a:p>
          </p:txBody>
        </p:sp>
        <p:sp>
          <p:nvSpPr>
            <p:cNvPr id="14" name="Управляющая кнопка: &quot;На главную&quot;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739BE66-FEAD-497F-B004-1930A4BC70A8}"/>
                </a:ext>
              </a:extLst>
            </p:cNvPr>
            <p:cNvSpPr/>
            <p:nvPr/>
          </p:nvSpPr>
          <p:spPr>
            <a:xfrm>
              <a:off x="5527964" y="5902037"/>
              <a:ext cx="555441" cy="476598"/>
            </a:xfrm>
            <a:prstGeom prst="actionButtonHo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AB01BEF-DB18-49D2-82B3-83F7561673E9}"/>
              </a:ext>
            </a:extLst>
          </p:cNvPr>
          <p:cNvGrpSpPr/>
          <p:nvPr/>
        </p:nvGrpSpPr>
        <p:grpSpPr>
          <a:xfrm>
            <a:off x="6954982" y="5901342"/>
            <a:ext cx="2179090" cy="476598"/>
            <a:chOff x="6900842" y="5902037"/>
            <a:chExt cx="2440479" cy="476598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BFD326-416C-4EA6-8FD0-095BC176D856}"/>
                </a:ext>
              </a:extLst>
            </p:cNvPr>
            <p:cNvSpPr/>
            <p:nvPr/>
          </p:nvSpPr>
          <p:spPr>
            <a:xfrm>
              <a:off x="6900842" y="5902037"/>
              <a:ext cx="2440479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Авиакомпании</a:t>
              </a:r>
            </a:p>
          </p:txBody>
        </p:sp>
        <p:sp>
          <p:nvSpPr>
            <p:cNvPr id="22" name="Часть круга 21">
              <a:extLst>
                <a:ext uri="{FF2B5EF4-FFF2-40B4-BE49-F238E27FC236}">
                  <a16:creationId xmlns:a16="http://schemas.microsoft.com/office/drawing/2014/main" id="{D4454154-7F17-4AEE-881D-31949C09EFC6}"/>
                </a:ext>
              </a:extLst>
            </p:cNvPr>
            <p:cNvSpPr/>
            <p:nvPr/>
          </p:nvSpPr>
          <p:spPr>
            <a:xfrm>
              <a:off x="6920001" y="5968538"/>
              <a:ext cx="374642" cy="342205"/>
            </a:xfrm>
            <a:prstGeom prst="pi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7DD0663-6692-493B-B6A6-B8C03AF0568F}"/>
              </a:ext>
            </a:extLst>
          </p:cNvPr>
          <p:cNvGrpSpPr/>
          <p:nvPr/>
        </p:nvGrpSpPr>
        <p:grpSpPr>
          <a:xfrm>
            <a:off x="9422815" y="5865317"/>
            <a:ext cx="2309455" cy="547255"/>
            <a:chOff x="9422815" y="5865317"/>
            <a:chExt cx="2309455" cy="547255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1E1BDAC1-3CF6-4B85-AB51-29848B2182D5}"/>
                </a:ext>
              </a:extLst>
            </p:cNvPr>
            <p:cNvSpPr/>
            <p:nvPr/>
          </p:nvSpPr>
          <p:spPr>
            <a:xfrm>
              <a:off x="9452157" y="5901342"/>
              <a:ext cx="2280113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Современность</a:t>
              </a:r>
            </a:p>
          </p:txBody>
        </p:sp>
        <p:sp>
          <p:nvSpPr>
            <p:cNvPr id="24" name="Управляющая кнопка: &quot;Получить сведения&quot;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544F302-6C12-4FF9-930A-5D39FEB1F955}"/>
                </a:ext>
              </a:extLst>
            </p:cNvPr>
            <p:cNvSpPr/>
            <p:nvPr/>
          </p:nvSpPr>
          <p:spPr>
            <a:xfrm>
              <a:off x="9422815" y="5865317"/>
              <a:ext cx="457200" cy="547255"/>
            </a:xfrm>
            <a:prstGeom prst="actionButtonInformati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DE3D27-9EA5-4CA8-A477-3314512C8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82" y="300254"/>
            <a:ext cx="3912166" cy="264462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1F189CC-EFF3-4F39-922B-C3510400F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615" y="300255"/>
            <a:ext cx="3966935" cy="264462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8EC5300-6C19-470F-AE73-DBAEF000FB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833" y="300254"/>
            <a:ext cx="3638786" cy="264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92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D720BE-24D8-47EB-A4B3-9102A3D911AD}"/>
              </a:ext>
            </a:extLst>
          </p:cNvPr>
          <p:cNvSpPr/>
          <p:nvPr/>
        </p:nvSpPr>
        <p:spPr>
          <a:xfrm>
            <a:off x="110836" y="110835"/>
            <a:ext cx="11928763" cy="658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B82AA6-A4C3-4A37-9A32-90F458F6F483}"/>
              </a:ext>
            </a:extLst>
          </p:cNvPr>
          <p:cNvSpPr/>
          <p:nvPr/>
        </p:nvSpPr>
        <p:spPr>
          <a:xfrm flipH="1">
            <a:off x="6156678" y="826422"/>
            <a:ext cx="45719" cy="33112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79F2C0-5F57-4D39-B123-5908E08E567E}"/>
              </a:ext>
            </a:extLst>
          </p:cNvPr>
          <p:cNvSpPr/>
          <p:nvPr/>
        </p:nvSpPr>
        <p:spPr>
          <a:xfrm>
            <a:off x="6578951" y="826422"/>
            <a:ext cx="5301321" cy="3311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«</a:t>
            </a:r>
            <a:r>
              <a:rPr lang="ru-RU" sz="2400" dirty="0" err="1">
                <a:solidFill>
                  <a:schemeClr val="tx1"/>
                </a:solidFill>
              </a:rPr>
              <a:t>Добролёт</a:t>
            </a:r>
            <a:r>
              <a:rPr lang="ru-RU" sz="2400" dirty="0">
                <a:solidFill>
                  <a:schemeClr val="tx1"/>
                </a:solidFill>
              </a:rPr>
              <a:t>» позже сменил единый </a:t>
            </a:r>
            <a:r>
              <a:rPr lang="ru-RU" sz="2400" dirty="0" err="1">
                <a:solidFill>
                  <a:schemeClr val="tx1"/>
                </a:solidFill>
              </a:rPr>
              <a:t>государственый</a:t>
            </a:r>
            <a:r>
              <a:rPr lang="ru-RU" sz="2400" dirty="0">
                <a:solidFill>
                  <a:schemeClr val="tx1"/>
                </a:solidFill>
              </a:rPr>
              <a:t> Аэрофлот (сейчас ОАО «Аэрофлот — российские авиалинии»).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ACDDD5-24B0-4F9E-90F1-EBF56BAFFA22}"/>
              </a:ext>
            </a:extLst>
          </p:cNvPr>
          <p:cNvSpPr/>
          <p:nvPr/>
        </p:nvSpPr>
        <p:spPr>
          <a:xfrm>
            <a:off x="0" y="5227319"/>
            <a:ext cx="12192000" cy="16306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57C72E-B58F-49DB-BEC8-BF67585F9A12}"/>
              </a:ext>
            </a:extLst>
          </p:cNvPr>
          <p:cNvSpPr/>
          <p:nvPr/>
        </p:nvSpPr>
        <p:spPr>
          <a:xfrm>
            <a:off x="0" y="5181600"/>
            <a:ext cx="12081164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77452A-9D1E-4041-9C70-7344487A9A4A}"/>
              </a:ext>
            </a:extLst>
          </p:cNvPr>
          <p:cNvSpPr/>
          <p:nvPr/>
        </p:nvSpPr>
        <p:spPr>
          <a:xfrm>
            <a:off x="249382" y="5597236"/>
            <a:ext cx="4457008" cy="10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1"/>
                </a:solidFill>
                <a:latin typeface="Century Gothic" panose="020B0502020202020204" pitchFamily="34" charset="0"/>
                <a:cs typeface="Consolas" panose="020B0609020204030204" pitchFamily="49" charset="0"/>
              </a:rPr>
              <a:t>Воздушный транспорт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8A32037-11F4-41D6-AC53-2EA4AEBA451B}"/>
              </a:ext>
            </a:extLst>
          </p:cNvPr>
          <p:cNvGrpSpPr/>
          <p:nvPr/>
        </p:nvGrpSpPr>
        <p:grpSpPr>
          <a:xfrm>
            <a:off x="5202382" y="5902037"/>
            <a:ext cx="1455675" cy="476598"/>
            <a:chOff x="5527964" y="5902037"/>
            <a:chExt cx="1745672" cy="476598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B8DAB5A-9122-425C-AE41-EE91C21E41FC}"/>
                </a:ext>
              </a:extLst>
            </p:cNvPr>
            <p:cNvSpPr/>
            <p:nvPr/>
          </p:nvSpPr>
          <p:spPr>
            <a:xfrm>
              <a:off x="5527964" y="5902037"/>
              <a:ext cx="1745672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Начало</a:t>
              </a:r>
            </a:p>
          </p:txBody>
        </p:sp>
        <p:sp>
          <p:nvSpPr>
            <p:cNvPr id="14" name="Управляющая кнопка: &quot;На главную&quot;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739BE66-FEAD-497F-B004-1930A4BC70A8}"/>
                </a:ext>
              </a:extLst>
            </p:cNvPr>
            <p:cNvSpPr/>
            <p:nvPr/>
          </p:nvSpPr>
          <p:spPr>
            <a:xfrm>
              <a:off x="5527964" y="5902037"/>
              <a:ext cx="555441" cy="476598"/>
            </a:xfrm>
            <a:prstGeom prst="actionButtonHo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AB01BEF-DB18-49D2-82B3-83F7561673E9}"/>
              </a:ext>
            </a:extLst>
          </p:cNvPr>
          <p:cNvGrpSpPr/>
          <p:nvPr/>
        </p:nvGrpSpPr>
        <p:grpSpPr>
          <a:xfrm>
            <a:off x="6954982" y="5901342"/>
            <a:ext cx="2179090" cy="476598"/>
            <a:chOff x="6900842" y="5902037"/>
            <a:chExt cx="2440479" cy="476598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BFD326-416C-4EA6-8FD0-095BC176D856}"/>
                </a:ext>
              </a:extLst>
            </p:cNvPr>
            <p:cNvSpPr/>
            <p:nvPr/>
          </p:nvSpPr>
          <p:spPr>
            <a:xfrm>
              <a:off x="6900842" y="5902037"/>
              <a:ext cx="2440479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Авиакомпании</a:t>
              </a:r>
            </a:p>
          </p:txBody>
        </p:sp>
        <p:sp>
          <p:nvSpPr>
            <p:cNvPr id="22" name="Часть круга 21">
              <a:extLst>
                <a:ext uri="{FF2B5EF4-FFF2-40B4-BE49-F238E27FC236}">
                  <a16:creationId xmlns:a16="http://schemas.microsoft.com/office/drawing/2014/main" id="{D4454154-7F17-4AEE-881D-31949C09EFC6}"/>
                </a:ext>
              </a:extLst>
            </p:cNvPr>
            <p:cNvSpPr/>
            <p:nvPr/>
          </p:nvSpPr>
          <p:spPr>
            <a:xfrm>
              <a:off x="6920001" y="5968538"/>
              <a:ext cx="374642" cy="342205"/>
            </a:xfrm>
            <a:prstGeom prst="pi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7DD0663-6692-493B-B6A6-B8C03AF0568F}"/>
              </a:ext>
            </a:extLst>
          </p:cNvPr>
          <p:cNvGrpSpPr/>
          <p:nvPr/>
        </p:nvGrpSpPr>
        <p:grpSpPr>
          <a:xfrm>
            <a:off x="9422815" y="5865317"/>
            <a:ext cx="2309455" cy="547255"/>
            <a:chOff x="9422815" y="5865317"/>
            <a:chExt cx="2309455" cy="547255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1E1BDAC1-3CF6-4B85-AB51-29848B2182D5}"/>
                </a:ext>
              </a:extLst>
            </p:cNvPr>
            <p:cNvSpPr/>
            <p:nvPr/>
          </p:nvSpPr>
          <p:spPr>
            <a:xfrm>
              <a:off x="9452157" y="5901342"/>
              <a:ext cx="2280113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Современность</a:t>
              </a:r>
            </a:p>
          </p:txBody>
        </p:sp>
        <p:sp>
          <p:nvSpPr>
            <p:cNvPr id="24" name="Управляющая кнопка: &quot;Получить сведения&quot;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544F302-6C12-4FF9-930A-5D39FEB1F955}"/>
                </a:ext>
              </a:extLst>
            </p:cNvPr>
            <p:cNvSpPr/>
            <p:nvPr/>
          </p:nvSpPr>
          <p:spPr>
            <a:xfrm>
              <a:off x="9422815" y="5865317"/>
              <a:ext cx="457200" cy="547255"/>
            </a:xfrm>
            <a:prstGeom prst="actionButtonInformati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CCBF1E-13F7-4629-986F-EA3A5A46A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659241"/>
            <a:ext cx="5468397" cy="364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65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D720BE-24D8-47EB-A4B3-9102A3D911AD}"/>
              </a:ext>
            </a:extLst>
          </p:cNvPr>
          <p:cNvSpPr/>
          <p:nvPr/>
        </p:nvSpPr>
        <p:spPr>
          <a:xfrm>
            <a:off x="110836" y="110835"/>
            <a:ext cx="11928763" cy="658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B82AA6-A4C3-4A37-9A32-90F458F6F483}"/>
              </a:ext>
            </a:extLst>
          </p:cNvPr>
          <p:cNvSpPr/>
          <p:nvPr/>
        </p:nvSpPr>
        <p:spPr>
          <a:xfrm flipH="1">
            <a:off x="5670820" y="766721"/>
            <a:ext cx="45719" cy="33112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79F2C0-5F57-4D39-B123-5908E08E567E}"/>
              </a:ext>
            </a:extLst>
          </p:cNvPr>
          <p:cNvSpPr/>
          <p:nvPr/>
        </p:nvSpPr>
        <p:spPr>
          <a:xfrm>
            <a:off x="478421" y="766721"/>
            <a:ext cx="4891910" cy="3311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Среднее количество перевозимых ежегодно по воздуху пассажиров в 2003 г. достигло 1,6 млрд. человек (т.е. почти каждый </a:t>
            </a:r>
            <a:r>
              <a:rPr lang="ru-RU" sz="2400" dirty="0" err="1">
                <a:solidFill>
                  <a:schemeClr val="tx1"/>
                </a:solidFill>
              </a:rPr>
              <a:t>пятий</a:t>
            </a:r>
            <a:r>
              <a:rPr lang="ru-RU" sz="2400" dirty="0">
                <a:solidFill>
                  <a:schemeClr val="tx1"/>
                </a:solidFill>
              </a:rPr>
              <a:t> летает </a:t>
            </a:r>
            <a:r>
              <a:rPr lang="ru-RU" sz="2400" dirty="0" err="1">
                <a:solidFill>
                  <a:schemeClr val="tx1"/>
                </a:solidFill>
              </a:rPr>
              <a:t>хотябы</a:t>
            </a:r>
            <a:r>
              <a:rPr lang="ru-RU" sz="2400" dirty="0">
                <a:solidFill>
                  <a:schemeClr val="tx1"/>
                </a:solidFill>
              </a:rPr>
              <a:t> 1 раз в год)</a:t>
            </a:r>
          </a:p>
          <a:p>
            <a:r>
              <a:rPr lang="ru-RU" sz="2400" dirty="0">
                <a:solidFill>
                  <a:schemeClr val="tx1"/>
                </a:solidFill>
              </a:rPr>
              <a:t>- Темп роста перевозок грузов почти в 2,5 раза выше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ACDDD5-24B0-4F9E-90F1-EBF56BAFFA22}"/>
              </a:ext>
            </a:extLst>
          </p:cNvPr>
          <p:cNvSpPr/>
          <p:nvPr/>
        </p:nvSpPr>
        <p:spPr>
          <a:xfrm>
            <a:off x="0" y="5227319"/>
            <a:ext cx="12192000" cy="16306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57C72E-B58F-49DB-BEC8-BF67585F9A12}"/>
              </a:ext>
            </a:extLst>
          </p:cNvPr>
          <p:cNvSpPr/>
          <p:nvPr/>
        </p:nvSpPr>
        <p:spPr>
          <a:xfrm>
            <a:off x="0" y="5181600"/>
            <a:ext cx="12081164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77452A-9D1E-4041-9C70-7344487A9A4A}"/>
              </a:ext>
            </a:extLst>
          </p:cNvPr>
          <p:cNvSpPr/>
          <p:nvPr/>
        </p:nvSpPr>
        <p:spPr>
          <a:xfrm>
            <a:off x="249382" y="5597236"/>
            <a:ext cx="4457008" cy="10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1"/>
                </a:solidFill>
                <a:latin typeface="Century Gothic" panose="020B0502020202020204" pitchFamily="34" charset="0"/>
                <a:cs typeface="Consolas" panose="020B0609020204030204" pitchFamily="49" charset="0"/>
              </a:rPr>
              <a:t>Воздушный транспорт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8A32037-11F4-41D6-AC53-2EA4AEBA451B}"/>
              </a:ext>
            </a:extLst>
          </p:cNvPr>
          <p:cNvGrpSpPr/>
          <p:nvPr/>
        </p:nvGrpSpPr>
        <p:grpSpPr>
          <a:xfrm>
            <a:off x="5202382" y="5902037"/>
            <a:ext cx="1455675" cy="476598"/>
            <a:chOff x="5527964" y="5902037"/>
            <a:chExt cx="1745672" cy="476598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B8DAB5A-9122-425C-AE41-EE91C21E41FC}"/>
                </a:ext>
              </a:extLst>
            </p:cNvPr>
            <p:cNvSpPr/>
            <p:nvPr/>
          </p:nvSpPr>
          <p:spPr>
            <a:xfrm>
              <a:off x="5527964" y="5902037"/>
              <a:ext cx="1745672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Начало</a:t>
              </a:r>
            </a:p>
          </p:txBody>
        </p:sp>
        <p:sp>
          <p:nvSpPr>
            <p:cNvPr id="14" name="Управляющая кнопка: &quot;На главную&quot;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739BE66-FEAD-497F-B004-1930A4BC70A8}"/>
                </a:ext>
              </a:extLst>
            </p:cNvPr>
            <p:cNvSpPr/>
            <p:nvPr/>
          </p:nvSpPr>
          <p:spPr>
            <a:xfrm>
              <a:off x="5527964" y="5902037"/>
              <a:ext cx="555441" cy="476598"/>
            </a:xfrm>
            <a:prstGeom prst="actionButtonHo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AB01BEF-DB18-49D2-82B3-83F7561673E9}"/>
              </a:ext>
            </a:extLst>
          </p:cNvPr>
          <p:cNvGrpSpPr/>
          <p:nvPr/>
        </p:nvGrpSpPr>
        <p:grpSpPr>
          <a:xfrm>
            <a:off x="6954982" y="5901342"/>
            <a:ext cx="2179090" cy="476598"/>
            <a:chOff x="6900842" y="5902037"/>
            <a:chExt cx="2440479" cy="476598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BFD326-416C-4EA6-8FD0-095BC176D856}"/>
                </a:ext>
              </a:extLst>
            </p:cNvPr>
            <p:cNvSpPr/>
            <p:nvPr/>
          </p:nvSpPr>
          <p:spPr>
            <a:xfrm>
              <a:off x="6900842" y="5902037"/>
              <a:ext cx="2440479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Авиакомпании</a:t>
              </a:r>
            </a:p>
          </p:txBody>
        </p:sp>
        <p:sp>
          <p:nvSpPr>
            <p:cNvPr id="22" name="Часть круга 21">
              <a:extLst>
                <a:ext uri="{FF2B5EF4-FFF2-40B4-BE49-F238E27FC236}">
                  <a16:creationId xmlns:a16="http://schemas.microsoft.com/office/drawing/2014/main" id="{D4454154-7F17-4AEE-881D-31949C09EFC6}"/>
                </a:ext>
              </a:extLst>
            </p:cNvPr>
            <p:cNvSpPr/>
            <p:nvPr/>
          </p:nvSpPr>
          <p:spPr>
            <a:xfrm>
              <a:off x="6982069" y="5968538"/>
              <a:ext cx="374642" cy="342205"/>
            </a:xfrm>
            <a:prstGeom prst="pi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7DD0663-6692-493B-B6A6-B8C03AF0568F}"/>
              </a:ext>
            </a:extLst>
          </p:cNvPr>
          <p:cNvGrpSpPr/>
          <p:nvPr/>
        </p:nvGrpSpPr>
        <p:grpSpPr>
          <a:xfrm>
            <a:off x="9381250" y="5865317"/>
            <a:ext cx="2351020" cy="547255"/>
            <a:chOff x="9381250" y="5865317"/>
            <a:chExt cx="2351020" cy="547255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1E1BDAC1-3CF6-4B85-AB51-29848B2182D5}"/>
                </a:ext>
              </a:extLst>
            </p:cNvPr>
            <p:cNvSpPr/>
            <p:nvPr/>
          </p:nvSpPr>
          <p:spPr>
            <a:xfrm>
              <a:off x="9452157" y="5901342"/>
              <a:ext cx="2280113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Современность</a:t>
              </a:r>
            </a:p>
          </p:txBody>
        </p:sp>
        <p:sp>
          <p:nvSpPr>
            <p:cNvPr id="24" name="Управляющая кнопка: &quot;Получить сведения&quot;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544F302-6C12-4FF9-930A-5D39FEB1F955}"/>
                </a:ext>
              </a:extLst>
            </p:cNvPr>
            <p:cNvSpPr/>
            <p:nvPr/>
          </p:nvSpPr>
          <p:spPr>
            <a:xfrm>
              <a:off x="9381250" y="5865317"/>
              <a:ext cx="457200" cy="547255"/>
            </a:xfrm>
            <a:prstGeom prst="actionButtonInformati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2C1618C-1565-4AAF-B159-57D547E91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56955"/>
            <a:ext cx="5593422" cy="373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433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D720BE-24D8-47EB-A4B3-9102A3D911AD}"/>
              </a:ext>
            </a:extLst>
          </p:cNvPr>
          <p:cNvSpPr/>
          <p:nvPr/>
        </p:nvSpPr>
        <p:spPr>
          <a:xfrm>
            <a:off x="110836" y="110835"/>
            <a:ext cx="11928763" cy="658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B82AA6-A4C3-4A37-9A32-90F458F6F483}"/>
              </a:ext>
            </a:extLst>
          </p:cNvPr>
          <p:cNvSpPr/>
          <p:nvPr/>
        </p:nvSpPr>
        <p:spPr>
          <a:xfrm flipH="1">
            <a:off x="5234499" y="771442"/>
            <a:ext cx="45719" cy="33112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79F2C0-5F57-4D39-B123-5908E08E567E}"/>
              </a:ext>
            </a:extLst>
          </p:cNvPr>
          <p:cNvSpPr/>
          <p:nvPr/>
        </p:nvSpPr>
        <p:spPr>
          <a:xfrm>
            <a:off x="5388536" y="771442"/>
            <a:ext cx="6343736" cy="3311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После окончания 2 мировой войны произошёл качественный скачок: появились и затем были широко внедрены принципиально новые, газотурбинные двигатели, вытеснившие устаревшие поршневые моторы с воздушными винтами.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ACDDD5-24B0-4F9E-90F1-EBF56BAFFA22}"/>
              </a:ext>
            </a:extLst>
          </p:cNvPr>
          <p:cNvSpPr/>
          <p:nvPr/>
        </p:nvSpPr>
        <p:spPr>
          <a:xfrm>
            <a:off x="0" y="5227319"/>
            <a:ext cx="12192000" cy="16306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57C72E-B58F-49DB-BEC8-BF67585F9A12}"/>
              </a:ext>
            </a:extLst>
          </p:cNvPr>
          <p:cNvSpPr/>
          <p:nvPr/>
        </p:nvSpPr>
        <p:spPr>
          <a:xfrm>
            <a:off x="0" y="5181600"/>
            <a:ext cx="12081164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77452A-9D1E-4041-9C70-7344487A9A4A}"/>
              </a:ext>
            </a:extLst>
          </p:cNvPr>
          <p:cNvSpPr/>
          <p:nvPr/>
        </p:nvSpPr>
        <p:spPr>
          <a:xfrm>
            <a:off x="249382" y="5597236"/>
            <a:ext cx="4457008" cy="10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1"/>
                </a:solidFill>
                <a:latin typeface="Century Gothic" panose="020B0502020202020204" pitchFamily="34" charset="0"/>
                <a:cs typeface="Consolas" panose="020B0609020204030204" pitchFamily="49" charset="0"/>
              </a:rPr>
              <a:t>Воздушный транспорт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8A32037-11F4-41D6-AC53-2EA4AEBA451B}"/>
              </a:ext>
            </a:extLst>
          </p:cNvPr>
          <p:cNvGrpSpPr/>
          <p:nvPr/>
        </p:nvGrpSpPr>
        <p:grpSpPr>
          <a:xfrm>
            <a:off x="5202382" y="5902037"/>
            <a:ext cx="1455675" cy="476598"/>
            <a:chOff x="5527964" y="5902037"/>
            <a:chExt cx="1745672" cy="476598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B8DAB5A-9122-425C-AE41-EE91C21E41FC}"/>
                </a:ext>
              </a:extLst>
            </p:cNvPr>
            <p:cNvSpPr/>
            <p:nvPr/>
          </p:nvSpPr>
          <p:spPr>
            <a:xfrm>
              <a:off x="5527964" y="5902037"/>
              <a:ext cx="1745672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Начало</a:t>
              </a:r>
            </a:p>
          </p:txBody>
        </p:sp>
        <p:sp>
          <p:nvSpPr>
            <p:cNvPr id="14" name="Управляющая кнопка: &quot;На главную&quot;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739BE66-FEAD-497F-B004-1930A4BC70A8}"/>
                </a:ext>
              </a:extLst>
            </p:cNvPr>
            <p:cNvSpPr/>
            <p:nvPr/>
          </p:nvSpPr>
          <p:spPr>
            <a:xfrm>
              <a:off x="5527964" y="5902037"/>
              <a:ext cx="555441" cy="476598"/>
            </a:xfrm>
            <a:prstGeom prst="actionButtonHo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AB01BEF-DB18-49D2-82B3-83F7561673E9}"/>
              </a:ext>
            </a:extLst>
          </p:cNvPr>
          <p:cNvGrpSpPr/>
          <p:nvPr/>
        </p:nvGrpSpPr>
        <p:grpSpPr>
          <a:xfrm>
            <a:off x="6954982" y="5901342"/>
            <a:ext cx="2179090" cy="476598"/>
            <a:chOff x="6900842" y="5902037"/>
            <a:chExt cx="2440479" cy="476598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BFD326-416C-4EA6-8FD0-095BC176D856}"/>
                </a:ext>
              </a:extLst>
            </p:cNvPr>
            <p:cNvSpPr/>
            <p:nvPr/>
          </p:nvSpPr>
          <p:spPr>
            <a:xfrm>
              <a:off x="6900842" y="5902037"/>
              <a:ext cx="2440479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Авиакомпании</a:t>
              </a:r>
            </a:p>
          </p:txBody>
        </p:sp>
        <p:sp>
          <p:nvSpPr>
            <p:cNvPr id="22" name="Часть круга 21">
              <a:extLst>
                <a:ext uri="{FF2B5EF4-FFF2-40B4-BE49-F238E27FC236}">
                  <a16:creationId xmlns:a16="http://schemas.microsoft.com/office/drawing/2014/main" id="{D4454154-7F17-4AEE-881D-31949C09EFC6}"/>
                </a:ext>
              </a:extLst>
            </p:cNvPr>
            <p:cNvSpPr/>
            <p:nvPr/>
          </p:nvSpPr>
          <p:spPr>
            <a:xfrm>
              <a:off x="6982069" y="5968538"/>
              <a:ext cx="374642" cy="342205"/>
            </a:xfrm>
            <a:prstGeom prst="pi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7DD0663-6692-493B-B6A6-B8C03AF0568F}"/>
              </a:ext>
            </a:extLst>
          </p:cNvPr>
          <p:cNvGrpSpPr/>
          <p:nvPr/>
        </p:nvGrpSpPr>
        <p:grpSpPr>
          <a:xfrm>
            <a:off x="9381250" y="5865317"/>
            <a:ext cx="2351020" cy="547255"/>
            <a:chOff x="9381250" y="5865317"/>
            <a:chExt cx="2351020" cy="547255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1E1BDAC1-3CF6-4B85-AB51-29848B2182D5}"/>
                </a:ext>
              </a:extLst>
            </p:cNvPr>
            <p:cNvSpPr/>
            <p:nvPr/>
          </p:nvSpPr>
          <p:spPr>
            <a:xfrm>
              <a:off x="9452157" y="5901342"/>
              <a:ext cx="2280113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Современность</a:t>
              </a:r>
            </a:p>
          </p:txBody>
        </p:sp>
        <p:sp>
          <p:nvSpPr>
            <p:cNvPr id="24" name="Управляющая кнопка: &quot;Получить сведения&quot;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544F302-6C12-4FF9-930A-5D39FEB1F955}"/>
                </a:ext>
              </a:extLst>
            </p:cNvPr>
            <p:cNvSpPr/>
            <p:nvPr/>
          </p:nvSpPr>
          <p:spPr>
            <a:xfrm>
              <a:off x="9381250" y="5865317"/>
              <a:ext cx="457200" cy="547255"/>
            </a:xfrm>
            <a:prstGeom prst="actionButtonInformati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4A349E-39FF-4FEA-AC29-6D16202FD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82" y="891421"/>
            <a:ext cx="4876800" cy="323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26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D720BE-24D8-47EB-A4B3-9102A3D911AD}"/>
              </a:ext>
            </a:extLst>
          </p:cNvPr>
          <p:cNvSpPr/>
          <p:nvPr/>
        </p:nvSpPr>
        <p:spPr>
          <a:xfrm>
            <a:off x="110836" y="110835"/>
            <a:ext cx="11928763" cy="658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B82AA6-A4C3-4A37-9A32-90F458F6F483}"/>
              </a:ext>
            </a:extLst>
          </p:cNvPr>
          <p:cNvSpPr/>
          <p:nvPr/>
        </p:nvSpPr>
        <p:spPr>
          <a:xfrm flipH="1">
            <a:off x="5802538" y="771442"/>
            <a:ext cx="45719" cy="33112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ACDDD5-24B0-4F9E-90F1-EBF56BAFFA22}"/>
              </a:ext>
            </a:extLst>
          </p:cNvPr>
          <p:cNvSpPr/>
          <p:nvPr/>
        </p:nvSpPr>
        <p:spPr>
          <a:xfrm>
            <a:off x="0" y="5227319"/>
            <a:ext cx="12192000" cy="16306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57C72E-B58F-49DB-BEC8-BF67585F9A12}"/>
              </a:ext>
            </a:extLst>
          </p:cNvPr>
          <p:cNvSpPr/>
          <p:nvPr/>
        </p:nvSpPr>
        <p:spPr>
          <a:xfrm>
            <a:off x="0" y="5181600"/>
            <a:ext cx="12081164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77452A-9D1E-4041-9C70-7344487A9A4A}"/>
              </a:ext>
            </a:extLst>
          </p:cNvPr>
          <p:cNvSpPr/>
          <p:nvPr/>
        </p:nvSpPr>
        <p:spPr>
          <a:xfrm>
            <a:off x="249382" y="5597236"/>
            <a:ext cx="4457008" cy="10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1"/>
                </a:solidFill>
                <a:latin typeface="Century Gothic" panose="020B0502020202020204" pitchFamily="34" charset="0"/>
                <a:cs typeface="Consolas" panose="020B0609020204030204" pitchFamily="49" charset="0"/>
              </a:rPr>
              <a:t>Воздушный транспорт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8A32037-11F4-41D6-AC53-2EA4AEBA451B}"/>
              </a:ext>
            </a:extLst>
          </p:cNvPr>
          <p:cNvGrpSpPr/>
          <p:nvPr/>
        </p:nvGrpSpPr>
        <p:grpSpPr>
          <a:xfrm>
            <a:off x="5202382" y="5902037"/>
            <a:ext cx="1455675" cy="476598"/>
            <a:chOff x="5527964" y="5902037"/>
            <a:chExt cx="1745672" cy="476598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B8DAB5A-9122-425C-AE41-EE91C21E41FC}"/>
                </a:ext>
              </a:extLst>
            </p:cNvPr>
            <p:cNvSpPr/>
            <p:nvPr/>
          </p:nvSpPr>
          <p:spPr>
            <a:xfrm>
              <a:off x="5527964" y="5902037"/>
              <a:ext cx="1745672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Начало</a:t>
              </a:r>
            </a:p>
          </p:txBody>
        </p:sp>
        <p:sp>
          <p:nvSpPr>
            <p:cNvPr id="14" name="Управляющая кнопка: &quot;На главную&quot;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739BE66-FEAD-497F-B004-1930A4BC70A8}"/>
                </a:ext>
              </a:extLst>
            </p:cNvPr>
            <p:cNvSpPr/>
            <p:nvPr/>
          </p:nvSpPr>
          <p:spPr>
            <a:xfrm>
              <a:off x="5527964" y="5902037"/>
              <a:ext cx="555441" cy="476598"/>
            </a:xfrm>
            <a:prstGeom prst="actionButtonHo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AB01BEF-DB18-49D2-82B3-83F7561673E9}"/>
              </a:ext>
            </a:extLst>
          </p:cNvPr>
          <p:cNvGrpSpPr/>
          <p:nvPr/>
        </p:nvGrpSpPr>
        <p:grpSpPr>
          <a:xfrm>
            <a:off x="6954982" y="5901342"/>
            <a:ext cx="2179090" cy="476598"/>
            <a:chOff x="6900842" y="5902037"/>
            <a:chExt cx="2440479" cy="476598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BFD326-416C-4EA6-8FD0-095BC176D856}"/>
                </a:ext>
              </a:extLst>
            </p:cNvPr>
            <p:cNvSpPr/>
            <p:nvPr/>
          </p:nvSpPr>
          <p:spPr>
            <a:xfrm>
              <a:off x="6900842" y="5902037"/>
              <a:ext cx="2440479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Авиакомпании</a:t>
              </a:r>
            </a:p>
          </p:txBody>
        </p:sp>
        <p:sp>
          <p:nvSpPr>
            <p:cNvPr id="22" name="Часть круга 21">
              <a:extLst>
                <a:ext uri="{FF2B5EF4-FFF2-40B4-BE49-F238E27FC236}">
                  <a16:creationId xmlns:a16="http://schemas.microsoft.com/office/drawing/2014/main" id="{D4454154-7F17-4AEE-881D-31949C09EFC6}"/>
                </a:ext>
              </a:extLst>
            </p:cNvPr>
            <p:cNvSpPr/>
            <p:nvPr/>
          </p:nvSpPr>
          <p:spPr>
            <a:xfrm>
              <a:off x="6982069" y="5968538"/>
              <a:ext cx="374642" cy="342205"/>
            </a:xfrm>
            <a:prstGeom prst="pi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7DD0663-6692-493B-B6A6-B8C03AF0568F}"/>
              </a:ext>
            </a:extLst>
          </p:cNvPr>
          <p:cNvGrpSpPr/>
          <p:nvPr/>
        </p:nvGrpSpPr>
        <p:grpSpPr>
          <a:xfrm>
            <a:off x="9381250" y="5865317"/>
            <a:ext cx="2351020" cy="547255"/>
            <a:chOff x="9381250" y="5865317"/>
            <a:chExt cx="2351020" cy="547255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1E1BDAC1-3CF6-4B85-AB51-29848B2182D5}"/>
                </a:ext>
              </a:extLst>
            </p:cNvPr>
            <p:cNvSpPr/>
            <p:nvPr/>
          </p:nvSpPr>
          <p:spPr>
            <a:xfrm>
              <a:off x="9452157" y="5901342"/>
              <a:ext cx="2280113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Современность</a:t>
              </a:r>
            </a:p>
          </p:txBody>
        </p:sp>
        <p:sp>
          <p:nvSpPr>
            <p:cNvPr id="24" name="Управляющая кнопка: &quot;Получить сведения&quot;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544F302-6C12-4FF9-930A-5D39FEB1F955}"/>
                </a:ext>
              </a:extLst>
            </p:cNvPr>
            <p:cNvSpPr/>
            <p:nvPr/>
          </p:nvSpPr>
          <p:spPr>
            <a:xfrm>
              <a:off x="9381250" y="5865317"/>
              <a:ext cx="457200" cy="547255"/>
            </a:xfrm>
            <a:prstGeom prst="actionButtonInformati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4ECB1B-E8C9-4D03-89E6-BA55595F5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938" y="547952"/>
            <a:ext cx="5803292" cy="3817800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4361F01-D7D8-4C3C-849E-CCD795C5DDD5}"/>
              </a:ext>
            </a:extLst>
          </p:cNvPr>
          <p:cNvSpPr/>
          <p:nvPr/>
        </p:nvSpPr>
        <p:spPr>
          <a:xfrm>
            <a:off x="249381" y="547952"/>
            <a:ext cx="5416169" cy="377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Преимущества</a:t>
            </a:r>
            <a:r>
              <a:rPr lang="ru-RU" sz="2400" dirty="0">
                <a:solidFill>
                  <a:schemeClr val="tx1"/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Высокая скорость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Возможность доставки грузов в изолированные районы (верт.)</a:t>
            </a:r>
          </a:p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Недостатки</a:t>
            </a:r>
            <a:r>
              <a:rPr lang="ru-RU" sz="2400" dirty="0">
                <a:solidFill>
                  <a:schemeClr val="tx1"/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Высокая стоимость перевозок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Требует аэропорты (самолёты)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Малая грузоподъёмность (верт.)</a:t>
            </a:r>
          </a:p>
        </p:txBody>
      </p:sp>
    </p:spTree>
    <p:extLst>
      <p:ext uri="{BB962C8B-B14F-4D97-AF65-F5344CB8AC3E}">
        <p14:creationId xmlns:p14="http://schemas.microsoft.com/office/powerpoint/2010/main" val="787204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D720BE-24D8-47EB-A4B3-9102A3D911AD}"/>
              </a:ext>
            </a:extLst>
          </p:cNvPr>
          <p:cNvSpPr/>
          <p:nvPr/>
        </p:nvSpPr>
        <p:spPr>
          <a:xfrm>
            <a:off x="110836" y="110835"/>
            <a:ext cx="11928763" cy="658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B82AA6-A4C3-4A37-9A32-90F458F6F483}"/>
              </a:ext>
            </a:extLst>
          </p:cNvPr>
          <p:cNvSpPr/>
          <p:nvPr/>
        </p:nvSpPr>
        <p:spPr>
          <a:xfrm rot="5400000" flipH="1">
            <a:off x="5921138" y="771440"/>
            <a:ext cx="45719" cy="33112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ACDDD5-24B0-4F9E-90F1-EBF56BAFFA22}"/>
              </a:ext>
            </a:extLst>
          </p:cNvPr>
          <p:cNvSpPr/>
          <p:nvPr/>
        </p:nvSpPr>
        <p:spPr>
          <a:xfrm>
            <a:off x="0" y="5227319"/>
            <a:ext cx="12192000" cy="16306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57C72E-B58F-49DB-BEC8-BF67585F9A12}"/>
              </a:ext>
            </a:extLst>
          </p:cNvPr>
          <p:cNvSpPr/>
          <p:nvPr/>
        </p:nvSpPr>
        <p:spPr>
          <a:xfrm>
            <a:off x="0" y="5181600"/>
            <a:ext cx="12081164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77452A-9D1E-4041-9C70-7344487A9A4A}"/>
              </a:ext>
            </a:extLst>
          </p:cNvPr>
          <p:cNvSpPr/>
          <p:nvPr/>
        </p:nvSpPr>
        <p:spPr>
          <a:xfrm rot="9896103">
            <a:off x="-1053673" y="-1665407"/>
            <a:ext cx="4457008" cy="10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1"/>
                </a:solidFill>
                <a:latin typeface="Century Gothic" panose="020B0502020202020204" pitchFamily="34" charset="0"/>
                <a:cs typeface="Consolas" panose="020B0609020204030204" pitchFamily="49" charset="0"/>
              </a:rPr>
              <a:t>Воздушный транспорт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8A32037-11F4-41D6-AC53-2EA4AEBA451B}"/>
              </a:ext>
            </a:extLst>
          </p:cNvPr>
          <p:cNvGrpSpPr/>
          <p:nvPr/>
        </p:nvGrpSpPr>
        <p:grpSpPr>
          <a:xfrm rot="16925374">
            <a:off x="12793224" y="1225797"/>
            <a:ext cx="1455675" cy="476598"/>
            <a:chOff x="5527964" y="5902037"/>
            <a:chExt cx="1745672" cy="476598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B8DAB5A-9122-425C-AE41-EE91C21E41FC}"/>
                </a:ext>
              </a:extLst>
            </p:cNvPr>
            <p:cNvSpPr/>
            <p:nvPr/>
          </p:nvSpPr>
          <p:spPr>
            <a:xfrm>
              <a:off x="5527964" y="5902037"/>
              <a:ext cx="1745672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Начало</a:t>
              </a:r>
            </a:p>
          </p:txBody>
        </p:sp>
        <p:sp>
          <p:nvSpPr>
            <p:cNvPr id="14" name="Управляющая кнопка: &quot;На главную&quot;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739BE66-FEAD-497F-B004-1930A4BC70A8}"/>
                </a:ext>
              </a:extLst>
            </p:cNvPr>
            <p:cNvSpPr/>
            <p:nvPr/>
          </p:nvSpPr>
          <p:spPr>
            <a:xfrm>
              <a:off x="5527964" y="5902037"/>
              <a:ext cx="555441" cy="476598"/>
            </a:xfrm>
            <a:prstGeom prst="actionButtonHo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AB01BEF-DB18-49D2-82B3-83F7561673E9}"/>
              </a:ext>
            </a:extLst>
          </p:cNvPr>
          <p:cNvGrpSpPr/>
          <p:nvPr/>
        </p:nvGrpSpPr>
        <p:grpSpPr>
          <a:xfrm rot="12304878">
            <a:off x="-2577170" y="6055723"/>
            <a:ext cx="2179090" cy="476598"/>
            <a:chOff x="6900842" y="5902037"/>
            <a:chExt cx="2440479" cy="476598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BFD326-416C-4EA6-8FD0-095BC176D856}"/>
                </a:ext>
              </a:extLst>
            </p:cNvPr>
            <p:cNvSpPr/>
            <p:nvPr/>
          </p:nvSpPr>
          <p:spPr>
            <a:xfrm>
              <a:off x="6900842" y="5902037"/>
              <a:ext cx="2440479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Авиакомпании</a:t>
              </a:r>
            </a:p>
          </p:txBody>
        </p:sp>
        <p:sp>
          <p:nvSpPr>
            <p:cNvPr id="22" name="Часть круга 21">
              <a:extLst>
                <a:ext uri="{FF2B5EF4-FFF2-40B4-BE49-F238E27FC236}">
                  <a16:creationId xmlns:a16="http://schemas.microsoft.com/office/drawing/2014/main" id="{D4454154-7F17-4AEE-881D-31949C09EFC6}"/>
                </a:ext>
              </a:extLst>
            </p:cNvPr>
            <p:cNvSpPr/>
            <p:nvPr/>
          </p:nvSpPr>
          <p:spPr>
            <a:xfrm>
              <a:off x="6982069" y="5968538"/>
              <a:ext cx="374642" cy="342205"/>
            </a:xfrm>
            <a:prstGeom prst="pi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7DD0663-6692-493B-B6A6-B8C03AF0568F}"/>
              </a:ext>
            </a:extLst>
          </p:cNvPr>
          <p:cNvGrpSpPr/>
          <p:nvPr/>
        </p:nvGrpSpPr>
        <p:grpSpPr>
          <a:xfrm rot="13424752">
            <a:off x="14484192" y="4953691"/>
            <a:ext cx="2351020" cy="547255"/>
            <a:chOff x="9381250" y="5865317"/>
            <a:chExt cx="2351020" cy="547255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1E1BDAC1-3CF6-4B85-AB51-29848B2182D5}"/>
                </a:ext>
              </a:extLst>
            </p:cNvPr>
            <p:cNvSpPr/>
            <p:nvPr/>
          </p:nvSpPr>
          <p:spPr>
            <a:xfrm>
              <a:off x="9452157" y="5901342"/>
              <a:ext cx="2280113" cy="476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u="sng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Современность</a:t>
              </a:r>
            </a:p>
          </p:txBody>
        </p:sp>
        <p:sp>
          <p:nvSpPr>
            <p:cNvPr id="24" name="Управляющая кнопка: &quot;Получить сведения&quot;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544F302-6C12-4FF9-930A-5D39FEB1F955}"/>
                </a:ext>
              </a:extLst>
            </p:cNvPr>
            <p:cNvSpPr/>
            <p:nvPr/>
          </p:nvSpPr>
          <p:spPr>
            <a:xfrm>
              <a:off x="9381250" y="5865317"/>
              <a:ext cx="457200" cy="547255"/>
            </a:xfrm>
            <a:prstGeom prst="actionButtonInformati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4ECB1B-E8C9-4D03-89E6-BA55595F5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999" y="-4076882"/>
            <a:ext cx="5803292" cy="3817800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4361F01-D7D8-4C3C-849E-CCD795C5DDD5}"/>
              </a:ext>
            </a:extLst>
          </p:cNvPr>
          <p:cNvSpPr/>
          <p:nvPr/>
        </p:nvSpPr>
        <p:spPr>
          <a:xfrm>
            <a:off x="-5563799" y="541020"/>
            <a:ext cx="5416169" cy="377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Преимущества</a:t>
            </a:r>
            <a:r>
              <a:rPr lang="ru-RU" sz="2400" dirty="0">
                <a:solidFill>
                  <a:schemeClr val="tx1"/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Высокая скорость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Возможность доставки грузов в изолированные районы (верт.)</a:t>
            </a:r>
          </a:p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Недостатки</a:t>
            </a:r>
            <a:r>
              <a:rPr lang="ru-RU" sz="2400" dirty="0">
                <a:solidFill>
                  <a:schemeClr val="tx1"/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Высокая стоимость перевозок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Требует аэропорты (самолёты)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Малая грузоподъёмность (верт.)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6386A1A-A1B2-492C-BEB2-3D9CE6B2D630}"/>
              </a:ext>
            </a:extLst>
          </p:cNvPr>
          <p:cNvSpPr/>
          <p:nvPr/>
        </p:nvSpPr>
        <p:spPr>
          <a:xfrm>
            <a:off x="3984570" y="1464096"/>
            <a:ext cx="3918857" cy="76160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52320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406</Words>
  <Application>Microsoft Office PowerPoint</Application>
  <PresentationFormat>Широкоэкранный</PresentationFormat>
  <Paragraphs>65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Тема Office</vt:lpstr>
      <vt:lpstr>ИСТОРИЯ РАЗВИТИЯ МИРОВОГО ВОЗДУШНОГО ТРАНСПОРТА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РАЗВИТИЯ МИРОВОГО ВОЗДУШНОГО ТРАНСПОРТА</dc:title>
  <dc:creator>vionar</dc:creator>
  <cp:lastModifiedBy>vionar</cp:lastModifiedBy>
  <cp:revision>8</cp:revision>
  <dcterms:created xsi:type="dcterms:W3CDTF">2021-12-20T22:49:29Z</dcterms:created>
  <dcterms:modified xsi:type="dcterms:W3CDTF">2021-12-21T00:00:43Z</dcterms:modified>
</cp:coreProperties>
</file>