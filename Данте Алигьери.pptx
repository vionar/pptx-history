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4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24281-59B5-414D-88AE-588C3489C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CFB899-8FFF-459C-B59F-9FC5E3F5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74EDA8-D91A-48C7-A43F-FE0670C34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7F34-CFB1-476B-941D-73C08975B321}" type="datetimeFigureOut">
              <a:rPr lang="ru-RU" smtClean="0"/>
              <a:t>20.12.2021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7D8FD9-4E0E-4D6D-BEB1-87AB34E7F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2CECD3-C3B9-4C17-928C-33CBFDB9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AF8C-F2B9-47C4-A2BC-5A42F951AE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73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1CE56-793E-43D6-968D-DA54C0293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386EE2-02F1-40EB-B877-2F08AAA6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7B4EB7-4C86-47B7-9C1E-0160C7185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7F34-CFB1-476B-941D-73C08975B321}" type="datetimeFigureOut">
              <a:rPr lang="ru-RU" smtClean="0"/>
              <a:t>20.12.2021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7AB37E-A26A-4EF6-A97E-287B3100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CF3F5C-6F92-4319-82F2-510CA3C2C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AF8C-F2B9-47C4-A2BC-5A42F951AE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141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3B1092-0A12-4169-B974-A594B97DD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E58D7B-565B-4D93-9AB9-5ADF49D81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21E40A-97B1-4185-985A-BD23C8449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7F34-CFB1-476B-941D-73C08975B321}" type="datetimeFigureOut">
              <a:rPr lang="ru-RU" smtClean="0"/>
              <a:t>20.12.2021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AA508-0030-4301-B68E-9EC74145F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E16021-E787-40D8-97B5-8EB574DD6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AF8C-F2B9-47C4-A2BC-5A42F951AE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286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949C5C-ED7B-482F-9A76-2A071B0B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B32EA7-4BBC-42A1-A33D-7B8A37FB5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51EE65-DEFC-4D2F-882C-8FA2647A8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BFB46C-2D4B-427F-BD52-14148B398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7F34-CFB1-476B-941D-73C08975B321}" type="datetimeFigureOut">
              <a:rPr lang="ru-RU" smtClean="0"/>
              <a:t>20.12.2021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FCFC5C-9AA4-46BB-948C-4D3E6D46E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7FB6F-E575-4288-BC76-F12AE4CBC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AF8C-F2B9-47C4-A2BC-5A42F951AE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321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85D32-2EFF-477D-84DA-99E503EAF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4D3BEA-4CE8-4423-8AA1-B9E9E0A50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ED1997-7FC8-46E6-B782-A3F210E6A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5042507-6F4C-40A6-B54F-681644B67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7D62A91-050A-4D79-9140-9F82F7E299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4645B90-87B2-4466-A690-0CACB5F3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7F34-CFB1-476B-941D-73C08975B321}" type="datetimeFigureOut">
              <a:rPr lang="ru-RU" smtClean="0"/>
              <a:t>20.12.2021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5A7AD10-FCD7-44B8-8DF0-014C9B35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761E031-5184-4DAD-B508-C2CC2BDB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AF8C-F2B9-47C4-A2BC-5A42F951AE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67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4742B-ED99-486F-B846-C61A4E0D7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8BBE67B-EBD8-440F-B3AC-D2FA201B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7F34-CFB1-476B-941D-73C08975B321}" type="datetimeFigureOut">
              <a:rPr lang="ru-RU" smtClean="0"/>
              <a:t>20.12.2021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3749AE7-E636-43E2-AE43-CB930559D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7092CF-115A-40E7-82BA-318DC2D2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AF8C-F2B9-47C4-A2BC-5A42F951AE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501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3A17152-CA7E-4A90-9703-78804D73E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7F34-CFB1-476B-941D-73C08975B321}" type="datetimeFigureOut">
              <a:rPr lang="ru-RU" smtClean="0"/>
              <a:t>20.12.2021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1726978-FBA9-46C0-BDB2-D678C3B0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DDD8E8-15A4-4380-91D4-8E3914F3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AF8C-F2B9-47C4-A2BC-5A42F951AE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261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04A0A2-D1D4-42C9-9DA1-13A93C71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21ED20-7C49-4D8C-9905-42A87D6A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4E4903-7BDF-4345-BCA1-62C5197DF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72BFA0-7414-4DCD-97BF-0EA3A13B6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7F34-CFB1-476B-941D-73C08975B321}" type="datetimeFigureOut">
              <a:rPr lang="ru-RU" smtClean="0"/>
              <a:t>20.12.2021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D89593-D492-4BA4-993E-0841652F2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20DCEB-BB07-464D-8948-DA9BB64E9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AF8C-F2B9-47C4-A2BC-5A42F951AE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00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E66CE-4318-4AA1-926D-DB07883C2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B2AF5C6-C4CB-4947-85C5-23CB1BECE0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C396BF-C33E-4E10-9072-1A63565DF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B61E0A-A207-4BBB-AD54-474333E4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7F34-CFB1-476B-941D-73C08975B321}" type="datetimeFigureOut">
              <a:rPr lang="ru-RU" smtClean="0"/>
              <a:t>20.12.2021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E7ACD0-3694-4CD2-9FEC-67C588CE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14E2F3-0A52-449F-BDBE-90740F3B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AF8C-F2B9-47C4-A2BC-5A42F951AE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196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4544F-F96E-4627-AEAA-16D36182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681622-5093-4F94-81A3-2294F34D5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4E1380-7014-40CA-9CD5-0BB5BA007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7F34-CFB1-476B-941D-73C08975B321}" type="datetimeFigureOut">
              <a:rPr lang="ru-RU" smtClean="0"/>
              <a:t>20.12.2021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75F02C-D6DC-47AA-862C-AAC5A0C7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4789FE-E992-4673-B2E0-FC4302F0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AF8C-F2B9-47C4-A2BC-5A42F951AE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659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EDF7F9C-7182-4BF5-BE88-5FBEAF5E0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056F30-F4AE-4309-BAB6-1796EA926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5ABBC0-5D00-4CAB-9268-13274F94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7F34-CFB1-476B-941D-73C08975B321}" type="datetimeFigureOut">
              <a:rPr lang="ru-RU" smtClean="0"/>
              <a:t>20.12.2021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5FEF19-7DB0-45EA-93A8-CDB0D2D13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440FDC-F0EC-45FE-A296-B229C020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AF8C-F2B9-47C4-A2BC-5A42F951AE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235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48292A-7981-4ECE-9DA1-ECF92B30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9DBBE-0F72-40C8-9F52-FE66334D0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225828-B5DA-4DDD-A810-F2F09D6900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37F34-CFB1-476B-941D-73C08975B321}" type="datetimeFigureOut">
              <a:rPr lang="ru-RU" smtClean="0"/>
              <a:t>20.12.2021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78C96F-9931-4DC8-899A-700C88AC0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718EB6-7DA7-47E7-BB3D-4F98C75AB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DAF8C-F2B9-47C4-A2BC-5A42F951AE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3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58B8D2-13EA-4057-BD68-0278CE0E7DAF}"/>
              </a:ext>
            </a:extLst>
          </p:cNvPr>
          <p:cNvSpPr/>
          <p:nvPr/>
        </p:nvSpPr>
        <p:spPr>
          <a:xfrm>
            <a:off x="218209" y="131618"/>
            <a:ext cx="11755582" cy="6594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CFAAA-B1B2-48A1-BB47-C39891927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8982"/>
            <a:ext cx="9144000" cy="974580"/>
          </a:xfrm>
        </p:spPr>
        <p:txBody>
          <a:bodyPr>
            <a:normAutofit/>
          </a:bodyPr>
          <a:lstStyle/>
          <a:p>
            <a:r>
              <a:rPr lang="ru-RU" b="1" dirty="0">
                <a:latin typeface="Book Antiqua" panose="02040602050305030304" pitchFamily="18" charset="0"/>
              </a:rPr>
              <a:t>Данте Алигьери</a:t>
            </a:r>
            <a:endParaRPr lang="ru-RU" dirty="0">
              <a:latin typeface="Book Antiqua" panose="02040602050305030304" pitchFamily="18" charset="0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A2661C79-BF47-45A5-9B03-8C81CB24FCC5}"/>
              </a:ext>
            </a:extLst>
          </p:cNvPr>
          <p:cNvGrpSpPr/>
          <p:nvPr/>
        </p:nvGrpSpPr>
        <p:grpSpPr>
          <a:xfrm>
            <a:off x="1925783" y="2280477"/>
            <a:ext cx="8340436" cy="2543670"/>
            <a:chOff x="1925783" y="2280477"/>
            <a:chExt cx="8340436" cy="2543670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EF72192-E55F-4D7D-991C-AFCA75DDE5F2}"/>
                </a:ext>
              </a:extLst>
            </p:cNvPr>
            <p:cNvGrpSpPr/>
            <p:nvPr/>
          </p:nvGrpSpPr>
          <p:grpSpPr>
            <a:xfrm>
              <a:off x="1925783" y="2280478"/>
              <a:ext cx="3643746" cy="1999494"/>
              <a:chOff x="1925783" y="2280478"/>
              <a:chExt cx="3643746" cy="1999494"/>
            </a:xfrm>
          </p:grpSpPr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9F510B03-FEAD-4ED4-AF1D-A1A2A5D661B0}"/>
                  </a:ext>
                </a:extLst>
              </p:cNvPr>
              <p:cNvSpPr/>
              <p:nvPr/>
            </p:nvSpPr>
            <p:spPr>
              <a:xfrm>
                <a:off x="1925783" y="2280478"/>
                <a:ext cx="3643746" cy="5608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</a:rPr>
                  <a:t>Жизнь</a:t>
                </a:r>
              </a:p>
            </p:txBody>
          </p:sp>
          <p:grpSp>
            <p:nvGrpSpPr>
              <p:cNvPr id="9" name="Группа 8">
                <a:extLst>
                  <a:ext uri="{FF2B5EF4-FFF2-40B4-BE49-F238E27FC236}">
                    <a16:creationId xmlns:a16="http://schemas.microsoft.com/office/drawing/2014/main" id="{22C38A42-6D50-4888-9996-78BFD11EE609}"/>
                  </a:ext>
                </a:extLst>
              </p:cNvPr>
              <p:cNvGrpSpPr/>
              <p:nvPr/>
            </p:nvGrpSpPr>
            <p:grpSpPr>
              <a:xfrm>
                <a:off x="2327563" y="3209113"/>
                <a:ext cx="2840182" cy="1070859"/>
                <a:chOff x="2327563" y="3209113"/>
                <a:chExt cx="2840182" cy="1070859"/>
              </a:xfrm>
            </p:grpSpPr>
            <p:sp>
              <p:nvSpPr>
                <p:cNvPr id="7" name="Прямоугольник 6">
                  <a:extLst>
                    <a:ext uri="{FF2B5EF4-FFF2-40B4-BE49-F238E27FC236}">
                      <a16:creationId xmlns:a16="http://schemas.microsoft.com/office/drawing/2014/main" id="{20C1E2F8-8576-4259-9F65-7592F9E92A37}"/>
                    </a:ext>
                  </a:extLst>
                </p:cNvPr>
                <p:cNvSpPr/>
                <p:nvPr/>
              </p:nvSpPr>
              <p:spPr>
                <a:xfrm>
                  <a:off x="2327563" y="3209113"/>
                  <a:ext cx="2840181" cy="43977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100" dirty="0">
                      <a:solidFill>
                        <a:schemeClr val="tx1"/>
                      </a:solidFill>
                    </a:rPr>
                    <a:t>Рождение</a:t>
                  </a:r>
                </a:p>
              </p:txBody>
            </p:sp>
            <p:sp>
              <p:nvSpPr>
                <p:cNvPr id="8" name="Прямоугольник 7">
                  <a:extLst>
                    <a:ext uri="{FF2B5EF4-FFF2-40B4-BE49-F238E27FC236}">
                      <a16:creationId xmlns:a16="http://schemas.microsoft.com/office/drawing/2014/main" id="{97EBB991-E227-45A5-94B3-459FDAA59394}"/>
                    </a:ext>
                  </a:extLst>
                </p:cNvPr>
                <p:cNvSpPr/>
                <p:nvPr/>
              </p:nvSpPr>
              <p:spPr>
                <a:xfrm>
                  <a:off x="2327564" y="3840198"/>
                  <a:ext cx="2840181" cy="43977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100" dirty="0">
                      <a:solidFill>
                        <a:schemeClr val="tx1"/>
                      </a:solidFill>
                    </a:rPr>
                    <a:t>Образование</a:t>
                  </a:r>
                </a:p>
              </p:txBody>
            </p:sp>
          </p:grpSp>
        </p:grpSp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332B8878-2658-452B-929F-C34AB078CAD6}"/>
                </a:ext>
              </a:extLst>
            </p:cNvPr>
            <p:cNvGrpSpPr/>
            <p:nvPr/>
          </p:nvGrpSpPr>
          <p:grpSpPr>
            <a:xfrm>
              <a:off x="6622473" y="2280477"/>
              <a:ext cx="3643746" cy="2543670"/>
              <a:chOff x="6622473" y="2280477"/>
              <a:chExt cx="3643746" cy="2543670"/>
            </a:xfrm>
          </p:grpSpPr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3668C283-9856-4FBF-AEF7-7638A79B7CED}"/>
                  </a:ext>
                </a:extLst>
              </p:cNvPr>
              <p:cNvSpPr/>
              <p:nvPr/>
            </p:nvSpPr>
            <p:spPr>
              <a:xfrm>
                <a:off x="6622473" y="2280477"/>
                <a:ext cx="3643746" cy="5608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</a:rPr>
                  <a:t>Творчество</a:t>
                </a:r>
              </a:p>
            </p:txBody>
          </p:sp>
          <p:grpSp>
            <p:nvGrpSpPr>
              <p:cNvPr id="14" name="Группа 13">
                <a:extLst>
                  <a:ext uri="{FF2B5EF4-FFF2-40B4-BE49-F238E27FC236}">
                    <a16:creationId xmlns:a16="http://schemas.microsoft.com/office/drawing/2014/main" id="{8E428AEC-DBE1-4781-B77D-894F388B1A8C}"/>
                  </a:ext>
                </a:extLst>
              </p:cNvPr>
              <p:cNvGrpSpPr/>
              <p:nvPr/>
            </p:nvGrpSpPr>
            <p:grpSpPr>
              <a:xfrm>
                <a:off x="7024256" y="3209113"/>
                <a:ext cx="2840181" cy="1615034"/>
                <a:chOff x="7024256" y="3209113"/>
                <a:chExt cx="2840181" cy="1615034"/>
              </a:xfrm>
            </p:grpSpPr>
            <p:sp>
              <p:nvSpPr>
                <p:cNvPr id="11" name="Прямоугольник 10">
                  <a:extLst>
                    <a:ext uri="{FF2B5EF4-FFF2-40B4-BE49-F238E27FC236}">
                      <a16:creationId xmlns:a16="http://schemas.microsoft.com/office/drawing/2014/main" id="{BE565850-E898-45A0-9504-26E39704CCEF}"/>
                    </a:ext>
                  </a:extLst>
                </p:cNvPr>
                <p:cNvSpPr/>
                <p:nvPr/>
              </p:nvSpPr>
              <p:spPr>
                <a:xfrm>
                  <a:off x="7024256" y="3209113"/>
                  <a:ext cx="2840181" cy="43977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100" dirty="0">
                      <a:solidFill>
                        <a:schemeClr val="tx1"/>
                      </a:solidFill>
                    </a:rPr>
                    <a:t>Произведения</a:t>
                  </a:r>
                </a:p>
              </p:txBody>
            </p:sp>
            <p:sp>
              <p:nvSpPr>
                <p:cNvPr id="12" name="Прямоугольник 11">
                  <a:extLst>
                    <a:ext uri="{FF2B5EF4-FFF2-40B4-BE49-F238E27FC236}">
                      <a16:creationId xmlns:a16="http://schemas.microsoft.com/office/drawing/2014/main" id="{4E2FB647-648B-475A-BCAA-FD7B5FCC574B}"/>
                    </a:ext>
                  </a:extLst>
                </p:cNvPr>
                <p:cNvSpPr/>
                <p:nvPr/>
              </p:nvSpPr>
              <p:spPr>
                <a:xfrm>
                  <a:off x="7024256" y="3796743"/>
                  <a:ext cx="2840181" cy="43977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1500" dirty="0">
                      <a:solidFill>
                        <a:schemeClr val="tx1"/>
                      </a:solidFill>
                    </a:rPr>
                    <a:t>«Божественная комедия»</a:t>
                  </a:r>
                </a:p>
              </p:txBody>
            </p:sp>
            <p:sp>
              <p:nvSpPr>
                <p:cNvPr id="13" name="Прямоугольник 12">
                  <a:extLst>
                    <a:ext uri="{FF2B5EF4-FFF2-40B4-BE49-F238E27FC236}">
                      <a16:creationId xmlns:a16="http://schemas.microsoft.com/office/drawing/2014/main" id="{380CE7E2-E3BC-4085-BF80-D2F127C8C1B5}"/>
                    </a:ext>
                  </a:extLst>
                </p:cNvPr>
                <p:cNvSpPr/>
                <p:nvPr/>
              </p:nvSpPr>
              <p:spPr>
                <a:xfrm>
                  <a:off x="7024256" y="4384373"/>
                  <a:ext cx="2840181" cy="43977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100" dirty="0">
                      <a:solidFill>
                        <a:schemeClr val="tx1"/>
                      </a:solidFill>
                    </a:rPr>
                    <a:t>Фантастическое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5370445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67EF50-9F81-43DE-8031-D6A928FC8581}"/>
              </a:ext>
            </a:extLst>
          </p:cNvPr>
          <p:cNvSpPr/>
          <p:nvPr/>
        </p:nvSpPr>
        <p:spPr>
          <a:xfrm>
            <a:off x="187036" y="110836"/>
            <a:ext cx="11838709" cy="5135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3C4297-2DE9-4D37-BB45-55E87C049C58}"/>
              </a:ext>
            </a:extLst>
          </p:cNvPr>
          <p:cNvSpPr/>
          <p:nvPr/>
        </p:nvSpPr>
        <p:spPr>
          <a:xfrm>
            <a:off x="0" y="5389418"/>
            <a:ext cx="12192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DB317A-522D-4302-990E-1D2DA9242D03}"/>
              </a:ext>
            </a:extLst>
          </p:cNvPr>
          <p:cNvSpPr/>
          <p:nvPr/>
        </p:nvSpPr>
        <p:spPr>
          <a:xfrm>
            <a:off x="0" y="5435137"/>
            <a:ext cx="12192000" cy="142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AB4204-D37E-412D-9ACF-BDCBD1985363}"/>
              </a:ext>
            </a:extLst>
          </p:cNvPr>
          <p:cNvSpPr/>
          <p:nvPr/>
        </p:nvSpPr>
        <p:spPr>
          <a:xfrm>
            <a:off x="4475019" y="584663"/>
            <a:ext cx="70661" cy="431430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D3A45D-D63E-4556-BAB6-7B88F826B0C1}"/>
              </a:ext>
            </a:extLst>
          </p:cNvPr>
          <p:cNvSpPr/>
          <p:nvPr/>
        </p:nvSpPr>
        <p:spPr>
          <a:xfrm>
            <a:off x="4763191" y="467593"/>
            <a:ext cx="6913419" cy="45484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Р</a:t>
            </a:r>
            <a:r>
              <a:rPr lang="ru-RU" sz="2400" dirty="0">
                <a:solidFill>
                  <a:schemeClr val="tx1"/>
                </a:solidFill>
              </a:rPr>
              <a:t>одился в середине мая 1265 во Флоренции. Данте Алигьери был одним из самых выдающихся поэтов и мыслителей эпохи средневековья, определивший вектор развития общеевропейской культуры. Его творчество сыграло важную роль в формировании итальянского литературного языка.</a:t>
            </a:r>
          </a:p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Е</a:t>
            </a:r>
            <a:r>
              <a:rPr lang="ru-RU" sz="2400" dirty="0">
                <a:solidFill>
                  <a:schemeClr val="tx1"/>
                </a:solidFill>
              </a:rPr>
              <a:t>го поэзия и философская картина мира этого неординарного, глубоко мыслящего и в высшей степени чувственного человека остаётся актуальной и интересной на протяжении более семи столетий.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629B61-4658-4550-A7C3-2A378748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90" y="561109"/>
            <a:ext cx="3595255" cy="4314306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84BDAD-DD53-45A9-BDD3-7225D3C17209}"/>
              </a:ext>
            </a:extLst>
          </p:cNvPr>
          <p:cNvSpPr/>
          <p:nvPr/>
        </p:nvSpPr>
        <p:spPr>
          <a:xfrm>
            <a:off x="187035" y="5611091"/>
            <a:ext cx="5143008" cy="1136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500" b="1" dirty="0">
                <a:solidFill>
                  <a:schemeClr val="tx1"/>
                </a:solidFill>
                <a:latin typeface="Book Antiqua" panose="02040602050305030304" pitchFamily="18" charset="0"/>
              </a:rPr>
              <a:t>Жизнь Алигьери</a:t>
            </a:r>
            <a:endParaRPr lang="ru-RU" sz="4500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7D20EF9-A96A-40D6-B064-F1F915BC4897}"/>
              </a:ext>
            </a:extLst>
          </p:cNvPr>
          <p:cNvSpPr/>
          <p:nvPr/>
        </p:nvSpPr>
        <p:spPr>
          <a:xfrm>
            <a:off x="6081230" y="5968537"/>
            <a:ext cx="1967343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100" b="1" u="sng" dirty="0">
                <a:solidFill>
                  <a:schemeClr val="tx1"/>
                </a:solidFill>
              </a:rPr>
              <a:t>Рождение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50CD5064-3DBF-437E-9F0D-578B383AC84B}"/>
              </a:ext>
            </a:extLst>
          </p:cNvPr>
          <p:cNvGrpSpPr/>
          <p:nvPr/>
        </p:nvGrpSpPr>
        <p:grpSpPr>
          <a:xfrm>
            <a:off x="8799761" y="5968537"/>
            <a:ext cx="2351120" cy="609600"/>
            <a:chOff x="4542028" y="5898405"/>
            <a:chExt cx="2001297" cy="609600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4B12899-A086-4337-AD4F-FAC3EBACBFBF}"/>
                </a:ext>
              </a:extLst>
            </p:cNvPr>
            <p:cNvSpPr/>
            <p:nvPr/>
          </p:nvSpPr>
          <p:spPr>
            <a:xfrm>
              <a:off x="4542028" y="5898405"/>
              <a:ext cx="2001297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Образование</a:t>
              </a:r>
            </a:p>
          </p:txBody>
        </p:sp>
        <p:sp>
          <p:nvSpPr>
            <p:cNvPr id="29" name="Управляющая кнопка: &quot;На главную&quot; 28">
              <a:hlinkClick r:id="" action="ppaction://hlinkshowjump?jump=firstslide" highlightClick="1"/>
              <a:extLst>
                <a:ext uri="{FF2B5EF4-FFF2-40B4-BE49-F238E27FC236}">
                  <a16:creationId xmlns:a16="http://schemas.microsoft.com/office/drawing/2014/main" id="{4241AACA-A250-46DB-8C03-E33CF8100FA3}"/>
                </a:ext>
              </a:extLst>
            </p:cNvPr>
            <p:cNvSpPr/>
            <p:nvPr/>
          </p:nvSpPr>
          <p:spPr>
            <a:xfrm>
              <a:off x="4542028" y="5948107"/>
              <a:ext cx="539032" cy="510192"/>
            </a:xfrm>
            <a:prstGeom prst="actionButtonHo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ru-RU" dirty="0">
                <a:solidFill>
                  <a:srgbClr val="00B0F0"/>
                </a:solidFill>
              </a:endParaRPr>
            </a:p>
          </p:txBody>
        </p:sp>
      </p:grpSp>
      <p:sp>
        <p:nvSpPr>
          <p:cNvPr id="33" name="Солнце 32">
            <a:extLst>
              <a:ext uri="{FF2B5EF4-FFF2-40B4-BE49-F238E27FC236}">
                <a16:creationId xmlns:a16="http://schemas.microsoft.com/office/drawing/2014/main" id="{0D1477F2-AA0D-4D34-A543-000E179AE497}"/>
              </a:ext>
            </a:extLst>
          </p:cNvPr>
          <p:cNvSpPr/>
          <p:nvPr/>
        </p:nvSpPr>
        <p:spPr>
          <a:xfrm>
            <a:off x="6164729" y="6046554"/>
            <a:ext cx="484909" cy="453562"/>
          </a:xfrm>
          <a:prstGeom prst="su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040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67EF50-9F81-43DE-8031-D6A928FC8581}"/>
              </a:ext>
            </a:extLst>
          </p:cNvPr>
          <p:cNvSpPr/>
          <p:nvPr/>
        </p:nvSpPr>
        <p:spPr>
          <a:xfrm>
            <a:off x="187036" y="110836"/>
            <a:ext cx="11838709" cy="5135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3C4297-2DE9-4D37-BB45-55E87C049C58}"/>
              </a:ext>
            </a:extLst>
          </p:cNvPr>
          <p:cNvSpPr/>
          <p:nvPr/>
        </p:nvSpPr>
        <p:spPr>
          <a:xfrm>
            <a:off x="0" y="5389418"/>
            <a:ext cx="12192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DB317A-522D-4302-990E-1D2DA9242D03}"/>
              </a:ext>
            </a:extLst>
          </p:cNvPr>
          <p:cNvSpPr/>
          <p:nvPr/>
        </p:nvSpPr>
        <p:spPr>
          <a:xfrm>
            <a:off x="0" y="5435137"/>
            <a:ext cx="12192000" cy="142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AB4204-D37E-412D-9ACF-BDCBD1985363}"/>
              </a:ext>
            </a:extLst>
          </p:cNvPr>
          <p:cNvSpPr/>
          <p:nvPr/>
        </p:nvSpPr>
        <p:spPr>
          <a:xfrm>
            <a:off x="4475019" y="584663"/>
            <a:ext cx="70661" cy="431430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D3A45D-D63E-4556-BAB6-7B88F826B0C1}"/>
              </a:ext>
            </a:extLst>
          </p:cNvPr>
          <p:cNvSpPr/>
          <p:nvPr/>
        </p:nvSpPr>
        <p:spPr>
          <a:xfrm>
            <a:off x="4719487" y="467593"/>
            <a:ext cx="6957123" cy="45484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Д</a:t>
            </a:r>
            <a:r>
              <a:rPr lang="ru-RU" sz="2400" dirty="0">
                <a:solidFill>
                  <a:schemeClr val="tx1"/>
                </a:solidFill>
              </a:rPr>
              <a:t>анте был студентом Болонского университета – самого престижного учебного заведения Европы. Он был знаком с работами античных авторов и литературными творениями своих современников, великолепно ориентировался в естественных науках, и на протяжении всей жизни непрестанно занимался самообразованием, постигая новые горизонты.</a:t>
            </a:r>
          </a:p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П</a:t>
            </a:r>
            <a:r>
              <a:rPr lang="ru-RU" sz="2400" dirty="0">
                <a:solidFill>
                  <a:schemeClr val="tx1"/>
                </a:solidFill>
              </a:rPr>
              <a:t>ервым наставником Данте был известный в то время поэт и учёный </a:t>
            </a:r>
            <a:r>
              <a:rPr lang="ru-RU" sz="2400" dirty="0" err="1">
                <a:solidFill>
                  <a:schemeClr val="tx1"/>
                </a:solidFill>
              </a:rPr>
              <a:t>Брунетто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Латини</a:t>
            </a:r>
            <a:r>
              <a:rPr lang="ru-RU" sz="2400" dirty="0">
                <a:solidFill>
                  <a:schemeClr val="tx1"/>
                </a:solidFill>
              </a:rPr>
              <a:t>. Данте был знаком с еретическими учениями того времени.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84BDAD-DD53-45A9-BDD3-7225D3C17209}"/>
              </a:ext>
            </a:extLst>
          </p:cNvPr>
          <p:cNvSpPr/>
          <p:nvPr/>
        </p:nvSpPr>
        <p:spPr>
          <a:xfrm>
            <a:off x="187035" y="5611091"/>
            <a:ext cx="5143008" cy="1136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500" b="1" dirty="0">
                <a:solidFill>
                  <a:schemeClr val="tx1"/>
                </a:solidFill>
                <a:latin typeface="Book Antiqua" panose="02040602050305030304" pitchFamily="18" charset="0"/>
              </a:rPr>
              <a:t>Жизнь Алигьери</a:t>
            </a:r>
            <a:endParaRPr lang="ru-RU" sz="4500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7D20EF9-A96A-40D6-B064-F1F915BC4897}"/>
              </a:ext>
            </a:extLst>
          </p:cNvPr>
          <p:cNvSpPr/>
          <p:nvPr/>
        </p:nvSpPr>
        <p:spPr>
          <a:xfrm>
            <a:off x="6081230" y="5968537"/>
            <a:ext cx="1967343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000" dirty="0">
                <a:solidFill>
                  <a:schemeClr val="tx1"/>
                </a:solidFill>
              </a:rPr>
              <a:t>Рождение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50CD5064-3DBF-437E-9F0D-578B383AC84B}"/>
              </a:ext>
            </a:extLst>
          </p:cNvPr>
          <p:cNvGrpSpPr/>
          <p:nvPr/>
        </p:nvGrpSpPr>
        <p:grpSpPr>
          <a:xfrm>
            <a:off x="8799761" y="5968537"/>
            <a:ext cx="2351120" cy="609600"/>
            <a:chOff x="4542028" y="5898405"/>
            <a:chExt cx="2001297" cy="609600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4B12899-A086-4337-AD4F-FAC3EBACBFBF}"/>
                </a:ext>
              </a:extLst>
            </p:cNvPr>
            <p:cNvSpPr/>
            <p:nvPr/>
          </p:nvSpPr>
          <p:spPr>
            <a:xfrm>
              <a:off x="4542028" y="5898405"/>
              <a:ext cx="2001297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b="1" u="sng" dirty="0">
                  <a:solidFill>
                    <a:schemeClr val="tx1"/>
                  </a:solidFill>
                </a:rPr>
                <a:t>Образование</a:t>
              </a:r>
            </a:p>
          </p:txBody>
        </p:sp>
        <p:sp>
          <p:nvSpPr>
            <p:cNvPr id="29" name="Управляющая кнопка: &quot;На главную&quot; 28">
              <a:hlinkClick r:id="" action="ppaction://hlinkshowjump?jump=firstslide" highlightClick="1"/>
              <a:extLst>
                <a:ext uri="{FF2B5EF4-FFF2-40B4-BE49-F238E27FC236}">
                  <a16:creationId xmlns:a16="http://schemas.microsoft.com/office/drawing/2014/main" id="{4241AACA-A250-46DB-8C03-E33CF8100FA3}"/>
                </a:ext>
              </a:extLst>
            </p:cNvPr>
            <p:cNvSpPr/>
            <p:nvPr/>
          </p:nvSpPr>
          <p:spPr>
            <a:xfrm>
              <a:off x="4542028" y="5948107"/>
              <a:ext cx="539032" cy="510192"/>
            </a:xfrm>
            <a:prstGeom prst="actionButtonHo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ru-RU" dirty="0">
                <a:solidFill>
                  <a:srgbClr val="00B0F0"/>
                </a:solidFill>
              </a:endParaRPr>
            </a:p>
          </p:txBody>
        </p:sp>
      </p:grpSp>
      <p:sp>
        <p:nvSpPr>
          <p:cNvPr id="33" name="Солнце 32">
            <a:extLst>
              <a:ext uri="{FF2B5EF4-FFF2-40B4-BE49-F238E27FC236}">
                <a16:creationId xmlns:a16="http://schemas.microsoft.com/office/drawing/2014/main" id="{0D1477F2-AA0D-4D34-A543-000E179AE497}"/>
              </a:ext>
            </a:extLst>
          </p:cNvPr>
          <p:cNvSpPr/>
          <p:nvPr/>
        </p:nvSpPr>
        <p:spPr>
          <a:xfrm>
            <a:off x="6164729" y="6046554"/>
            <a:ext cx="484909" cy="453562"/>
          </a:xfrm>
          <a:prstGeom prst="su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824D2A0-18E4-46CB-84F3-D64AE46BD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272" y="1249681"/>
            <a:ext cx="3967940" cy="297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942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67EF50-9F81-43DE-8031-D6A928FC8581}"/>
              </a:ext>
            </a:extLst>
          </p:cNvPr>
          <p:cNvSpPr/>
          <p:nvPr/>
        </p:nvSpPr>
        <p:spPr>
          <a:xfrm>
            <a:off x="187036" y="110836"/>
            <a:ext cx="11838709" cy="5135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3C4297-2DE9-4D37-BB45-55E87C049C58}"/>
              </a:ext>
            </a:extLst>
          </p:cNvPr>
          <p:cNvSpPr/>
          <p:nvPr/>
        </p:nvSpPr>
        <p:spPr>
          <a:xfrm>
            <a:off x="0" y="5389418"/>
            <a:ext cx="12192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DB317A-522D-4302-990E-1D2DA9242D03}"/>
              </a:ext>
            </a:extLst>
          </p:cNvPr>
          <p:cNvSpPr/>
          <p:nvPr/>
        </p:nvSpPr>
        <p:spPr>
          <a:xfrm>
            <a:off x="0" y="5435137"/>
            <a:ext cx="12192000" cy="142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AB4204-D37E-412D-9ACF-BDCBD1985363}"/>
              </a:ext>
            </a:extLst>
          </p:cNvPr>
          <p:cNvSpPr/>
          <p:nvPr/>
        </p:nvSpPr>
        <p:spPr>
          <a:xfrm>
            <a:off x="7897080" y="584663"/>
            <a:ext cx="70661" cy="431430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D3A45D-D63E-4556-BAB6-7B88F826B0C1}"/>
              </a:ext>
            </a:extLst>
          </p:cNvPr>
          <p:cNvSpPr/>
          <p:nvPr/>
        </p:nvSpPr>
        <p:spPr>
          <a:xfrm>
            <a:off x="432573" y="1331077"/>
            <a:ext cx="7198189" cy="3633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П</a:t>
            </a:r>
            <a:r>
              <a:rPr lang="ru-RU" sz="2400" dirty="0">
                <a:solidFill>
                  <a:schemeClr val="tx1"/>
                </a:solidFill>
              </a:rPr>
              <a:t>ервый сборник произведений Данте, состоящий преимущественно из сонетов и небольшого фрагмента прозаического текста, вышел в свет примерно в 1283 – 1293 годах. Книга была написана на итальянском языке (, а не на латыни) и носила название «Новая жизнь»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84BDAD-DD53-45A9-BDD3-7225D3C17209}"/>
              </a:ext>
            </a:extLst>
          </p:cNvPr>
          <p:cNvSpPr/>
          <p:nvPr/>
        </p:nvSpPr>
        <p:spPr>
          <a:xfrm>
            <a:off x="187035" y="5611091"/>
            <a:ext cx="4287984" cy="1136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500" b="1" dirty="0">
                <a:solidFill>
                  <a:schemeClr val="tx1"/>
                </a:solidFill>
                <a:latin typeface="Book Antiqua" panose="02040602050305030304" pitchFamily="18" charset="0"/>
              </a:rPr>
              <a:t>Творчество</a:t>
            </a:r>
            <a:endParaRPr lang="ru-RU" sz="4500" dirty="0">
              <a:solidFill>
                <a:schemeClr val="tx1"/>
              </a:solidFill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AD33D80-4E14-44CE-A980-851C18870054}"/>
              </a:ext>
            </a:extLst>
          </p:cNvPr>
          <p:cNvGrpSpPr/>
          <p:nvPr/>
        </p:nvGrpSpPr>
        <p:grpSpPr>
          <a:xfrm>
            <a:off x="432572" y="533660"/>
            <a:ext cx="7198189" cy="980640"/>
            <a:chOff x="432573" y="279863"/>
            <a:chExt cx="6827207" cy="614449"/>
          </a:xfrm>
        </p:grpSpPr>
        <p:sp>
          <p:nvSpPr>
            <p:cNvPr id="9" name="Стрелка: шеврон 8">
              <a:extLst>
                <a:ext uri="{FF2B5EF4-FFF2-40B4-BE49-F238E27FC236}">
                  <a16:creationId xmlns:a16="http://schemas.microsoft.com/office/drawing/2014/main" id="{29DF9524-1D5D-40E3-9A02-DE82A87D19D5}"/>
                </a:ext>
              </a:extLst>
            </p:cNvPr>
            <p:cNvSpPr/>
            <p:nvPr/>
          </p:nvSpPr>
          <p:spPr>
            <a:xfrm>
              <a:off x="432573" y="284712"/>
              <a:ext cx="293078" cy="609600"/>
            </a:xfrm>
            <a:prstGeom prst="chevron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B501846C-476C-40DA-A4E7-BA5C71B249C5}"/>
                </a:ext>
              </a:extLst>
            </p:cNvPr>
            <p:cNvSpPr/>
            <p:nvPr/>
          </p:nvSpPr>
          <p:spPr>
            <a:xfrm>
              <a:off x="832637" y="279863"/>
              <a:ext cx="642714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</a:rPr>
                <a:t>Стихи сопровождаются прозаическими вставками, объясняющими, как появилось то или иное стихотворение</a:t>
              </a:r>
            </a:p>
          </p:txBody>
        </p:sp>
      </p:grp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BBC2891-AC04-4BFA-BCAD-1A1263AB7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277" y="608216"/>
            <a:ext cx="3105150" cy="4267200"/>
          </a:xfrm>
          <a:prstGeom prst="rect">
            <a:avLst/>
          </a:prstGeom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8FCC043-4230-4C48-A12E-7D92AA511930}"/>
              </a:ext>
            </a:extLst>
          </p:cNvPr>
          <p:cNvGrpSpPr/>
          <p:nvPr/>
        </p:nvGrpSpPr>
        <p:grpSpPr>
          <a:xfrm>
            <a:off x="4806828" y="5874327"/>
            <a:ext cx="2452953" cy="609600"/>
            <a:chOff x="4806828" y="5874327"/>
            <a:chExt cx="2452953" cy="609600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4B12899-A086-4337-AD4F-FAC3EBACBFBF}"/>
                </a:ext>
              </a:extLst>
            </p:cNvPr>
            <p:cNvSpPr/>
            <p:nvPr/>
          </p:nvSpPr>
          <p:spPr>
            <a:xfrm>
              <a:off x="4806828" y="5874327"/>
              <a:ext cx="245295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b="1" u="sng" dirty="0">
                  <a:solidFill>
                    <a:schemeClr val="tx1"/>
                  </a:solidFill>
                </a:rPr>
                <a:t>Произведения</a:t>
              </a:r>
            </a:p>
          </p:txBody>
        </p:sp>
        <p:sp>
          <p:nvSpPr>
            <p:cNvPr id="17" name="Свиток: вертикальный 16">
              <a:extLst>
                <a:ext uri="{FF2B5EF4-FFF2-40B4-BE49-F238E27FC236}">
                  <a16:creationId xmlns:a16="http://schemas.microsoft.com/office/drawing/2014/main" id="{4F818EEB-63F1-4CC6-9F2E-6F91314DEE6A}"/>
                </a:ext>
              </a:extLst>
            </p:cNvPr>
            <p:cNvSpPr/>
            <p:nvPr/>
          </p:nvSpPr>
          <p:spPr>
            <a:xfrm>
              <a:off x="4994811" y="5985163"/>
              <a:ext cx="331809" cy="387927"/>
            </a:xfrm>
            <a:prstGeom prst="verticalScroll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5F25C3B4-02E5-45F3-8AB0-2A058FFD708A}"/>
              </a:ext>
            </a:extLst>
          </p:cNvPr>
          <p:cNvGrpSpPr/>
          <p:nvPr/>
        </p:nvGrpSpPr>
        <p:grpSpPr>
          <a:xfrm>
            <a:off x="7447764" y="5874327"/>
            <a:ext cx="2014891" cy="609600"/>
            <a:chOff x="7447764" y="5874327"/>
            <a:chExt cx="2014891" cy="609600"/>
          </a:xfrm>
        </p:grpSpPr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FA583EE-0D75-404E-8B97-CA5FDABC8721}"/>
                </a:ext>
              </a:extLst>
            </p:cNvPr>
            <p:cNvSpPr/>
            <p:nvPr/>
          </p:nvSpPr>
          <p:spPr>
            <a:xfrm>
              <a:off x="7447764" y="5874327"/>
              <a:ext cx="2014891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«Комедия»</a:t>
              </a:r>
            </a:p>
          </p:txBody>
        </p:sp>
        <p:sp>
          <p:nvSpPr>
            <p:cNvPr id="19" name="Улыбающееся лицо 18">
              <a:extLst>
                <a:ext uri="{FF2B5EF4-FFF2-40B4-BE49-F238E27FC236}">
                  <a16:creationId xmlns:a16="http://schemas.microsoft.com/office/drawing/2014/main" id="{DA997A47-4BF3-40E1-BB82-F02E112A3C3B}"/>
                </a:ext>
              </a:extLst>
            </p:cNvPr>
            <p:cNvSpPr/>
            <p:nvPr/>
          </p:nvSpPr>
          <p:spPr>
            <a:xfrm>
              <a:off x="7630761" y="5985163"/>
              <a:ext cx="401099" cy="396930"/>
            </a:xfrm>
            <a:prstGeom prst="smileyFac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57511EA-075C-46E4-B83B-EBD5AD38600E}"/>
              </a:ext>
            </a:extLst>
          </p:cNvPr>
          <p:cNvGrpSpPr/>
          <p:nvPr/>
        </p:nvGrpSpPr>
        <p:grpSpPr>
          <a:xfrm>
            <a:off x="9616151" y="5874327"/>
            <a:ext cx="2380093" cy="609600"/>
            <a:chOff x="9645652" y="5874327"/>
            <a:chExt cx="2380093" cy="609600"/>
          </a:xfrm>
        </p:grpSpPr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FAA8C0A-59C7-46EF-9C8D-307E384C1601}"/>
                </a:ext>
              </a:extLst>
            </p:cNvPr>
            <p:cNvSpPr/>
            <p:nvPr/>
          </p:nvSpPr>
          <p:spPr>
            <a:xfrm>
              <a:off x="9645652" y="5874327"/>
              <a:ext cx="238009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Фантастическое</a:t>
              </a:r>
            </a:p>
          </p:txBody>
        </p:sp>
        <p:sp>
          <p:nvSpPr>
            <p:cNvPr id="34" name="Звезда: 5 точек 33">
              <a:extLst>
                <a:ext uri="{FF2B5EF4-FFF2-40B4-BE49-F238E27FC236}">
                  <a16:creationId xmlns:a16="http://schemas.microsoft.com/office/drawing/2014/main" id="{0C9CFE3A-FF67-4ADF-92E4-CC33FBACE8E7}"/>
                </a:ext>
              </a:extLst>
            </p:cNvPr>
            <p:cNvSpPr/>
            <p:nvPr/>
          </p:nvSpPr>
          <p:spPr>
            <a:xfrm>
              <a:off x="9707679" y="5945332"/>
              <a:ext cx="401099" cy="402473"/>
            </a:xfrm>
            <a:prstGeom prst="star5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380562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67EF50-9F81-43DE-8031-D6A928FC8581}"/>
              </a:ext>
            </a:extLst>
          </p:cNvPr>
          <p:cNvSpPr/>
          <p:nvPr/>
        </p:nvSpPr>
        <p:spPr>
          <a:xfrm>
            <a:off x="187036" y="110836"/>
            <a:ext cx="11838709" cy="5135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3C4297-2DE9-4D37-BB45-55E87C049C58}"/>
              </a:ext>
            </a:extLst>
          </p:cNvPr>
          <p:cNvSpPr/>
          <p:nvPr/>
        </p:nvSpPr>
        <p:spPr>
          <a:xfrm>
            <a:off x="0" y="5389418"/>
            <a:ext cx="12192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DB317A-522D-4302-990E-1D2DA9242D03}"/>
              </a:ext>
            </a:extLst>
          </p:cNvPr>
          <p:cNvSpPr/>
          <p:nvPr/>
        </p:nvSpPr>
        <p:spPr>
          <a:xfrm>
            <a:off x="0" y="5435137"/>
            <a:ext cx="12192000" cy="142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AB4204-D37E-412D-9ACF-BDCBD1985363}"/>
              </a:ext>
            </a:extLst>
          </p:cNvPr>
          <p:cNvSpPr/>
          <p:nvPr/>
        </p:nvSpPr>
        <p:spPr>
          <a:xfrm>
            <a:off x="7897080" y="584663"/>
            <a:ext cx="70661" cy="431430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D3A45D-D63E-4556-BAB6-7B88F826B0C1}"/>
              </a:ext>
            </a:extLst>
          </p:cNvPr>
          <p:cNvSpPr/>
          <p:nvPr/>
        </p:nvSpPr>
        <p:spPr>
          <a:xfrm>
            <a:off x="432573" y="1331077"/>
            <a:ext cx="7198189" cy="3633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И</a:t>
            </a:r>
            <a:r>
              <a:rPr lang="ru-RU" sz="2400" dirty="0">
                <a:solidFill>
                  <a:schemeClr val="tx1"/>
                </a:solidFill>
              </a:rPr>
              <a:t>нтерес Д. к земной жизни, к судьбе человеческой личности — основа его гуманизма. Отвлечённым грехам Д. придаёт политическую и социальную окраску. Его волнуют судьбы Италии и Флоренции, раздираемых междоусобицами, падение авторитета и коррупция церкви, столкновение папской и императорской власти, идеал монархии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84BDAD-DD53-45A9-BDD3-7225D3C17209}"/>
              </a:ext>
            </a:extLst>
          </p:cNvPr>
          <p:cNvSpPr/>
          <p:nvPr/>
        </p:nvSpPr>
        <p:spPr>
          <a:xfrm>
            <a:off x="187035" y="5611091"/>
            <a:ext cx="4287984" cy="1136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500" b="1" dirty="0">
                <a:solidFill>
                  <a:schemeClr val="tx1"/>
                </a:solidFill>
                <a:latin typeface="Book Antiqua" panose="02040602050305030304" pitchFamily="18" charset="0"/>
              </a:rPr>
              <a:t>Творчество</a:t>
            </a:r>
            <a:endParaRPr lang="ru-RU" sz="4500" dirty="0">
              <a:solidFill>
                <a:schemeClr val="tx1"/>
              </a:solidFill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AD33D80-4E14-44CE-A980-851C18870054}"/>
              </a:ext>
            </a:extLst>
          </p:cNvPr>
          <p:cNvGrpSpPr/>
          <p:nvPr/>
        </p:nvGrpSpPr>
        <p:grpSpPr>
          <a:xfrm>
            <a:off x="432572" y="533660"/>
            <a:ext cx="7198189" cy="980640"/>
            <a:chOff x="432573" y="279863"/>
            <a:chExt cx="6827207" cy="614449"/>
          </a:xfrm>
        </p:grpSpPr>
        <p:sp>
          <p:nvSpPr>
            <p:cNvPr id="9" name="Стрелка: шеврон 8">
              <a:extLst>
                <a:ext uri="{FF2B5EF4-FFF2-40B4-BE49-F238E27FC236}">
                  <a16:creationId xmlns:a16="http://schemas.microsoft.com/office/drawing/2014/main" id="{29DF9524-1D5D-40E3-9A02-DE82A87D19D5}"/>
                </a:ext>
              </a:extLst>
            </p:cNvPr>
            <p:cNvSpPr/>
            <p:nvPr/>
          </p:nvSpPr>
          <p:spPr>
            <a:xfrm>
              <a:off x="432573" y="284712"/>
              <a:ext cx="293078" cy="609600"/>
            </a:xfrm>
            <a:prstGeom prst="chevron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B501846C-476C-40DA-A4E7-BA5C71B249C5}"/>
                </a:ext>
              </a:extLst>
            </p:cNvPr>
            <p:cNvSpPr/>
            <p:nvPr/>
          </p:nvSpPr>
          <p:spPr>
            <a:xfrm>
              <a:off x="832637" y="279863"/>
              <a:ext cx="642714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</a:rPr>
                <a:t>Стихи сопровождаются прозаическими вставками, объясняющими, как появилось то или иное стихотворение</a:t>
              </a:r>
            </a:p>
          </p:txBody>
        </p:sp>
      </p:grp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BBC2891-AC04-4BFA-BCAD-1A1263AB7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277" y="608216"/>
            <a:ext cx="3105150" cy="4267200"/>
          </a:xfrm>
          <a:prstGeom prst="rect">
            <a:avLst/>
          </a:prstGeom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8FCC043-4230-4C48-A12E-7D92AA511930}"/>
              </a:ext>
            </a:extLst>
          </p:cNvPr>
          <p:cNvGrpSpPr/>
          <p:nvPr/>
        </p:nvGrpSpPr>
        <p:grpSpPr>
          <a:xfrm>
            <a:off x="4806828" y="5874327"/>
            <a:ext cx="2452953" cy="609600"/>
            <a:chOff x="4806828" y="5874327"/>
            <a:chExt cx="2452953" cy="609600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4B12899-A086-4337-AD4F-FAC3EBACBFBF}"/>
                </a:ext>
              </a:extLst>
            </p:cNvPr>
            <p:cNvSpPr/>
            <p:nvPr/>
          </p:nvSpPr>
          <p:spPr>
            <a:xfrm>
              <a:off x="4806828" y="5874327"/>
              <a:ext cx="245295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b="1" u="sng" dirty="0">
                  <a:solidFill>
                    <a:schemeClr val="tx1"/>
                  </a:solidFill>
                </a:rPr>
                <a:t>Произведения</a:t>
              </a:r>
            </a:p>
          </p:txBody>
        </p:sp>
        <p:sp>
          <p:nvSpPr>
            <p:cNvPr id="17" name="Свиток: вертикальный 16">
              <a:extLst>
                <a:ext uri="{FF2B5EF4-FFF2-40B4-BE49-F238E27FC236}">
                  <a16:creationId xmlns:a16="http://schemas.microsoft.com/office/drawing/2014/main" id="{4F818EEB-63F1-4CC6-9F2E-6F91314DEE6A}"/>
                </a:ext>
              </a:extLst>
            </p:cNvPr>
            <p:cNvSpPr/>
            <p:nvPr/>
          </p:nvSpPr>
          <p:spPr>
            <a:xfrm>
              <a:off x="4994811" y="5985163"/>
              <a:ext cx="331809" cy="387927"/>
            </a:xfrm>
            <a:prstGeom prst="verticalScroll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5F25C3B4-02E5-45F3-8AB0-2A058FFD708A}"/>
              </a:ext>
            </a:extLst>
          </p:cNvPr>
          <p:cNvGrpSpPr/>
          <p:nvPr/>
        </p:nvGrpSpPr>
        <p:grpSpPr>
          <a:xfrm>
            <a:off x="7447764" y="5874327"/>
            <a:ext cx="2014891" cy="609600"/>
            <a:chOff x="7447764" y="5874327"/>
            <a:chExt cx="2014891" cy="609600"/>
          </a:xfrm>
        </p:grpSpPr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FA583EE-0D75-404E-8B97-CA5FDABC8721}"/>
                </a:ext>
              </a:extLst>
            </p:cNvPr>
            <p:cNvSpPr/>
            <p:nvPr/>
          </p:nvSpPr>
          <p:spPr>
            <a:xfrm>
              <a:off x="7447764" y="5874327"/>
              <a:ext cx="2014891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«Комедия»</a:t>
              </a:r>
            </a:p>
          </p:txBody>
        </p:sp>
        <p:sp>
          <p:nvSpPr>
            <p:cNvPr id="19" name="Улыбающееся лицо 18">
              <a:extLst>
                <a:ext uri="{FF2B5EF4-FFF2-40B4-BE49-F238E27FC236}">
                  <a16:creationId xmlns:a16="http://schemas.microsoft.com/office/drawing/2014/main" id="{DA997A47-4BF3-40E1-BB82-F02E112A3C3B}"/>
                </a:ext>
              </a:extLst>
            </p:cNvPr>
            <p:cNvSpPr/>
            <p:nvPr/>
          </p:nvSpPr>
          <p:spPr>
            <a:xfrm>
              <a:off x="7630761" y="5985163"/>
              <a:ext cx="401099" cy="396930"/>
            </a:xfrm>
            <a:prstGeom prst="smileyFac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57511EA-075C-46E4-B83B-EBD5AD38600E}"/>
              </a:ext>
            </a:extLst>
          </p:cNvPr>
          <p:cNvGrpSpPr/>
          <p:nvPr/>
        </p:nvGrpSpPr>
        <p:grpSpPr>
          <a:xfrm>
            <a:off x="9616151" y="5874327"/>
            <a:ext cx="2380093" cy="609600"/>
            <a:chOff x="9645652" y="5874327"/>
            <a:chExt cx="2380093" cy="609600"/>
          </a:xfrm>
        </p:grpSpPr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FAA8C0A-59C7-46EF-9C8D-307E384C1601}"/>
                </a:ext>
              </a:extLst>
            </p:cNvPr>
            <p:cNvSpPr/>
            <p:nvPr/>
          </p:nvSpPr>
          <p:spPr>
            <a:xfrm>
              <a:off x="9645652" y="5874327"/>
              <a:ext cx="238009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Фантастическое</a:t>
              </a:r>
            </a:p>
          </p:txBody>
        </p:sp>
        <p:sp>
          <p:nvSpPr>
            <p:cNvPr id="34" name="Звезда: 5 точек 33">
              <a:extLst>
                <a:ext uri="{FF2B5EF4-FFF2-40B4-BE49-F238E27FC236}">
                  <a16:creationId xmlns:a16="http://schemas.microsoft.com/office/drawing/2014/main" id="{0C9CFE3A-FF67-4ADF-92E4-CC33FBACE8E7}"/>
                </a:ext>
              </a:extLst>
            </p:cNvPr>
            <p:cNvSpPr/>
            <p:nvPr/>
          </p:nvSpPr>
          <p:spPr>
            <a:xfrm>
              <a:off x="9707679" y="5945332"/>
              <a:ext cx="401099" cy="402473"/>
            </a:xfrm>
            <a:prstGeom prst="star5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967296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67EF50-9F81-43DE-8031-D6A928FC8581}"/>
              </a:ext>
            </a:extLst>
          </p:cNvPr>
          <p:cNvSpPr/>
          <p:nvPr/>
        </p:nvSpPr>
        <p:spPr>
          <a:xfrm>
            <a:off x="187036" y="110836"/>
            <a:ext cx="11838709" cy="5135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3C4297-2DE9-4D37-BB45-55E87C049C58}"/>
              </a:ext>
            </a:extLst>
          </p:cNvPr>
          <p:cNvSpPr/>
          <p:nvPr/>
        </p:nvSpPr>
        <p:spPr>
          <a:xfrm>
            <a:off x="0" y="5389418"/>
            <a:ext cx="12192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DB317A-522D-4302-990E-1D2DA9242D03}"/>
              </a:ext>
            </a:extLst>
          </p:cNvPr>
          <p:cNvSpPr/>
          <p:nvPr/>
        </p:nvSpPr>
        <p:spPr>
          <a:xfrm>
            <a:off x="0" y="5435137"/>
            <a:ext cx="12192000" cy="142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AB4204-D37E-412D-9ACF-BDCBD1985363}"/>
              </a:ext>
            </a:extLst>
          </p:cNvPr>
          <p:cNvSpPr/>
          <p:nvPr/>
        </p:nvSpPr>
        <p:spPr>
          <a:xfrm>
            <a:off x="7897080" y="584663"/>
            <a:ext cx="70661" cy="431430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D3A45D-D63E-4556-BAB6-7B88F826B0C1}"/>
              </a:ext>
            </a:extLst>
          </p:cNvPr>
          <p:cNvSpPr/>
          <p:nvPr/>
        </p:nvSpPr>
        <p:spPr>
          <a:xfrm>
            <a:off x="432573" y="584663"/>
            <a:ext cx="7198189" cy="43795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200" dirty="0">
                <a:solidFill>
                  <a:schemeClr val="tx1"/>
                </a:solidFill>
              </a:rPr>
              <a:t>- </a:t>
            </a:r>
            <a:r>
              <a:rPr lang="ru-RU" sz="2200" u="sng" dirty="0">
                <a:solidFill>
                  <a:schemeClr val="tx1"/>
                </a:solidFill>
              </a:rPr>
              <a:t>В</a:t>
            </a:r>
            <a:r>
              <a:rPr lang="ru-RU" sz="2200" dirty="0">
                <a:solidFill>
                  <a:schemeClr val="tx1"/>
                </a:solidFill>
              </a:rPr>
              <a:t> период юности он написал такие произведения как: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</a:rPr>
              <a:t>Состоящий из трёх частей трактат </a:t>
            </a:r>
            <a:r>
              <a:rPr lang="ru-RU" sz="2200" i="1" u="sng" dirty="0">
                <a:solidFill>
                  <a:schemeClr val="tx1"/>
                </a:solidFill>
              </a:rPr>
              <a:t>«Монархия»</a:t>
            </a:r>
            <a:r>
              <a:rPr lang="ru-RU" sz="2200" dirty="0">
                <a:solidFill>
                  <a:schemeClr val="tx1"/>
                </a:solidFill>
              </a:rPr>
              <a:t>, которая повествует об идеальном, с точки зрения автора, общественно-политическом строе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</a:rPr>
              <a:t>Незаконченный лингвистический трактат </a:t>
            </a:r>
            <a:r>
              <a:rPr lang="ru-RU" sz="2200" i="1" u="sng" dirty="0">
                <a:solidFill>
                  <a:schemeClr val="tx1"/>
                </a:solidFill>
              </a:rPr>
              <a:t>«О народном красноречии»</a:t>
            </a:r>
            <a:r>
              <a:rPr lang="ru-RU" sz="2200" dirty="0">
                <a:solidFill>
                  <a:schemeClr val="tx1"/>
                </a:solidFill>
              </a:rPr>
              <a:t>, представляющий собой первую в Европе исследовательскую работу происхождения и развития романских языков, а также анализ современных автору литературных форм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</a:rPr>
              <a:t>Незаконченный философский трактат </a:t>
            </a:r>
            <a:r>
              <a:rPr lang="ru-RU" sz="2200" i="1" u="sng" dirty="0">
                <a:solidFill>
                  <a:schemeClr val="tx1"/>
                </a:solidFill>
              </a:rPr>
              <a:t>«Пир»</a:t>
            </a:r>
            <a:r>
              <a:rPr lang="ru-RU" sz="2200" dirty="0">
                <a:solidFill>
                  <a:schemeClr val="tx1"/>
                </a:solidFill>
              </a:rPr>
              <a:t>, в котором была изложена критика морально-этических норм, а также предпринята попытка сделать глубокий анализ поэтики и языкознания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84BDAD-DD53-45A9-BDD3-7225D3C17209}"/>
              </a:ext>
            </a:extLst>
          </p:cNvPr>
          <p:cNvSpPr/>
          <p:nvPr/>
        </p:nvSpPr>
        <p:spPr>
          <a:xfrm>
            <a:off x="187035" y="5611091"/>
            <a:ext cx="4287984" cy="1136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500" b="1" dirty="0">
                <a:solidFill>
                  <a:schemeClr val="tx1"/>
                </a:solidFill>
                <a:latin typeface="Book Antiqua" panose="02040602050305030304" pitchFamily="18" charset="0"/>
              </a:rPr>
              <a:t>Творчество</a:t>
            </a:r>
            <a:endParaRPr lang="ru-RU" sz="4500" dirty="0">
              <a:solidFill>
                <a:schemeClr val="tx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BBC2891-AC04-4BFA-BCAD-1A1263AB7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277" y="608216"/>
            <a:ext cx="3105150" cy="4267200"/>
          </a:xfrm>
          <a:prstGeom prst="rect">
            <a:avLst/>
          </a:prstGeom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8FCC043-4230-4C48-A12E-7D92AA511930}"/>
              </a:ext>
            </a:extLst>
          </p:cNvPr>
          <p:cNvGrpSpPr/>
          <p:nvPr/>
        </p:nvGrpSpPr>
        <p:grpSpPr>
          <a:xfrm>
            <a:off x="4806828" y="5874327"/>
            <a:ext cx="2452953" cy="609600"/>
            <a:chOff x="4806828" y="5874327"/>
            <a:chExt cx="2452953" cy="609600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4B12899-A086-4337-AD4F-FAC3EBACBFBF}"/>
                </a:ext>
              </a:extLst>
            </p:cNvPr>
            <p:cNvSpPr/>
            <p:nvPr/>
          </p:nvSpPr>
          <p:spPr>
            <a:xfrm>
              <a:off x="4806828" y="5874327"/>
              <a:ext cx="245295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b="1" u="sng" dirty="0">
                  <a:solidFill>
                    <a:schemeClr val="tx1"/>
                  </a:solidFill>
                </a:rPr>
                <a:t>Произведения</a:t>
              </a:r>
            </a:p>
          </p:txBody>
        </p:sp>
        <p:sp>
          <p:nvSpPr>
            <p:cNvPr id="17" name="Свиток: вертикальный 16">
              <a:extLst>
                <a:ext uri="{FF2B5EF4-FFF2-40B4-BE49-F238E27FC236}">
                  <a16:creationId xmlns:a16="http://schemas.microsoft.com/office/drawing/2014/main" id="{4F818EEB-63F1-4CC6-9F2E-6F91314DEE6A}"/>
                </a:ext>
              </a:extLst>
            </p:cNvPr>
            <p:cNvSpPr/>
            <p:nvPr/>
          </p:nvSpPr>
          <p:spPr>
            <a:xfrm>
              <a:off x="4994811" y="5985163"/>
              <a:ext cx="331809" cy="387927"/>
            </a:xfrm>
            <a:prstGeom prst="verticalScroll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5F25C3B4-02E5-45F3-8AB0-2A058FFD708A}"/>
              </a:ext>
            </a:extLst>
          </p:cNvPr>
          <p:cNvGrpSpPr/>
          <p:nvPr/>
        </p:nvGrpSpPr>
        <p:grpSpPr>
          <a:xfrm>
            <a:off x="7447764" y="5874327"/>
            <a:ext cx="2014891" cy="609600"/>
            <a:chOff x="7447764" y="5874327"/>
            <a:chExt cx="2014891" cy="609600"/>
          </a:xfrm>
        </p:grpSpPr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FA583EE-0D75-404E-8B97-CA5FDABC8721}"/>
                </a:ext>
              </a:extLst>
            </p:cNvPr>
            <p:cNvSpPr/>
            <p:nvPr/>
          </p:nvSpPr>
          <p:spPr>
            <a:xfrm>
              <a:off x="7447764" y="5874327"/>
              <a:ext cx="2014891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«Комедия»</a:t>
              </a:r>
            </a:p>
          </p:txBody>
        </p:sp>
        <p:sp>
          <p:nvSpPr>
            <p:cNvPr id="19" name="Улыбающееся лицо 18">
              <a:extLst>
                <a:ext uri="{FF2B5EF4-FFF2-40B4-BE49-F238E27FC236}">
                  <a16:creationId xmlns:a16="http://schemas.microsoft.com/office/drawing/2014/main" id="{DA997A47-4BF3-40E1-BB82-F02E112A3C3B}"/>
                </a:ext>
              </a:extLst>
            </p:cNvPr>
            <p:cNvSpPr/>
            <p:nvPr/>
          </p:nvSpPr>
          <p:spPr>
            <a:xfrm>
              <a:off x="7630761" y="5985163"/>
              <a:ext cx="401099" cy="396930"/>
            </a:xfrm>
            <a:prstGeom prst="smileyFac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57511EA-075C-46E4-B83B-EBD5AD38600E}"/>
              </a:ext>
            </a:extLst>
          </p:cNvPr>
          <p:cNvGrpSpPr/>
          <p:nvPr/>
        </p:nvGrpSpPr>
        <p:grpSpPr>
          <a:xfrm>
            <a:off x="9616151" y="5874327"/>
            <a:ext cx="2380093" cy="609600"/>
            <a:chOff x="9645652" y="5874327"/>
            <a:chExt cx="2380093" cy="609600"/>
          </a:xfrm>
        </p:grpSpPr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FAA8C0A-59C7-46EF-9C8D-307E384C1601}"/>
                </a:ext>
              </a:extLst>
            </p:cNvPr>
            <p:cNvSpPr/>
            <p:nvPr/>
          </p:nvSpPr>
          <p:spPr>
            <a:xfrm>
              <a:off x="9645652" y="5874327"/>
              <a:ext cx="238009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Фантастическое</a:t>
              </a:r>
            </a:p>
          </p:txBody>
        </p:sp>
        <p:sp>
          <p:nvSpPr>
            <p:cNvPr id="34" name="Звезда: 5 точек 33">
              <a:extLst>
                <a:ext uri="{FF2B5EF4-FFF2-40B4-BE49-F238E27FC236}">
                  <a16:creationId xmlns:a16="http://schemas.microsoft.com/office/drawing/2014/main" id="{0C9CFE3A-FF67-4ADF-92E4-CC33FBACE8E7}"/>
                </a:ext>
              </a:extLst>
            </p:cNvPr>
            <p:cNvSpPr/>
            <p:nvPr/>
          </p:nvSpPr>
          <p:spPr>
            <a:xfrm>
              <a:off x="9707679" y="5945332"/>
              <a:ext cx="401099" cy="402473"/>
            </a:xfrm>
            <a:prstGeom prst="star5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7537779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67EF50-9F81-43DE-8031-D6A928FC8581}"/>
              </a:ext>
            </a:extLst>
          </p:cNvPr>
          <p:cNvSpPr/>
          <p:nvPr/>
        </p:nvSpPr>
        <p:spPr>
          <a:xfrm>
            <a:off x="187035" y="105291"/>
            <a:ext cx="11838709" cy="5135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3C4297-2DE9-4D37-BB45-55E87C049C58}"/>
              </a:ext>
            </a:extLst>
          </p:cNvPr>
          <p:cNvSpPr/>
          <p:nvPr/>
        </p:nvSpPr>
        <p:spPr>
          <a:xfrm>
            <a:off x="0" y="5389418"/>
            <a:ext cx="12192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DB317A-522D-4302-990E-1D2DA9242D03}"/>
              </a:ext>
            </a:extLst>
          </p:cNvPr>
          <p:cNvSpPr/>
          <p:nvPr/>
        </p:nvSpPr>
        <p:spPr>
          <a:xfrm>
            <a:off x="0" y="5435137"/>
            <a:ext cx="12192000" cy="142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AB4204-D37E-412D-9ACF-BDCBD1985363}"/>
              </a:ext>
            </a:extLst>
          </p:cNvPr>
          <p:cNvSpPr/>
          <p:nvPr/>
        </p:nvSpPr>
        <p:spPr>
          <a:xfrm>
            <a:off x="3629891" y="584663"/>
            <a:ext cx="70661" cy="431430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D3A45D-D63E-4556-BAB6-7B88F826B0C1}"/>
              </a:ext>
            </a:extLst>
          </p:cNvPr>
          <p:cNvSpPr/>
          <p:nvPr/>
        </p:nvSpPr>
        <p:spPr>
          <a:xfrm>
            <a:off x="4174663" y="584663"/>
            <a:ext cx="7626309" cy="43795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Вершина творчества Данте является поэма «Комедия», названная потомками «Божественной» (по-видимому, начата в 1307, закончена в 1321, первое печатное изд. 1472). Форма поэмы восходит к традиционному жанру «видения»; она изображает странствие поэта по загробному миру и состоит из трёх частей: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Ад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Чистилище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Рай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84BDAD-DD53-45A9-BDD3-7225D3C17209}"/>
              </a:ext>
            </a:extLst>
          </p:cNvPr>
          <p:cNvSpPr/>
          <p:nvPr/>
        </p:nvSpPr>
        <p:spPr>
          <a:xfrm>
            <a:off x="187035" y="5611091"/>
            <a:ext cx="4287984" cy="1136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500" b="1" dirty="0">
                <a:solidFill>
                  <a:schemeClr val="tx1"/>
                </a:solidFill>
                <a:latin typeface="Book Antiqua" panose="02040602050305030304" pitchFamily="18" charset="0"/>
              </a:rPr>
              <a:t>Творчество</a:t>
            </a:r>
            <a:endParaRPr lang="ru-RU" sz="4500" dirty="0">
              <a:solidFill>
                <a:schemeClr val="tx1"/>
              </a:solidFill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8FCC043-4230-4C48-A12E-7D92AA511930}"/>
              </a:ext>
            </a:extLst>
          </p:cNvPr>
          <p:cNvGrpSpPr/>
          <p:nvPr/>
        </p:nvGrpSpPr>
        <p:grpSpPr>
          <a:xfrm>
            <a:off x="4806828" y="5874327"/>
            <a:ext cx="2452953" cy="609600"/>
            <a:chOff x="4806828" y="5874327"/>
            <a:chExt cx="2452953" cy="609600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4B12899-A086-4337-AD4F-FAC3EBACBFBF}"/>
                </a:ext>
              </a:extLst>
            </p:cNvPr>
            <p:cNvSpPr/>
            <p:nvPr/>
          </p:nvSpPr>
          <p:spPr>
            <a:xfrm>
              <a:off x="4806828" y="5874327"/>
              <a:ext cx="245295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Произведения</a:t>
              </a:r>
            </a:p>
          </p:txBody>
        </p:sp>
        <p:sp>
          <p:nvSpPr>
            <p:cNvPr id="17" name="Свиток: вертикальный 16">
              <a:extLst>
                <a:ext uri="{FF2B5EF4-FFF2-40B4-BE49-F238E27FC236}">
                  <a16:creationId xmlns:a16="http://schemas.microsoft.com/office/drawing/2014/main" id="{4F818EEB-63F1-4CC6-9F2E-6F91314DEE6A}"/>
                </a:ext>
              </a:extLst>
            </p:cNvPr>
            <p:cNvSpPr/>
            <p:nvPr/>
          </p:nvSpPr>
          <p:spPr>
            <a:xfrm>
              <a:off x="4994811" y="5985163"/>
              <a:ext cx="331809" cy="387927"/>
            </a:xfrm>
            <a:prstGeom prst="verticalScroll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5F25C3B4-02E5-45F3-8AB0-2A058FFD708A}"/>
              </a:ext>
            </a:extLst>
          </p:cNvPr>
          <p:cNvGrpSpPr/>
          <p:nvPr/>
        </p:nvGrpSpPr>
        <p:grpSpPr>
          <a:xfrm>
            <a:off x="7447764" y="5874327"/>
            <a:ext cx="2014891" cy="609600"/>
            <a:chOff x="7447764" y="5874327"/>
            <a:chExt cx="2014891" cy="609600"/>
          </a:xfrm>
        </p:grpSpPr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FA583EE-0D75-404E-8B97-CA5FDABC8721}"/>
                </a:ext>
              </a:extLst>
            </p:cNvPr>
            <p:cNvSpPr/>
            <p:nvPr/>
          </p:nvSpPr>
          <p:spPr>
            <a:xfrm>
              <a:off x="7447764" y="5874327"/>
              <a:ext cx="2014891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b="1" u="sng" dirty="0">
                  <a:solidFill>
                    <a:schemeClr val="tx1"/>
                  </a:solidFill>
                </a:rPr>
                <a:t>«Комедия»</a:t>
              </a:r>
            </a:p>
          </p:txBody>
        </p:sp>
        <p:sp>
          <p:nvSpPr>
            <p:cNvPr id="19" name="Улыбающееся лицо 18">
              <a:extLst>
                <a:ext uri="{FF2B5EF4-FFF2-40B4-BE49-F238E27FC236}">
                  <a16:creationId xmlns:a16="http://schemas.microsoft.com/office/drawing/2014/main" id="{DA997A47-4BF3-40E1-BB82-F02E112A3C3B}"/>
                </a:ext>
              </a:extLst>
            </p:cNvPr>
            <p:cNvSpPr/>
            <p:nvPr/>
          </p:nvSpPr>
          <p:spPr>
            <a:xfrm>
              <a:off x="7547631" y="5985163"/>
              <a:ext cx="401099" cy="396930"/>
            </a:xfrm>
            <a:prstGeom prst="smileyFac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57511EA-075C-46E4-B83B-EBD5AD38600E}"/>
              </a:ext>
            </a:extLst>
          </p:cNvPr>
          <p:cNvGrpSpPr/>
          <p:nvPr/>
        </p:nvGrpSpPr>
        <p:grpSpPr>
          <a:xfrm>
            <a:off x="9616151" y="5874327"/>
            <a:ext cx="2380093" cy="609600"/>
            <a:chOff x="9645652" y="5874327"/>
            <a:chExt cx="2380093" cy="609600"/>
          </a:xfrm>
        </p:grpSpPr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FAA8C0A-59C7-46EF-9C8D-307E384C1601}"/>
                </a:ext>
              </a:extLst>
            </p:cNvPr>
            <p:cNvSpPr/>
            <p:nvPr/>
          </p:nvSpPr>
          <p:spPr>
            <a:xfrm>
              <a:off x="9645652" y="5874327"/>
              <a:ext cx="238009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Фантастическое</a:t>
              </a:r>
            </a:p>
          </p:txBody>
        </p:sp>
        <p:sp>
          <p:nvSpPr>
            <p:cNvPr id="34" name="Звезда: 5 точек 33">
              <a:extLst>
                <a:ext uri="{FF2B5EF4-FFF2-40B4-BE49-F238E27FC236}">
                  <a16:creationId xmlns:a16="http://schemas.microsoft.com/office/drawing/2014/main" id="{0C9CFE3A-FF67-4ADF-92E4-CC33FBACE8E7}"/>
                </a:ext>
              </a:extLst>
            </p:cNvPr>
            <p:cNvSpPr/>
            <p:nvPr/>
          </p:nvSpPr>
          <p:spPr>
            <a:xfrm>
              <a:off x="9707679" y="5945332"/>
              <a:ext cx="401099" cy="402473"/>
            </a:xfrm>
            <a:prstGeom prst="star5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89F74A-F437-4DF1-BAEE-0BFCF6DDD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28" y="584661"/>
            <a:ext cx="2764752" cy="431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495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67EF50-9F81-43DE-8031-D6A928FC8581}"/>
              </a:ext>
            </a:extLst>
          </p:cNvPr>
          <p:cNvSpPr/>
          <p:nvPr/>
        </p:nvSpPr>
        <p:spPr>
          <a:xfrm>
            <a:off x="187035" y="105291"/>
            <a:ext cx="11838709" cy="5135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3C4297-2DE9-4D37-BB45-55E87C049C58}"/>
              </a:ext>
            </a:extLst>
          </p:cNvPr>
          <p:cNvSpPr/>
          <p:nvPr/>
        </p:nvSpPr>
        <p:spPr>
          <a:xfrm>
            <a:off x="0" y="5389418"/>
            <a:ext cx="12192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DB317A-522D-4302-990E-1D2DA9242D03}"/>
              </a:ext>
            </a:extLst>
          </p:cNvPr>
          <p:cNvSpPr/>
          <p:nvPr/>
        </p:nvSpPr>
        <p:spPr>
          <a:xfrm>
            <a:off x="0" y="5435137"/>
            <a:ext cx="12192000" cy="142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AB4204-D37E-412D-9ACF-BDCBD1985363}"/>
              </a:ext>
            </a:extLst>
          </p:cNvPr>
          <p:cNvSpPr/>
          <p:nvPr/>
        </p:nvSpPr>
        <p:spPr>
          <a:xfrm>
            <a:off x="3629891" y="584663"/>
            <a:ext cx="70661" cy="431430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D3A45D-D63E-4556-BAB6-7B88F826B0C1}"/>
              </a:ext>
            </a:extLst>
          </p:cNvPr>
          <p:cNvSpPr/>
          <p:nvPr/>
        </p:nvSpPr>
        <p:spPr>
          <a:xfrm>
            <a:off x="4174663" y="584663"/>
            <a:ext cx="7626309" cy="43795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В</a:t>
            </a:r>
            <a:r>
              <a:rPr lang="ru-RU" sz="2400" dirty="0">
                <a:solidFill>
                  <a:schemeClr val="tx1"/>
                </a:solidFill>
              </a:rPr>
              <a:t> тексте поэмы встречаются как простонародные выражения, так и высокопарная лексика литературного языка. Особенность стиля – обилие аллегорических символов, наполненных глубокой смысловой насыщенностью, живописностью, реалистичностью и драматизмом. Все события повествуются от первого лица.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84BDAD-DD53-45A9-BDD3-7225D3C17209}"/>
              </a:ext>
            </a:extLst>
          </p:cNvPr>
          <p:cNvSpPr/>
          <p:nvPr/>
        </p:nvSpPr>
        <p:spPr>
          <a:xfrm>
            <a:off x="187035" y="5611091"/>
            <a:ext cx="4287984" cy="1136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500" b="1" dirty="0">
                <a:solidFill>
                  <a:schemeClr val="tx1"/>
                </a:solidFill>
                <a:latin typeface="Book Antiqua" panose="02040602050305030304" pitchFamily="18" charset="0"/>
              </a:rPr>
              <a:t>Творчество</a:t>
            </a:r>
            <a:endParaRPr lang="ru-RU" sz="4500" dirty="0">
              <a:solidFill>
                <a:schemeClr val="tx1"/>
              </a:solidFill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8FCC043-4230-4C48-A12E-7D92AA511930}"/>
              </a:ext>
            </a:extLst>
          </p:cNvPr>
          <p:cNvGrpSpPr/>
          <p:nvPr/>
        </p:nvGrpSpPr>
        <p:grpSpPr>
          <a:xfrm>
            <a:off x="4806828" y="5874327"/>
            <a:ext cx="2452953" cy="609600"/>
            <a:chOff x="4806828" y="5874327"/>
            <a:chExt cx="2452953" cy="609600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4B12899-A086-4337-AD4F-FAC3EBACBFBF}"/>
                </a:ext>
              </a:extLst>
            </p:cNvPr>
            <p:cNvSpPr/>
            <p:nvPr/>
          </p:nvSpPr>
          <p:spPr>
            <a:xfrm>
              <a:off x="4806828" y="5874327"/>
              <a:ext cx="245295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Произведения</a:t>
              </a:r>
            </a:p>
          </p:txBody>
        </p:sp>
        <p:sp>
          <p:nvSpPr>
            <p:cNvPr id="17" name="Свиток: вертикальный 16">
              <a:extLst>
                <a:ext uri="{FF2B5EF4-FFF2-40B4-BE49-F238E27FC236}">
                  <a16:creationId xmlns:a16="http://schemas.microsoft.com/office/drawing/2014/main" id="{4F818EEB-63F1-4CC6-9F2E-6F91314DEE6A}"/>
                </a:ext>
              </a:extLst>
            </p:cNvPr>
            <p:cNvSpPr/>
            <p:nvPr/>
          </p:nvSpPr>
          <p:spPr>
            <a:xfrm>
              <a:off x="4994811" y="5985163"/>
              <a:ext cx="331809" cy="387927"/>
            </a:xfrm>
            <a:prstGeom prst="verticalScroll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5F25C3B4-02E5-45F3-8AB0-2A058FFD708A}"/>
              </a:ext>
            </a:extLst>
          </p:cNvPr>
          <p:cNvGrpSpPr/>
          <p:nvPr/>
        </p:nvGrpSpPr>
        <p:grpSpPr>
          <a:xfrm>
            <a:off x="7447764" y="5874327"/>
            <a:ext cx="2014891" cy="609600"/>
            <a:chOff x="7447764" y="5874327"/>
            <a:chExt cx="2014891" cy="609600"/>
          </a:xfrm>
        </p:grpSpPr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FA583EE-0D75-404E-8B97-CA5FDABC8721}"/>
                </a:ext>
              </a:extLst>
            </p:cNvPr>
            <p:cNvSpPr/>
            <p:nvPr/>
          </p:nvSpPr>
          <p:spPr>
            <a:xfrm>
              <a:off x="7447764" y="5874327"/>
              <a:ext cx="2014891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b="1" u="sng" dirty="0">
                  <a:solidFill>
                    <a:schemeClr val="tx1"/>
                  </a:solidFill>
                </a:rPr>
                <a:t>«Комедия»</a:t>
              </a:r>
            </a:p>
          </p:txBody>
        </p:sp>
        <p:sp>
          <p:nvSpPr>
            <p:cNvPr id="19" name="Улыбающееся лицо 18">
              <a:extLst>
                <a:ext uri="{FF2B5EF4-FFF2-40B4-BE49-F238E27FC236}">
                  <a16:creationId xmlns:a16="http://schemas.microsoft.com/office/drawing/2014/main" id="{DA997A47-4BF3-40E1-BB82-F02E112A3C3B}"/>
                </a:ext>
              </a:extLst>
            </p:cNvPr>
            <p:cNvSpPr/>
            <p:nvPr/>
          </p:nvSpPr>
          <p:spPr>
            <a:xfrm>
              <a:off x="7547631" y="5985163"/>
              <a:ext cx="401099" cy="396930"/>
            </a:xfrm>
            <a:prstGeom prst="smileyFac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57511EA-075C-46E4-B83B-EBD5AD38600E}"/>
              </a:ext>
            </a:extLst>
          </p:cNvPr>
          <p:cNvGrpSpPr/>
          <p:nvPr/>
        </p:nvGrpSpPr>
        <p:grpSpPr>
          <a:xfrm>
            <a:off x="9616151" y="5874327"/>
            <a:ext cx="2380093" cy="609600"/>
            <a:chOff x="9645652" y="5874327"/>
            <a:chExt cx="2380093" cy="609600"/>
          </a:xfrm>
        </p:grpSpPr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FAA8C0A-59C7-46EF-9C8D-307E384C1601}"/>
                </a:ext>
              </a:extLst>
            </p:cNvPr>
            <p:cNvSpPr/>
            <p:nvPr/>
          </p:nvSpPr>
          <p:spPr>
            <a:xfrm>
              <a:off x="9645652" y="5874327"/>
              <a:ext cx="238009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Фантастическое</a:t>
              </a:r>
            </a:p>
          </p:txBody>
        </p:sp>
        <p:sp>
          <p:nvSpPr>
            <p:cNvPr id="34" name="Звезда: 5 точек 33">
              <a:extLst>
                <a:ext uri="{FF2B5EF4-FFF2-40B4-BE49-F238E27FC236}">
                  <a16:creationId xmlns:a16="http://schemas.microsoft.com/office/drawing/2014/main" id="{0C9CFE3A-FF67-4ADF-92E4-CC33FBACE8E7}"/>
                </a:ext>
              </a:extLst>
            </p:cNvPr>
            <p:cNvSpPr/>
            <p:nvPr/>
          </p:nvSpPr>
          <p:spPr>
            <a:xfrm>
              <a:off x="9707679" y="5945332"/>
              <a:ext cx="401099" cy="402473"/>
            </a:xfrm>
            <a:prstGeom prst="star5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89F74A-F437-4DF1-BAEE-0BFCF6DDD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28" y="584661"/>
            <a:ext cx="2764752" cy="431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198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67EF50-9F81-43DE-8031-D6A928FC8581}"/>
              </a:ext>
            </a:extLst>
          </p:cNvPr>
          <p:cNvSpPr/>
          <p:nvPr/>
        </p:nvSpPr>
        <p:spPr>
          <a:xfrm>
            <a:off x="187035" y="105291"/>
            <a:ext cx="11838709" cy="5135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3C4297-2DE9-4D37-BB45-55E87C049C58}"/>
              </a:ext>
            </a:extLst>
          </p:cNvPr>
          <p:cNvSpPr/>
          <p:nvPr/>
        </p:nvSpPr>
        <p:spPr>
          <a:xfrm>
            <a:off x="0" y="5389418"/>
            <a:ext cx="12192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DB317A-522D-4302-990E-1D2DA9242D03}"/>
              </a:ext>
            </a:extLst>
          </p:cNvPr>
          <p:cNvSpPr/>
          <p:nvPr/>
        </p:nvSpPr>
        <p:spPr>
          <a:xfrm>
            <a:off x="0" y="5435137"/>
            <a:ext cx="12192000" cy="142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AB4204-D37E-412D-9ACF-BDCBD1985363}"/>
              </a:ext>
            </a:extLst>
          </p:cNvPr>
          <p:cNvSpPr/>
          <p:nvPr/>
        </p:nvSpPr>
        <p:spPr>
          <a:xfrm>
            <a:off x="3629891" y="584663"/>
            <a:ext cx="70661" cy="431430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D3A45D-D63E-4556-BAB6-7B88F826B0C1}"/>
              </a:ext>
            </a:extLst>
          </p:cNvPr>
          <p:cNvSpPr/>
          <p:nvPr/>
        </p:nvSpPr>
        <p:spPr>
          <a:xfrm>
            <a:off x="4174663" y="584663"/>
            <a:ext cx="7626309" cy="43795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В</a:t>
            </a:r>
            <a:r>
              <a:rPr lang="ru-RU" sz="2400" dirty="0">
                <a:solidFill>
                  <a:schemeClr val="tx1"/>
                </a:solidFill>
              </a:rPr>
              <a:t> основе сюжета – мистическая история героя, отправившегося после смерти возлюбленной в путешествие по загробному миру, в котором он проходит девять кругов ада, чистилище и сферы рая. В процессе странствия Данте встречает своих современников и знаменитых личностей прошлых эпох со всеми их радостями и печалями, политическими убеждениями и жизненными пристрастиями, и с позиции гуманиста и мудреца даёт моральную оценку совершённых деяний.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84BDAD-DD53-45A9-BDD3-7225D3C17209}"/>
              </a:ext>
            </a:extLst>
          </p:cNvPr>
          <p:cNvSpPr/>
          <p:nvPr/>
        </p:nvSpPr>
        <p:spPr>
          <a:xfrm>
            <a:off x="187035" y="5611091"/>
            <a:ext cx="4287984" cy="1136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500" b="1" dirty="0">
                <a:solidFill>
                  <a:schemeClr val="tx1"/>
                </a:solidFill>
                <a:latin typeface="Book Antiqua" panose="02040602050305030304" pitchFamily="18" charset="0"/>
              </a:rPr>
              <a:t>Творчество</a:t>
            </a:r>
            <a:endParaRPr lang="ru-RU" sz="4500" dirty="0">
              <a:solidFill>
                <a:schemeClr val="tx1"/>
              </a:solidFill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8FCC043-4230-4C48-A12E-7D92AA511930}"/>
              </a:ext>
            </a:extLst>
          </p:cNvPr>
          <p:cNvGrpSpPr/>
          <p:nvPr/>
        </p:nvGrpSpPr>
        <p:grpSpPr>
          <a:xfrm>
            <a:off x="4806828" y="5874327"/>
            <a:ext cx="2452953" cy="609600"/>
            <a:chOff x="4806828" y="5874327"/>
            <a:chExt cx="2452953" cy="609600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4B12899-A086-4337-AD4F-FAC3EBACBFBF}"/>
                </a:ext>
              </a:extLst>
            </p:cNvPr>
            <p:cNvSpPr/>
            <p:nvPr/>
          </p:nvSpPr>
          <p:spPr>
            <a:xfrm>
              <a:off x="4806828" y="5874327"/>
              <a:ext cx="245295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Произведения</a:t>
              </a:r>
            </a:p>
          </p:txBody>
        </p:sp>
        <p:sp>
          <p:nvSpPr>
            <p:cNvPr id="17" name="Свиток: вертикальный 16">
              <a:extLst>
                <a:ext uri="{FF2B5EF4-FFF2-40B4-BE49-F238E27FC236}">
                  <a16:creationId xmlns:a16="http://schemas.microsoft.com/office/drawing/2014/main" id="{4F818EEB-63F1-4CC6-9F2E-6F91314DEE6A}"/>
                </a:ext>
              </a:extLst>
            </p:cNvPr>
            <p:cNvSpPr/>
            <p:nvPr/>
          </p:nvSpPr>
          <p:spPr>
            <a:xfrm>
              <a:off x="4994811" y="5985163"/>
              <a:ext cx="331809" cy="387927"/>
            </a:xfrm>
            <a:prstGeom prst="verticalScroll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5F25C3B4-02E5-45F3-8AB0-2A058FFD708A}"/>
              </a:ext>
            </a:extLst>
          </p:cNvPr>
          <p:cNvGrpSpPr/>
          <p:nvPr/>
        </p:nvGrpSpPr>
        <p:grpSpPr>
          <a:xfrm>
            <a:off x="7447764" y="5874327"/>
            <a:ext cx="2014891" cy="609600"/>
            <a:chOff x="7447764" y="5874327"/>
            <a:chExt cx="2014891" cy="609600"/>
          </a:xfrm>
        </p:grpSpPr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FA583EE-0D75-404E-8B97-CA5FDABC8721}"/>
                </a:ext>
              </a:extLst>
            </p:cNvPr>
            <p:cNvSpPr/>
            <p:nvPr/>
          </p:nvSpPr>
          <p:spPr>
            <a:xfrm>
              <a:off x="7447764" y="5874327"/>
              <a:ext cx="2014891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b="1" u="sng" dirty="0">
                  <a:solidFill>
                    <a:schemeClr val="tx1"/>
                  </a:solidFill>
                </a:rPr>
                <a:t>«Комедия»</a:t>
              </a:r>
            </a:p>
          </p:txBody>
        </p:sp>
        <p:sp>
          <p:nvSpPr>
            <p:cNvPr id="19" name="Улыбающееся лицо 18">
              <a:extLst>
                <a:ext uri="{FF2B5EF4-FFF2-40B4-BE49-F238E27FC236}">
                  <a16:creationId xmlns:a16="http://schemas.microsoft.com/office/drawing/2014/main" id="{DA997A47-4BF3-40E1-BB82-F02E112A3C3B}"/>
                </a:ext>
              </a:extLst>
            </p:cNvPr>
            <p:cNvSpPr/>
            <p:nvPr/>
          </p:nvSpPr>
          <p:spPr>
            <a:xfrm>
              <a:off x="7547631" y="5985163"/>
              <a:ext cx="401099" cy="396930"/>
            </a:xfrm>
            <a:prstGeom prst="smileyFac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57511EA-075C-46E4-B83B-EBD5AD38600E}"/>
              </a:ext>
            </a:extLst>
          </p:cNvPr>
          <p:cNvGrpSpPr/>
          <p:nvPr/>
        </p:nvGrpSpPr>
        <p:grpSpPr>
          <a:xfrm>
            <a:off x="9616151" y="5874327"/>
            <a:ext cx="2380093" cy="609600"/>
            <a:chOff x="9645652" y="5874327"/>
            <a:chExt cx="2380093" cy="609600"/>
          </a:xfrm>
        </p:grpSpPr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FAA8C0A-59C7-46EF-9C8D-307E384C1601}"/>
                </a:ext>
              </a:extLst>
            </p:cNvPr>
            <p:cNvSpPr/>
            <p:nvPr/>
          </p:nvSpPr>
          <p:spPr>
            <a:xfrm>
              <a:off x="9645652" y="5874327"/>
              <a:ext cx="238009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Фантастическое</a:t>
              </a:r>
            </a:p>
          </p:txBody>
        </p:sp>
        <p:sp>
          <p:nvSpPr>
            <p:cNvPr id="34" name="Звезда: 5 точек 33">
              <a:extLst>
                <a:ext uri="{FF2B5EF4-FFF2-40B4-BE49-F238E27FC236}">
                  <a16:creationId xmlns:a16="http://schemas.microsoft.com/office/drawing/2014/main" id="{0C9CFE3A-FF67-4ADF-92E4-CC33FBACE8E7}"/>
                </a:ext>
              </a:extLst>
            </p:cNvPr>
            <p:cNvSpPr/>
            <p:nvPr/>
          </p:nvSpPr>
          <p:spPr>
            <a:xfrm>
              <a:off x="9707679" y="5945332"/>
              <a:ext cx="401099" cy="402473"/>
            </a:xfrm>
            <a:prstGeom prst="star5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89F74A-F437-4DF1-BAEE-0BFCF6DDD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28" y="584661"/>
            <a:ext cx="2764752" cy="431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863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67EF50-9F81-43DE-8031-D6A928FC8581}"/>
              </a:ext>
            </a:extLst>
          </p:cNvPr>
          <p:cNvSpPr/>
          <p:nvPr/>
        </p:nvSpPr>
        <p:spPr>
          <a:xfrm>
            <a:off x="187035" y="105291"/>
            <a:ext cx="11838709" cy="5135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3C4297-2DE9-4D37-BB45-55E87C049C58}"/>
              </a:ext>
            </a:extLst>
          </p:cNvPr>
          <p:cNvSpPr/>
          <p:nvPr/>
        </p:nvSpPr>
        <p:spPr>
          <a:xfrm>
            <a:off x="0" y="5389418"/>
            <a:ext cx="12192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DB317A-522D-4302-990E-1D2DA9242D03}"/>
              </a:ext>
            </a:extLst>
          </p:cNvPr>
          <p:cNvSpPr/>
          <p:nvPr/>
        </p:nvSpPr>
        <p:spPr>
          <a:xfrm>
            <a:off x="0" y="5435137"/>
            <a:ext cx="12192000" cy="142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AB4204-D37E-412D-9ACF-BDCBD1985363}"/>
              </a:ext>
            </a:extLst>
          </p:cNvPr>
          <p:cNvSpPr/>
          <p:nvPr/>
        </p:nvSpPr>
        <p:spPr>
          <a:xfrm>
            <a:off x="3629891" y="584663"/>
            <a:ext cx="70661" cy="431430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D3A45D-D63E-4556-BAB6-7B88F826B0C1}"/>
              </a:ext>
            </a:extLst>
          </p:cNvPr>
          <p:cNvSpPr/>
          <p:nvPr/>
        </p:nvSpPr>
        <p:spPr>
          <a:xfrm>
            <a:off x="4174663" y="584663"/>
            <a:ext cx="7626309" cy="43795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</a:rPr>
              <a:t>- </a:t>
            </a:r>
            <a:r>
              <a:rPr lang="ru-RU" sz="2400" u="sng" dirty="0">
                <a:solidFill>
                  <a:schemeClr val="tx1"/>
                </a:solidFill>
              </a:rPr>
              <a:t>Н</a:t>
            </a:r>
            <a:r>
              <a:rPr lang="ru-RU" sz="2400" dirty="0">
                <a:solidFill>
                  <a:schemeClr val="tx1"/>
                </a:solidFill>
              </a:rPr>
              <a:t>а протяжении нескольких столетий литературоведы по-разному толковали смысл «Божественной комедии», но всегда оставалось неизменным понимание величайшей ценности этого гениального произведения: поэма Алигьери представляет собой настоящую энциклопедию политической, культурной, религиозной и научной жизни средневековья.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84BDAD-DD53-45A9-BDD3-7225D3C17209}"/>
              </a:ext>
            </a:extLst>
          </p:cNvPr>
          <p:cNvSpPr/>
          <p:nvPr/>
        </p:nvSpPr>
        <p:spPr>
          <a:xfrm>
            <a:off x="187035" y="5611091"/>
            <a:ext cx="4287984" cy="1136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500" b="1" dirty="0">
                <a:solidFill>
                  <a:schemeClr val="tx1"/>
                </a:solidFill>
                <a:latin typeface="Book Antiqua" panose="02040602050305030304" pitchFamily="18" charset="0"/>
              </a:rPr>
              <a:t>Творчество</a:t>
            </a:r>
            <a:endParaRPr lang="ru-RU" sz="4500" dirty="0">
              <a:solidFill>
                <a:schemeClr val="tx1"/>
              </a:solidFill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8FCC043-4230-4C48-A12E-7D92AA511930}"/>
              </a:ext>
            </a:extLst>
          </p:cNvPr>
          <p:cNvGrpSpPr/>
          <p:nvPr/>
        </p:nvGrpSpPr>
        <p:grpSpPr>
          <a:xfrm>
            <a:off x="4806828" y="5874327"/>
            <a:ext cx="2452953" cy="609600"/>
            <a:chOff x="4806828" y="5874327"/>
            <a:chExt cx="2452953" cy="609600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4B12899-A086-4337-AD4F-FAC3EBACBFBF}"/>
                </a:ext>
              </a:extLst>
            </p:cNvPr>
            <p:cNvSpPr/>
            <p:nvPr/>
          </p:nvSpPr>
          <p:spPr>
            <a:xfrm>
              <a:off x="4806828" y="5874327"/>
              <a:ext cx="245295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Произведения</a:t>
              </a:r>
            </a:p>
          </p:txBody>
        </p:sp>
        <p:sp>
          <p:nvSpPr>
            <p:cNvPr id="17" name="Свиток: вертикальный 16">
              <a:extLst>
                <a:ext uri="{FF2B5EF4-FFF2-40B4-BE49-F238E27FC236}">
                  <a16:creationId xmlns:a16="http://schemas.microsoft.com/office/drawing/2014/main" id="{4F818EEB-63F1-4CC6-9F2E-6F91314DEE6A}"/>
                </a:ext>
              </a:extLst>
            </p:cNvPr>
            <p:cNvSpPr/>
            <p:nvPr/>
          </p:nvSpPr>
          <p:spPr>
            <a:xfrm>
              <a:off x="4994811" y="5985163"/>
              <a:ext cx="331809" cy="387927"/>
            </a:xfrm>
            <a:prstGeom prst="verticalScroll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5F25C3B4-02E5-45F3-8AB0-2A058FFD708A}"/>
              </a:ext>
            </a:extLst>
          </p:cNvPr>
          <p:cNvGrpSpPr/>
          <p:nvPr/>
        </p:nvGrpSpPr>
        <p:grpSpPr>
          <a:xfrm>
            <a:off x="7447764" y="5874327"/>
            <a:ext cx="2014891" cy="609600"/>
            <a:chOff x="7447764" y="5874327"/>
            <a:chExt cx="2014891" cy="609600"/>
          </a:xfrm>
        </p:grpSpPr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FA583EE-0D75-404E-8B97-CA5FDABC8721}"/>
                </a:ext>
              </a:extLst>
            </p:cNvPr>
            <p:cNvSpPr/>
            <p:nvPr/>
          </p:nvSpPr>
          <p:spPr>
            <a:xfrm>
              <a:off x="7447764" y="5874327"/>
              <a:ext cx="2014891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b="1" u="sng" dirty="0">
                  <a:solidFill>
                    <a:schemeClr val="tx1"/>
                  </a:solidFill>
                </a:rPr>
                <a:t>«Комедия»</a:t>
              </a:r>
            </a:p>
          </p:txBody>
        </p:sp>
        <p:sp>
          <p:nvSpPr>
            <p:cNvPr id="19" name="Улыбающееся лицо 18">
              <a:extLst>
                <a:ext uri="{FF2B5EF4-FFF2-40B4-BE49-F238E27FC236}">
                  <a16:creationId xmlns:a16="http://schemas.microsoft.com/office/drawing/2014/main" id="{DA997A47-4BF3-40E1-BB82-F02E112A3C3B}"/>
                </a:ext>
              </a:extLst>
            </p:cNvPr>
            <p:cNvSpPr/>
            <p:nvPr/>
          </p:nvSpPr>
          <p:spPr>
            <a:xfrm>
              <a:off x="7547631" y="5985163"/>
              <a:ext cx="401099" cy="396930"/>
            </a:xfrm>
            <a:prstGeom prst="smileyFac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57511EA-075C-46E4-B83B-EBD5AD38600E}"/>
              </a:ext>
            </a:extLst>
          </p:cNvPr>
          <p:cNvGrpSpPr/>
          <p:nvPr/>
        </p:nvGrpSpPr>
        <p:grpSpPr>
          <a:xfrm>
            <a:off x="9616151" y="5874327"/>
            <a:ext cx="2380093" cy="609600"/>
            <a:chOff x="9645652" y="5874327"/>
            <a:chExt cx="2380093" cy="609600"/>
          </a:xfrm>
        </p:grpSpPr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FAA8C0A-59C7-46EF-9C8D-307E384C1601}"/>
                </a:ext>
              </a:extLst>
            </p:cNvPr>
            <p:cNvSpPr/>
            <p:nvPr/>
          </p:nvSpPr>
          <p:spPr>
            <a:xfrm>
              <a:off x="9645652" y="5874327"/>
              <a:ext cx="238009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Фантастическое</a:t>
              </a:r>
            </a:p>
          </p:txBody>
        </p:sp>
        <p:sp>
          <p:nvSpPr>
            <p:cNvPr id="34" name="Звезда: 5 точек 33">
              <a:extLst>
                <a:ext uri="{FF2B5EF4-FFF2-40B4-BE49-F238E27FC236}">
                  <a16:creationId xmlns:a16="http://schemas.microsoft.com/office/drawing/2014/main" id="{0C9CFE3A-FF67-4ADF-92E4-CC33FBACE8E7}"/>
                </a:ext>
              </a:extLst>
            </p:cNvPr>
            <p:cNvSpPr/>
            <p:nvPr/>
          </p:nvSpPr>
          <p:spPr>
            <a:xfrm>
              <a:off x="9707679" y="5945332"/>
              <a:ext cx="401099" cy="402473"/>
            </a:xfrm>
            <a:prstGeom prst="star5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89F74A-F437-4DF1-BAEE-0BFCF6DDD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28" y="584661"/>
            <a:ext cx="2764752" cy="431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418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67EF50-9F81-43DE-8031-D6A928FC8581}"/>
              </a:ext>
            </a:extLst>
          </p:cNvPr>
          <p:cNvSpPr/>
          <p:nvPr/>
        </p:nvSpPr>
        <p:spPr>
          <a:xfrm>
            <a:off x="187035" y="105291"/>
            <a:ext cx="11838709" cy="5135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3C4297-2DE9-4D37-BB45-55E87C049C58}"/>
              </a:ext>
            </a:extLst>
          </p:cNvPr>
          <p:cNvSpPr/>
          <p:nvPr/>
        </p:nvSpPr>
        <p:spPr>
          <a:xfrm>
            <a:off x="0" y="5389418"/>
            <a:ext cx="12192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DB317A-522D-4302-990E-1D2DA9242D03}"/>
              </a:ext>
            </a:extLst>
          </p:cNvPr>
          <p:cNvSpPr/>
          <p:nvPr/>
        </p:nvSpPr>
        <p:spPr>
          <a:xfrm>
            <a:off x="0" y="5435137"/>
            <a:ext cx="12192000" cy="142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AB4204-D37E-412D-9ACF-BDCBD1985363}"/>
              </a:ext>
            </a:extLst>
          </p:cNvPr>
          <p:cNvSpPr/>
          <p:nvPr/>
        </p:nvSpPr>
        <p:spPr>
          <a:xfrm>
            <a:off x="4558144" y="584663"/>
            <a:ext cx="70661" cy="431430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D3A45D-D63E-4556-BAB6-7B88F826B0C1}"/>
              </a:ext>
            </a:extLst>
          </p:cNvPr>
          <p:cNvSpPr/>
          <p:nvPr/>
        </p:nvSpPr>
        <p:spPr>
          <a:xfrm>
            <a:off x="4864761" y="584663"/>
            <a:ext cx="6936211" cy="43795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100" dirty="0">
                <a:solidFill>
                  <a:schemeClr val="tx1"/>
                </a:solidFill>
              </a:rPr>
              <a:t>- </a:t>
            </a:r>
            <a:r>
              <a:rPr lang="ru-RU" sz="2100" u="sng" dirty="0">
                <a:solidFill>
                  <a:schemeClr val="tx1"/>
                </a:solidFill>
              </a:rPr>
              <a:t>Ф</a:t>
            </a:r>
            <a:r>
              <a:rPr lang="ru-RU" sz="2100" dirty="0">
                <a:solidFill>
                  <a:schemeClr val="tx1"/>
                </a:solidFill>
              </a:rPr>
              <a:t>антастические элементы можно усмотреть, прежде всего, в «Божественной комедии», в которой Данте разрабатывает и детализирует христианский миф о загробном мире. Своё видение ада, рая и чистилища Данте строил из кусков реальной жизни. Поэт помещает известных ему деятелей Средневековья в обстановку описываемого мира, в тексте чётко просматриваются параллели с определёнными областями Италии. Однако поэт обрамляет реальных людей, реальные места мистическим антуражем загробного мира и необычными существами, смешивая христианскую и античную мифологию, как то демоны (Минос, </a:t>
            </a:r>
            <a:r>
              <a:rPr lang="ru-RU" sz="2100" dirty="0" err="1">
                <a:solidFill>
                  <a:schemeClr val="tx1"/>
                </a:solidFill>
              </a:rPr>
              <a:t>Флегий</a:t>
            </a:r>
            <a:r>
              <a:rPr lang="ru-RU" sz="2100" dirty="0">
                <a:solidFill>
                  <a:schemeClr val="tx1"/>
                </a:solidFill>
              </a:rPr>
              <a:t>), пёс Цербер, адские фурии, кентавр Несс, Люцифер, ангелы.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84BDAD-DD53-45A9-BDD3-7225D3C17209}"/>
              </a:ext>
            </a:extLst>
          </p:cNvPr>
          <p:cNvSpPr/>
          <p:nvPr/>
        </p:nvSpPr>
        <p:spPr>
          <a:xfrm>
            <a:off x="187035" y="5611091"/>
            <a:ext cx="4287984" cy="1136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500" b="1" dirty="0">
                <a:solidFill>
                  <a:schemeClr val="tx1"/>
                </a:solidFill>
                <a:latin typeface="Book Antiqua" panose="02040602050305030304" pitchFamily="18" charset="0"/>
              </a:rPr>
              <a:t>Творчество</a:t>
            </a:r>
            <a:endParaRPr lang="ru-RU" sz="4500" dirty="0">
              <a:solidFill>
                <a:schemeClr val="tx1"/>
              </a:solidFill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8FCC043-4230-4C48-A12E-7D92AA511930}"/>
              </a:ext>
            </a:extLst>
          </p:cNvPr>
          <p:cNvGrpSpPr/>
          <p:nvPr/>
        </p:nvGrpSpPr>
        <p:grpSpPr>
          <a:xfrm>
            <a:off x="4806828" y="5874327"/>
            <a:ext cx="2452953" cy="609600"/>
            <a:chOff x="4806828" y="5874327"/>
            <a:chExt cx="2452953" cy="609600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4B12899-A086-4337-AD4F-FAC3EBACBFBF}"/>
                </a:ext>
              </a:extLst>
            </p:cNvPr>
            <p:cNvSpPr/>
            <p:nvPr/>
          </p:nvSpPr>
          <p:spPr>
            <a:xfrm>
              <a:off x="4806828" y="5874327"/>
              <a:ext cx="245295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Произведения</a:t>
              </a:r>
            </a:p>
          </p:txBody>
        </p:sp>
        <p:sp>
          <p:nvSpPr>
            <p:cNvPr id="17" name="Свиток: вертикальный 16">
              <a:extLst>
                <a:ext uri="{FF2B5EF4-FFF2-40B4-BE49-F238E27FC236}">
                  <a16:creationId xmlns:a16="http://schemas.microsoft.com/office/drawing/2014/main" id="{4F818EEB-63F1-4CC6-9F2E-6F91314DEE6A}"/>
                </a:ext>
              </a:extLst>
            </p:cNvPr>
            <p:cNvSpPr/>
            <p:nvPr/>
          </p:nvSpPr>
          <p:spPr>
            <a:xfrm>
              <a:off x="4994811" y="5985163"/>
              <a:ext cx="331809" cy="387927"/>
            </a:xfrm>
            <a:prstGeom prst="verticalScroll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5F25C3B4-02E5-45F3-8AB0-2A058FFD708A}"/>
              </a:ext>
            </a:extLst>
          </p:cNvPr>
          <p:cNvGrpSpPr/>
          <p:nvPr/>
        </p:nvGrpSpPr>
        <p:grpSpPr>
          <a:xfrm>
            <a:off x="7350779" y="5874327"/>
            <a:ext cx="2014891" cy="609600"/>
            <a:chOff x="7350779" y="5874327"/>
            <a:chExt cx="2014891" cy="609600"/>
          </a:xfrm>
        </p:grpSpPr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FA583EE-0D75-404E-8B97-CA5FDABC8721}"/>
                </a:ext>
              </a:extLst>
            </p:cNvPr>
            <p:cNvSpPr/>
            <p:nvPr/>
          </p:nvSpPr>
          <p:spPr>
            <a:xfrm>
              <a:off x="7350779" y="5874327"/>
              <a:ext cx="2014891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«Комедия»</a:t>
              </a:r>
            </a:p>
          </p:txBody>
        </p:sp>
        <p:sp>
          <p:nvSpPr>
            <p:cNvPr id="19" name="Улыбающееся лицо 18">
              <a:extLst>
                <a:ext uri="{FF2B5EF4-FFF2-40B4-BE49-F238E27FC236}">
                  <a16:creationId xmlns:a16="http://schemas.microsoft.com/office/drawing/2014/main" id="{DA997A47-4BF3-40E1-BB82-F02E112A3C3B}"/>
                </a:ext>
              </a:extLst>
            </p:cNvPr>
            <p:cNvSpPr/>
            <p:nvPr/>
          </p:nvSpPr>
          <p:spPr>
            <a:xfrm>
              <a:off x="7547631" y="5985163"/>
              <a:ext cx="401099" cy="396930"/>
            </a:xfrm>
            <a:prstGeom prst="smileyFac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57511EA-075C-46E4-B83B-EBD5AD38600E}"/>
              </a:ext>
            </a:extLst>
          </p:cNvPr>
          <p:cNvGrpSpPr/>
          <p:nvPr/>
        </p:nvGrpSpPr>
        <p:grpSpPr>
          <a:xfrm>
            <a:off x="9608903" y="5874327"/>
            <a:ext cx="2387341" cy="609600"/>
            <a:chOff x="9638404" y="5874327"/>
            <a:chExt cx="2387341" cy="609600"/>
          </a:xfrm>
        </p:grpSpPr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FAA8C0A-59C7-46EF-9C8D-307E384C1601}"/>
                </a:ext>
              </a:extLst>
            </p:cNvPr>
            <p:cNvSpPr/>
            <p:nvPr/>
          </p:nvSpPr>
          <p:spPr>
            <a:xfrm>
              <a:off x="9645652" y="5874327"/>
              <a:ext cx="238009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b="1" u="sng" dirty="0">
                  <a:solidFill>
                    <a:schemeClr val="tx1"/>
                  </a:solidFill>
                </a:rPr>
                <a:t>Фантастическое</a:t>
              </a:r>
            </a:p>
          </p:txBody>
        </p:sp>
        <p:sp>
          <p:nvSpPr>
            <p:cNvPr id="34" name="Звезда: 5 точек 33">
              <a:extLst>
                <a:ext uri="{FF2B5EF4-FFF2-40B4-BE49-F238E27FC236}">
                  <a16:creationId xmlns:a16="http://schemas.microsoft.com/office/drawing/2014/main" id="{0C9CFE3A-FF67-4ADF-92E4-CC33FBACE8E7}"/>
                </a:ext>
              </a:extLst>
            </p:cNvPr>
            <p:cNvSpPr/>
            <p:nvPr/>
          </p:nvSpPr>
          <p:spPr>
            <a:xfrm>
              <a:off x="9638404" y="5945332"/>
              <a:ext cx="401099" cy="402473"/>
            </a:xfrm>
            <a:prstGeom prst="star5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9B81102-B330-4A0C-B080-5675AEA0E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07" y="1388830"/>
            <a:ext cx="4004081" cy="300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81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67EF50-9F81-43DE-8031-D6A928FC8581}"/>
              </a:ext>
            </a:extLst>
          </p:cNvPr>
          <p:cNvSpPr/>
          <p:nvPr/>
        </p:nvSpPr>
        <p:spPr>
          <a:xfrm>
            <a:off x="187035" y="105291"/>
            <a:ext cx="11838709" cy="51358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3C4297-2DE9-4D37-BB45-55E87C049C58}"/>
              </a:ext>
            </a:extLst>
          </p:cNvPr>
          <p:cNvSpPr/>
          <p:nvPr/>
        </p:nvSpPr>
        <p:spPr>
          <a:xfrm>
            <a:off x="0" y="5389418"/>
            <a:ext cx="12192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DB317A-522D-4302-990E-1D2DA9242D03}"/>
              </a:ext>
            </a:extLst>
          </p:cNvPr>
          <p:cNvSpPr/>
          <p:nvPr/>
        </p:nvSpPr>
        <p:spPr>
          <a:xfrm>
            <a:off x="0" y="5435137"/>
            <a:ext cx="12192000" cy="142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</a:rPr>
              <a:t>КОНЕЦ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AB4204-D37E-412D-9ACF-BDCBD1985363}"/>
              </a:ext>
            </a:extLst>
          </p:cNvPr>
          <p:cNvSpPr/>
          <p:nvPr/>
        </p:nvSpPr>
        <p:spPr>
          <a:xfrm rot="5400000">
            <a:off x="6060669" y="768538"/>
            <a:ext cx="70661" cy="431430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8D3A45D-D63E-4556-BAB6-7B88F826B0C1}"/>
              </a:ext>
            </a:extLst>
          </p:cNvPr>
          <p:cNvSpPr/>
          <p:nvPr/>
        </p:nvSpPr>
        <p:spPr>
          <a:xfrm>
            <a:off x="12408561" y="584663"/>
            <a:ext cx="6936211" cy="43795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100" dirty="0">
                <a:solidFill>
                  <a:schemeClr val="tx1"/>
                </a:solidFill>
              </a:rPr>
              <a:t>- </a:t>
            </a:r>
            <a:r>
              <a:rPr lang="ru-RU" sz="2100" u="sng" dirty="0">
                <a:solidFill>
                  <a:schemeClr val="tx1"/>
                </a:solidFill>
              </a:rPr>
              <a:t>Ф</a:t>
            </a:r>
            <a:r>
              <a:rPr lang="ru-RU" sz="2100" dirty="0">
                <a:solidFill>
                  <a:schemeClr val="tx1"/>
                </a:solidFill>
              </a:rPr>
              <a:t>антастические элементы можно усмотреть, прежде всего, в «Божественной комедии», в которой Данте разрабатывает и детализирует христианский миф о загробном мире. Своё видение ада, рая и чистилища Данте строил из кусков реальной жизни. Поэт помещает известных ему деятелей Средневековья в обстановку описываемого мира, в тексте чётко просматриваются параллели с определёнными областями Италии. Однако поэт обрамляет реальных людей, реальные места мистическим антуражем загробного мира и необычными существами, смешивая христианскую и античную мифологию, как то демоны (Минос, </a:t>
            </a:r>
            <a:r>
              <a:rPr lang="ru-RU" sz="2100" dirty="0" err="1">
                <a:solidFill>
                  <a:schemeClr val="tx1"/>
                </a:solidFill>
              </a:rPr>
              <a:t>Флегий</a:t>
            </a:r>
            <a:r>
              <a:rPr lang="ru-RU" sz="2100" dirty="0">
                <a:solidFill>
                  <a:schemeClr val="tx1"/>
                </a:solidFill>
              </a:rPr>
              <a:t>), пёс Цербер, адские фурии, кентавр Несс, Люцифер, ангелы.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84BDAD-DD53-45A9-BDD3-7225D3C17209}"/>
              </a:ext>
            </a:extLst>
          </p:cNvPr>
          <p:cNvSpPr/>
          <p:nvPr/>
        </p:nvSpPr>
        <p:spPr>
          <a:xfrm>
            <a:off x="-4384965" y="5611091"/>
            <a:ext cx="4287984" cy="1136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500" b="1" dirty="0">
                <a:solidFill>
                  <a:schemeClr val="tx1"/>
                </a:solidFill>
                <a:latin typeface="Book Antiqua" panose="02040602050305030304" pitchFamily="18" charset="0"/>
              </a:rPr>
              <a:t>Творчество</a:t>
            </a:r>
            <a:endParaRPr lang="ru-RU" sz="4500" dirty="0">
              <a:solidFill>
                <a:schemeClr val="tx1"/>
              </a:solidFill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8FCC043-4230-4C48-A12E-7D92AA511930}"/>
              </a:ext>
            </a:extLst>
          </p:cNvPr>
          <p:cNvGrpSpPr/>
          <p:nvPr/>
        </p:nvGrpSpPr>
        <p:grpSpPr>
          <a:xfrm>
            <a:off x="4806828" y="8750877"/>
            <a:ext cx="2452953" cy="609600"/>
            <a:chOff x="4806828" y="5874327"/>
            <a:chExt cx="2452953" cy="609600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4B12899-A086-4337-AD4F-FAC3EBACBFBF}"/>
                </a:ext>
              </a:extLst>
            </p:cNvPr>
            <p:cNvSpPr/>
            <p:nvPr/>
          </p:nvSpPr>
          <p:spPr>
            <a:xfrm>
              <a:off x="4806828" y="5874327"/>
              <a:ext cx="245295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Произведения</a:t>
              </a:r>
            </a:p>
          </p:txBody>
        </p:sp>
        <p:sp>
          <p:nvSpPr>
            <p:cNvPr id="17" name="Свиток: вертикальный 16">
              <a:extLst>
                <a:ext uri="{FF2B5EF4-FFF2-40B4-BE49-F238E27FC236}">
                  <a16:creationId xmlns:a16="http://schemas.microsoft.com/office/drawing/2014/main" id="{4F818EEB-63F1-4CC6-9F2E-6F91314DEE6A}"/>
                </a:ext>
              </a:extLst>
            </p:cNvPr>
            <p:cNvSpPr/>
            <p:nvPr/>
          </p:nvSpPr>
          <p:spPr>
            <a:xfrm>
              <a:off x="4994811" y="5985163"/>
              <a:ext cx="331809" cy="387927"/>
            </a:xfrm>
            <a:prstGeom prst="verticalScroll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5F25C3B4-02E5-45F3-8AB0-2A058FFD708A}"/>
              </a:ext>
            </a:extLst>
          </p:cNvPr>
          <p:cNvGrpSpPr/>
          <p:nvPr/>
        </p:nvGrpSpPr>
        <p:grpSpPr>
          <a:xfrm>
            <a:off x="7350779" y="7882197"/>
            <a:ext cx="2014891" cy="670560"/>
            <a:chOff x="7350779" y="5874327"/>
            <a:chExt cx="2014891" cy="609600"/>
          </a:xfrm>
        </p:grpSpPr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2FA583EE-0D75-404E-8B97-CA5FDABC8721}"/>
                </a:ext>
              </a:extLst>
            </p:cNvPr>
            <p:cNvSpPr/>
            <p:nvPr/>
          </p:nvSpPr>
          <p:spPr>
            <a:xfrm>
              <a:off x="7350779" y="5874327"/>
              <a:ext cx="2014891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000" dirty="0">
                  <a:solidFill>
                    <a:schemeClr val="tx1"/>
                  </a:solidFill>
                </a:rPr>
                <a:t>«Комедия»</a:t>
              </a:r>
            </a:p>
          </p:txBody>
        </p:sp>
        <p:sp>
          <p:nvSpPr>
            <p:cNvPr id="19" name="Улыбающееся лицо 18">
              <a:extLst>
                <a:ext uri="{FF2B5EF4-FFF2-40B4-BE49-F238E27FC236}">
                  <a16:creationId xmlns:a16="http://schemas.microsoft.com/office/drawing/2014/main" id="{DA997A47-4BF3-40E1-BB82-F02E112A3C3B}"/>
                </a:ext>
              </a:extLst>
            </p:cNvPr>
            <p:cNvSpPr/>
            <p:nvPr/>
          </p:nvSpPr>
          <p:spPr>
            <a:xfrm>
              <a:off x="7547631" y="5985163"/>
              <a:ext cx="401099" cy="396930"/>
            </a:xfrm>
            <a:prstGeom prst="smileyFac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57511EA-075C-46E4-B83B-EBD5AD38600E}"/>
              </a:ext>
            </a:extLst>
          </p:cNvPr>
          <p:cNvGrpSpPr/>
          <p:nvPr/>
        </p:nvGrpSpPr>
        <p:grpSpPr>
          <a:xfrm>
            <a:off x="9608903" y="7036377"/>
            <a:ext cx="2387341" cy="609600"/>
            <a:chOff x="9638404" y="5874327"/>
            <a:chExt cx="2387341" cy="609600"/>
          </a:xfrm>
        </p:grpSpPr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EFAA8C0A-59C7-46EF-9C8D-307E384C1601}"/>
                </a:ext>
              </a:extLst>
            </p:cNvPr>
            <p:cNvSpPr/>
            <p:nvPr/>
          </p:nvSpPr>
          <p:spPr>
            <a:xfrm>
              <a:off x="9645652" y="5874327"/>
              <a:ext cx="2380093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ru-RU" sz="2100" b="1" u="sng" dirty="0">
                  <a:solidFill>
                    <a:schemeClr val="tx1"/>
                  </a:solidFill>
                </a:rPr>
                <a:t>Фантастическое</a:t>
              </a:r>
            </a:p>
          </p:txBody>
        </p:sp>
        <p:sp>
          <p:nvSpPr>
            <p:cNvPr id="34" name="Звезда: 5 точек 33">
              <a:extLst>
                <a:ext uri="{FF2B5EF4-FFF2-40B4-BE49-F238E27FC236}">
                  <a16:creationId xmlns:a16="http://schemas.microsoft.com/office/drawing/2014/main" id="{0C9CFE3A-FF67-4ADF-92E4-CC33FBACE8E7}"/>
                </a:ext>
              </a:extLst>
            </p:cNvPr>
            <p:cNvSpPr/>
            <p:nvPr/>
          </p:nvSpPr>
          <p:spPr>
            <a:xfrm>
              <a:off x="9638404" y="5945332"/>
              <a:ext cx="401099" cy="402473"/>
            </a:xfrm>
            <a:prstGeom prst="star5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9B81102-B330-4A0C-B080-5675AEA0E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68193" y="1388830"/>
            <a:ext cx="4004081" cy="3003061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CF4E444-6AB9-4389-BDA5-2DAC73B25D52}"/>
              </a:ext>
            </a:extLst>
          </p:cNvPr>
          <p:cNvSpPr/>
          <p:nvPr/>
        </p:nvSpPr>
        <p:spPr>
          <a:xfrm>
            <a:off x="3938846" y="1943100"/>
            <a:ext cx="4314307" cy="7688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000" dirty="0">
                <a:solidFill>
                  <a:schemeClr val="tx1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5885450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832</Words>
  <Application>Microsoft Office PowerPoint</Application>
  <PresentationFormat>Широкоэкранный</PresentationFormat>
  <Paragraphs>73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Book Antiqua</vt:lpstr>
      <vt:lpstr>Calibri</vt:lpstr>
      <vt:lpstr>Calibri Light</vt:lpstr>
      <vt:lpstr>Тема Office</vt:lpstr>
      <vt:lpstr>Данте Алигьери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vionar</dc:creator>
  <cp:lastModifiedBy>vionar</cp:lastModifiedBy>
  <cp:revision>12</cp:revision>
  <dcterms:created xsi:type="dcterms:W3CDTF">2021-12-19T21:30:36Z</dcterms:created>
  <dcterms:modified xsi:type="dcterms:W3CDTF">2021-12-19T23:33:50Z</dcterms:modified>
</cp:coreProperties>
</file>