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34" userDrawn="1">
          <p15:clr>
            <a:srgbClr val="A4A3A4"/>
          </p15:clr>
        </p15:guide>
        <p15:guide id="3" pos="7446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FF6D"/>
    <a:srgbClr val="D6FA00"/>
    <a:srgbClr val="B2D000"/>
    <a:srgbClr val="3E2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1710" y="60"/>
      </p:cViewPr>
      <p:guideLst>
        <p:guide pos="234"/>
        <p:guide pos="744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B1A54-E863-4B60-956C-EAF3DC158B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B3B9EEE-34E6-47E2-92DE-7CED8C8677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486CDE-994A-4416-8072-E5D1B4860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B45D6-3440-479D-854D-58622156A22E}" type="datetimeFigureOut">
              <a:rPr lang="ru-RU" smtClean="0"/>
              <a:t>05.11.2021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737D14-43B8-44CB-BE0C-0BB8AB666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AC7450-EC1D-415B-AC3C-A6368C373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F2D6-2E13-4A58-BF28-94834A2C71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1255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84EF02-D66C-4CF7-B9DB-B7DEA93B6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39E2AA-74E0-4FF0-B83B-34E0C6C17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EC6A97-3F4F-4EE7-9EB1-FE2D0A00B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B45D6-3440-479D-854D-58622156A22E}" type="datetimeFigureOut">
              <a:rPr lang="ru-RU" smtClean="0"/>
              <a:t>05.11.2021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624F84-7502-4F74-8BC4-63D5534FA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3DFA90-7324-4D17-AD51-FCD260489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F2D6-2E13-4A58-BF28-94834A2C71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7886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D0711E-58D2-4A70-AE71-72B677664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FB36FCC-F102-40BF-9BF8-81F0DF2D6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977425-2B02-4DCE-BAB7-EFD754BBE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B45D6-3440-479D-854D-58622156A22E}" type="datetimeFigureOut">
              <a:rPr lang="ru-RU" smtClean="0"/>
              <a:t>05.11.2021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6773D7-07BC-432A-AAFC-20E49CFA2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ED59BE-B74B-431C-B525-43A2167AF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F2D6-2E13-4A58-BF28-94834A2C71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2622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F81D98-D2DE-4AFC-8308-0D936339E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530069-93FE-4A65-94C5-DDAB71D83A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6528F54-8BD1-42B1-902A-82AFA7EBD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7AA5D5F-9556-4718-AAB5-4E9117C55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B45D6-3440-479D-854D-58622156A22E}" type="datetimeFigureOut">
              <a:rPr lang="ru-RU" smtClean="0"/>
              <a:t>05.11.2021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CCF9FCA-C543-4017-8012-766D50AE7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0F89F8E-2405-4EB7-87C1-49BE0C7DE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F2D6-2E13-4A58-BF28-94834A2C71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5048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48DF4-1755-44DA-9D3D-1C9C6F826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EB26BB5-A4F8-424E-A6B1-24CEE5701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205532A-6FE1-4705-B6B5-0D0D7B6FDA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550EDDC-5A1E-474F-8696-2E7C197E34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126169C-9EB4-4E53-9FF4-1F46AB4F2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49E10F6-6B5D-4651-858E-F90C3B17E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B45D6-3440-479D-854D-58622156A22E}" type="datetimeFigureOut">
              <a:rPr lang="ru-RU" smtClean="0"/>
              <a:t>05.11.2021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413F697-8874-4CD6-96E2-81CDCE89C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78C6DF9-E6A3-4909-B6E5-1BCED3C1E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F2D6-2E13-4A58-BF28-94834A2C71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3961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FA4C5B-ECB2-43B3-A333-40E36315A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83C45AC-5132-4A94-ABF2-71C8DAD41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B45D6-3440-479D-854D-58622156A22E}" type="datetimeFigureOut">
              <a:rPr lang="ru-RU" smtClean="0"/>
              <a:t>05.11.2021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E59EE8B-E1F4-4355-9BFE-68E12B13B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49D7D28-2749-43D6-A274-881216F78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F2D6-2E13-4A58-BF28-94834A2C71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9232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C8CF2EE-A256-4EDD-B137-45082179F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B45D6-3440-479D-854D-58622156A22E}" type="datetimeFigureOut">
              <a:rPr lang="ru-RU" smtClean="0"/>
              <a:t>05.11.2021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DDED1BA-71DB-4937-BFF9-8625F4EB8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7D063AF-8F46-4F73-9179-F174274F2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F2D6-2E13-4A58-BF28-94834A2C71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8896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C3E92F-3D99-4518-AC62-0E1BA2CC3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F9EA68-9507-4A85-BA50-54A2992BD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8862415-455B-481A-8B81-4FB818296E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B29818D-13B0-4157-9A5F-75FC161D4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B45D6-3440-479D-854D-58622156A22E}" type="datetimeFigureOut">
              <a:rPr lang="ru-RU" smtClean="0"/>
              <a:t>05.11.2021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D8D09E9-7D4E-44B0-933E-028BC9F54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96D9132-16D7-4B8C-8B63-44E4880DE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F2D6-2E13-4A58-BF28-94834A2C71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9098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F9D298-66E8-4CEB-9D0F-C353BF58A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C755FE3-3180-467C-9099-64F7FF296F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689F8FE-C215-40E1-BAA0-12D1B9625E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A09B707-5C95-4291-8551-87C9939E7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B45D6-3440-479D-854D-58622156A22E}" type="datetimeFigureOut">
              <a:rPr lang="ru-RU" smtClean="0"/>
              <a:t>05.11.2021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0BFD1B2-C1FE-4FB0-B657-A5B879437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763B1A4-D0D9-4C23-A20A-67AA4D22B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F2D6-2E13-4A58-BF28-94834A2C71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0860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76042F-6B9F-47D3-A8E7-9DF80351F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0C6F9EF-F6A5-4422-A386-D74AEEDAC3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4E2FBE-EC49-4B43-BFF9-731E68319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B45D6-3440-479D-854D-58622156A22E}" type="datetimeFigureOut">
              <a:rPr lang="ru-RU" smtClean="0"/>
              <a:t>05.11.2021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4C1908-E7C2-42BC-9A72-D6881A8DA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24CDF8-9FAD-43DF-B808-E91F792F8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F2D6-2E13-4A58-BF28-94834A2C71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1990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4ADD062-EE02-41B5-9B0F-82B10B30EB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3D746E4-4021-420A-B2A9-95BD06A6F6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368EED-6CB9-4180-B8B3-B7D21A000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B45D6-3440-479D-854D-58622156A22E}" type="datetimeFigureOut">
              <a:rPr lang="ru-RU" smtClean="0"/>
              <a:t>05.11.2021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103042-6CCE-4227-A768-633C479FD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F5EBB7-5696-4EB3-B55E-B60FC5999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F2D6-2E13-4A58-BF28-94834A2C71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1284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FE0F8D-55DC-41FF-A7DA-6CD8C70FE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FE51812-CE0D-41DF-834A-6F51D773B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93741E-00FE-4432-8EAF-EC52DE78B1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4B45D6-3440-479D-854D-58622156A22E}" type="datetimeFigureOut">
              <a:rPr lang="ru-RU" smtClean="0"/>
              <a:t>05.11.2021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9481AC-8466-4BBD-B842-C76CD5A9A8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741CF4-FE81-44F2-8CA7-7015F37889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5F2D6-2E13-4A58-BF28-94834A2C71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8808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6EA536-E2E2-4276-8A1B-79B688714E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3055" y="1579417"/>
            <a:ext cx="9725891" cy="1029999"/>
          </a:xfrm>
        </p:spPr>
        <p:txBody>
          <a:bodyPr>
            <a:norm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Тит Ма́кций Плавт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50513859-944D-41DE-B4ED-207B844B0F05}"/>
              </a:ext>
            </a:extLst>
          </p:cNvPr>
          <p:cNvSpPr/>
          <p:nvPr/>
        </p:nvSpPr>
        <p:spPr>
          <a:xfrm>
            <a:off x="1233055" y="2692547"/>
            <a:ext cx="9725890" cy="6451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5BFB2E6D-7DD3-424F-A543-A98DC6EE096B}"/>
              </a:ext>
            </a:extLst>
          </p:cNvPr>
          <p:cNvSpPr/>
          <p:nvPr/>
        </p:nvSpPr>
        <p:spPr>
          <a:xfrm>
            <a:off x="1233055" y="3111426"/>
            <a:ext cx="3131126" cy="573883"/>
          </a:xfrm>
          <a:prstGeom prst="round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информация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57BC7CDF-6EC1-45C6-9CE3-007907E08A07}"/>
              </a:ext>
            </a:extLst>
          </p:cNvPr>
          <p:cNvSpPr/>
          <p:nvPr/>
        </p:nvSpPr>
        <p:spPr>
          <a:xfrm>
            <a:off x="4530437" y="3111426"/>
            <a:ext cx="3131126" cy="573883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Произведения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56712F86-EBBC-4A90-8976-CFA225AE2E8B}"/>
              </a:ext>
            </a:extLst>
          </p:cNvPr>
          <p:cNvSpPr/>
          <p:nvPr/>
        </p:nvSpPr>
        <p:spPr>
          <a:xfrm>
            <a:off x="7841673" y="3111426"/>
            <a:ext cx="3117272" cy="573883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Сохранившееся произведения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846E238-0295-498A-BD31-14B2D5EE7F50}"/>
              </a:ext>
            </a:extLst>
          </p:cNvPr>
          <p:cNvSpPr/>
          <p:nvPr/>
        </p:nvSpPr>
        <p:spPr>
          <a:xfrm>
            <a:off x="0" y="6492499"/>
            <a:ext cx="6096000" cy="380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solidFill>
                  <a:schemeClr val="tx1"/>
                </a:solidFill>
              </a:rPr>
              <a:t>Автор: </a:t>
            </a:r>
            <a:r>
              <a:rPr lang="ru-RU" dirty="0" err="1">
                <a:solidFill>
                  <a:schemeClr val="tx1"/>
                </a:solidFill>
              </a:rPr>
              <a:t>Терёшкин</a:t>
            </a:r>
            <a:r>
              <a:rPr lang="ru-RU" dirty="0">
                <a:solidFill>
                  <a:schemeClr val="tx1"/>
                </a:solidFill>
              </a:rPr>
              <a:t> Владимир, 8 «В»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BBE0124-CD99-41DC-94EC-697577315BB4}"/>
              </a:ext>
            </a:extLst>
          </p:cNvPr>
          <p:cNvSpPr/>
          <p:nvPr/>
        </p:nvSpPr>
        <p:spPr>
          <a:xfrm>
            <a:off x="6096000" y="6492498"/>
            <a:ext cx="6096000" cy="380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ru-RU" dirty="0">
                <a:solidFill>
                  <a:schemeClr val="tx1"/>
                </a:solidFill>
              </a:rPr>
              <a:t>Дата сдачи: 8 ноября 2021 года ( 08.11.2021 )</a:t>
            </a:r>
          </a:p>
        </p:txBody>
      </p:sp>
    </p:spTree>
    <p:extLst>
      <p:ext uri="{BB962C8B-B14F-4D97-AF65-F5344CB8AC3E}">
        <p14:creationId xmlns:p14="http://schemas.microsoft.com/office/powerpoint/2010/main" val="3103195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6EA536-E2E2-4276-8A1B-79B688714E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256" y="101631"/>
            <a:ext cx="5264727" cy="752908"/>
          </a:xfrm>
        </p:spPr>
        <p:txBody>
          <a:bodyPr>
            <a:noAutofit/>
          </a:bodyPr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Тит Ма́кций Плавт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50513859-944D-41DE-B4ED-207B844B0F05}"/>
              </a:ext>
            </a:extLst>
          </p:cNvPr>
          <p:cNvSpPr/>
          <p:nvPr/>
        </p:nvSpPr>
        <p:spPr>
          <a:xfrm>
            <a:off x="180110" y="971652"/>
            <a:ext cx="11831780" cy="4571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5BFB2E6D-7DD3-424F-A543-A98DC6EE096B}"/>
              </a:ext>
            </a:extLst>
          </p:cNvPr>
          <p:cNvSpPr/>
          <p:nvPr/>
        </p:nvSpPr>
        <p:spPr>
          <a:xfrm>
            <a:off x="5444838" y="306418"/>
            <a:ext cx="2202872" cy="444863"/>
          </a:xfrm>
          <a:prstGeom prst="roundRect">
            <a:avLst/>
          </a:prstGeom>
          <a:solidFill>
            <a:srgbClr val="92D050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информация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57BC7CDF-6EC1-45C6-9CE3-007907E08A07}"/>
              </a:ext>
            </a:extLst>
          </p:cNvPr>
          <p:cNvSpPr/>
          <p:nvPr/>
        </p:nvSpPr>
        <p:spPr>
          <a:xfrm>
            <a:off x="7841674" y="306418"/>
            <a:ext cx="2022766" cy="444863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Произведения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56712F86-EBBC-4A90-8976-CFA225AE2E8B}"/>
              </a:ext>
            </a:extLst>
          </p:cNvPr>
          <p:cNvSpPr/>
          <p:nvPr/>
        </p:nvSpPr>
        <p:spPr>
          <a:xfrm>
            <a:off x="10058404" y="306418"/>
            <a:ext cx="1953486" cy="444863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Сохранившееся произведения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53E7BB3-225D-41B8-BF47-026F8E1A54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1674" y="1308639"/>
            <a:ext cx="3643744" cy="52429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51F2EA-AEBF-43F3-9FD6-304BB84327D9}"/>
              </a:ext>
            </a:extLst>
          </p:cNvPr>
          <p:cNvSpPr txBox="1"/>
          <p:nvPr/>
        </p:nvSpPr>
        <p:spPr>
          <a:xfrm>
            <a:off x="706581" y="1294784"/>
            <a:ext cx="4572001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2800" b="1" u="sng" dirty="0"/>
              <a:t>Д</a:t>
            </a:r>
            <a:r>
              <a:rPr lang="ru-RU" sz="2800" b="1" dirty="0"/>
              <a:t>ата рождения </a:t>
            </a:r>
            <a:r>
              <a:rPr lang="ru-RU" sz="2800" dirty="0"/>
              <a:t>- 250 до н. э.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7AE295-6169-4712-8601-1CD888E823B0}"/>
              </a:ext>
            </a:extLst>
          </p:cNvPr>
          <p:cNvSpPr txBox="1"/>
          <p:nvPr/>
        </p:nvSpPr>
        <p:spPr>
          <a:xfrm>
            <a:off x="706580" y="1861517"/>
            <a:ext cx="584662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2800" b="1" u="sng" dirty="0"/>
              <a:t>М</a:t>
            </a:r>
            <a:r>
              <a:rPr lang="ru-RU" sz="2800" b="1" dirty="0"/>
              <a:t>есто рождения</a:t>
            </a:r>
            <a:r>
              <a:rPr lang="ru-RU" sz="2800" dirty="0"/>
              <a:t> - </a:t>
            </a:r>
            <a:r>
              <a:rPr lang="ru-RU" sz="2800" dirty="0" err="1"/>
              <a:t>Сарсина</a:t>
            </a:r>
            <a:r>
              <a:rPr lang="ru-RU" sz="2800" dirty="0"/>
              <a:t>, Умбрия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2C1BF3-016D-424E-A287-BD6BA383B357}"/>
              </a:ext>
            </a:extLst>
          </p:cNvPr>
          <p:cNvSpPr txBox="1"/>
          <p:nvPr/>
        </p:nvSpPr>
        <p:spPr>
          <a:xfrm>
            <a:off x="713509" y="2428250"/>
            <a:ext cx="4163291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2800" b="1" u="sng" dirty="0"/>
              <a:t>Д</a:t>
            </a:r>
            <a:r>
              <a:rPr lang="ru-RU" sz="2800" b="1" dirty="0"/>
              <a:t>ата смерти </a:t>
            </a:r>
            <a:r>
              <a:rPr lang="ru-RU" sz="2800" dirty="0"/>
              <a:t>- 184 до н. э.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F04B22-7846-4E3F-A900-3AF33F735346}"/>
              </a:ext>
            </a:extLst>
          </p:cNvPr>
          <p:cNvSpPr txBox="1"/>
          <p:nvPr/>
        </p:nvSpPr>
        <p:spPr>
          <a:xfrm>
            <a:off x="713507" y="2996931"/>
            <a:ext cx="6532419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2800" b="1" u="sng" dirty="0"/>
              <a:t>М</a:t>
            </a:r>
            <a:r>
              <a:rPr lang="ru-RU" sz="2800" b="1" dirty="0"/>
              <a:t>есто смерти </a:t>
            </a:r>
            <a:r>
              <a:rPr lang="ru-RU" sz="2800" dirty="0"/>
              <a:t>- Рим, Римская республика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AE0ED6-547C-4780-B3DD-90620028F9C0}"/>
              </a:ext>
            </a:extLst>
          </p:cNvPr>
          <p:cNvSpPr txBox="1"/>
          <p:nvPr/>
        </p:nvSpPr>
        <p:spPr>
          <a:xfrm>
            <a:off x="713507" y="3561716"/>
            <a:ext cx="6934203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2800" b="1" u="sng" dirty="0"/>
              <a:t>Р</a:t>
            </a:r>
            <a:r>
              <a:rPr lang="ru-RU" sz="2800" b="1" dirty="0"/>
              <a:t>од деятельности </a:t>
            </a:r>
            <a:r>
              <a:rPr lang="ru-RU" sz="2800" dirty="0"/>
              <a:t>- комедиограф, поэт, актёр, драматург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BEFC21-CE05-440E-A6D4-FE195AF51C22}"/>
              </a:ext>
            </a:extLst>
          </p:cNvPr>
          <p:cNvSpPr txBox="1"/>
          <p:nvPr/>
        </p:nvSpPr>
        <p:spPr>
          <a:xfrm>
            <a:off x="713507" y="4557388"/>
            <a:ext cx="4731331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2800" b="1" u="sng" dirty="0"/>
              <a:t>Я</a:t>
            </a:r>
            <a:r>
              <a:rPr lang="ru-RU" sz="2800" b="1" dirty="0"/>
              <a:t>зык произведений</a:t>
            </a:r>
            <a:r>
              <a:rPr lang="ru-RU" sz="2800" dirty="0"/>
              <a:t> - латынь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ABB01BB7-5137-4388-AE6B-0ED13C9E3251}"/>
              </a:ext>
            </a:extLst>
          </p:cNvPr>
          <p:cNvSpPr/>
          <p:nvPr/>
        </p:nvSpPr>
        <p:spPr>
          <a:xfrm>
            <a:off x="5430983" y="148125"/>
            <a:ext cx="2216727" cy="45719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46804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5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5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200"/>
                            </p:stCondLst>
                            <p:childTnLst>
                              <p:par>
                                <p:cTn id="4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3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1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3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1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800"/>
                            </p:stCondLst>
                            <p:childTnLst>
                              <p:par>
                                <p:cTn id="5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3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1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100"/>
                            </p:stCondLst>
                            <p:childTnLst>
                              <p:par>
                                <p:cTn id="5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3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1" dur="1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400"/>
                            </p:stCondLst>
                            <p:childTnLst>
                              <p:par>
                                <p:cTn id="63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3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1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700"/>
                            </p:stCondLst>
                            <p:childTnLst>
                              <p:par>
                                <p:cTn id="6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9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8" grpId="0" animBg="1"/>
      <p:bldP spid="18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6EA536-E2E2-4276-8A1B-79B688714E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256" y="101631"/>
            <a:ext cx="5264727" cy="752908"/>
          </a:xfrm>
        </p:spPr>
        <p:txBody>
          <a:bodyPr>
            <a:noAutofit/>
          </a:bodyPr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Тит Ма́кций Плавт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50513859-944D-41DE-B4ED-207B844B0F05}"/>
              </a:ext>
            </a:extLst>
          </p:cNvPr>
          <p:cNvSpPr/>
          <p:nvPr/>
        </p:nvSpPr>
        <p:spPr>
          <a:xfrm>
            <a:off x="180110" y="971652"/>
            <a:ext cx="11831780" cy="4571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5BFB2E6D-7DD3-424F-A543-A98DC6EE096B}"/>
              </a:ext>
            </a:extLst>
          </p:cNvPr>
          <p:cNvSpPr/>
          <p:nvPr/>
        </p:nvSpPr>
        <p:spPr>
          <a:xfrm>
            <a:off x="5444838" y="306418"/>
            <a:ext cx="2202872" cy="444863"/>
          </a:xfrm>
          <a:prstGeom prst="roundRect">
            <a:avLst/>
          </a:prstGeom>
          <a:solidFill>
            <a:srgbClr val="92D050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информация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57BC7CDF-6EC1-45C6-9CE3-007907E08A07}"/>
              </a:ext>
            </a:extLst>
          </p:cNvPr>
          <p:cNvSpPr/>
          <p:nvPr/>
        </p:nvSpPr>
        <p:spPr>
          <a:xfrm>
            <a:off x="7841674" y="306418"/>
            <a:ext cx="2022766" cy="444863"/>
          </a:xfrm>
          <a:prstGeom prst="round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Произведения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56712F86-EBBC-4A90-8976-CFA225AE2E8B}"/>
              </a:ext>
            </a:extLst>
          </p:cNvPr>
          <p:cNvSpPr/>
          <p:nvPr/>
        </p:nvSpPr>
        <p:spPr>
          <a:xfrm>
            <a:off x="10058404" y="306418"/>
            <a:ext cx="1953486" cy="444863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Сохранившееся произведения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53E7BB3-225D-41B8-BF47-026F8E1A54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1674" y="1308639"/>
            <a:ext cx="3643744" cy="52429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51F2EA-AEBF-43F3-9FD6-304BB84327D9}"/>
              </a:ext>
            </a:extLst>
          </p:cNvPr>
          <p:cNvSpPr txBox="1"/>
          <p:nvPr/>
        </p:nvSpPr>
        <p:spPr>
          <a:xfrm>
            <a:off x="-4779826" y="1294784"/>
            <a:ext cx="4572001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2800" b="1" u="sng" dirty="0"/>
              <a:t>Д</a:t>
            </a:r>
            <a:r>
              <a:rPr lang="ru-RU" sz="2800" b="1" dirty="0"/>
              <a:t>ата рождения </a:t>
            </a:r>
            <a:r>
              <a:rPr lang="ru-RU" sz="2800" dirty="0"/>
              <a:t>- 250 до н. э.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7AE295-6169-4712-8601-1CD888E823B0}"/>
              </a:ext>
            </a:extLst>
          </p:cNvPr>
          <p:cNvSpPr txBox="1"/>
          <p:nvPr/>
        </p:nvSpPr>
        <p:spPr>
          <a:xfrm>
            <a:off x="-10472712" y="1861517"/>
            <a:ext cx="584662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2800" b="1" u="sng" dirty="0"/>
              <a:t>М</a:t>
            </a:r>
            <a:r>
              <a:rPr lang="ru-RU" sz="2800" b="1" dirty="0"/>
              <a:t>есто рождения</a:t>
            </a:r>
            <a:r>
              <a:rPr lang="ru-RU" sz="2800" dirty="0"/>
              <a:t> - </a:t>
            </a:r>
            <a:r>
              <a:rPr lang="ru-RU" sz="2800" dirty="0" err="1"/>
              <a:t>Сарсина</a:t>
            </a:r>
            <a:r>
              <a:rPr lang="ru-RU" sz="2800" dirty="0"/>
              <a:t>, Умбрия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2C1BF3-016D-424E-A287-BD6BA383B357}"/>
              </a:ext>
            </a:extLst>
          </p:cNvPr>
          <p:cNvSpPr txBox="1"/>
          <p:nvPr/>
        </p:nvSpPr>
        <p:spPr>
          <a:xfrm>
            <a:off x="-14595327" y="2428250"/>
            <a:ext cx="4163291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2800" b="1" u="sng" dirty="0"/>
              <a:t>Д</a:t>
            </a:r>
            <a:r>
              <a:rPr lang="ru-RU" sz="2800" b="1" dirty="0"/>
              <a:t>ата смерти </a:t>
            </a:r>
            <a:r>
              <a:rPr lang="ru-RU" sz="2800" dirty="0"/>
              <a:t>- 184 до н. э.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F04B22-7846-4E3F-A900-3AF33F735346}"/>
              </a:ext>
            </a:extLst>
          </p:cNvPr>
          <p:cNvSpPr txBox="1"/>
          <p:nvPr/>
        </p:nvSpPr>
        <p:spPr>
          <a:xfrm>
            <a:off x="-20996135" y="2996931"/>
            <a:ext cx="6532419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2800" b="1" u="sng" dirty="0"/>
              <a:t>М</a:t>
            </a:r>
            <a:r>
              <a:rPr lang="ru-RU" sz="2800" b="1" dirty="0"/>
              <a:t>есто смерти </a:t>
            </a:r>
            <a:r>
              <a:rPr lang="ru-RU" sz="2800" dirty="0"/>
              <a:t>- Рим, Римская республика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AE0ED6-547C-4780-B3DD-90620028F9C0}"/>
              </a:ext>
            </a:extLst>
          </p:cNvPr>
          <p:cNvSpPr txBox="1"/>
          <p:nvPr/>
        </p:nvSpPr>
        <p:spPr>
          <a:xfrm>
            <a:off x="-27809896" y="3561716"/>
            <a:ext cx="6934203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2800" b="1" u="sng" dirty="0"/>
              <a:t>Р</a:t>
            </a:r>
            <a:r>
              <a:rPr lang="ru-RU" sz="2800" b="1" dirty="0"/>
              <a:t>од деятельности </a:t>
            </a:r>
            <a:r>
              <a:rPr lang="ru-RU" sz="2800" dirty="0"/>
              <a:t>- комедиограф, поэт, актёр, драматург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BEFC21-CE05-440E-A6D4-FE195AF51C22}"/>
              </a:ext>
            </a:extLst>
          </p:cNvPr>
          <p:cNvSpPr txBox="1"/>
          <p:nvPr/>
        </p:nvSpPr>
        <p:spPr>
          <a:xfrm>
            <a:off x="-32293411" y="4557388"/>
            <a:ext cx="4731331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2800" b="1" u="sng" dirty="0"/>
              <a:t>Я</a:t>
            </a:r>
            <a:r>
              <a:rPr lang="ru-RU" sz="2800" b="1" dirty="0"/>
              <a:t>зык произведений</a:t>
            </a:r>
            <a:r>
              <a:rPr lang="ru-RU" sz="2800" dirty="0"/>
              <a:t> - латынь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3B6C9D-7747-4F4B-B1E4-BE14B48B7DEF}"/>
              </a:ext>
            </a:extLst>
          </p:cNvPr>
          <p:cNvSpPr txBox="1"/>
          <p:nvPr/>
        </p:nvSpPr>
        <p:spPr>
          <a:xfrm>
            <a:off x="180110" y="1457325"/>
            <a:ext cx="7467599" cy="15696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Тит Ма́кций Плавт (Titus Maccius Plautus), — выдающийся римский комедиограф, мастер паллиаты. Написал около 130 комедий, из которых сохранилось 20.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E0F81CFD-D0A8-4681-BF02-B1E60F3EC438}"/>
              </a:ext>
            </a:extLst>
          </p:cNvPr>
          <p:cNvSpPr/>
          <p:nvPr/>
        </p:nvSpPr>
        <p:spPr>
          <a:xfrm>
            <a:off x="5430983" y="148125"/>
            <a:ext cx="2216727" cy="45719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521F20-93FD-458B-AD2E-B434095F6687}"/>
              </a:ext>
            </a:extLst>
          </p:cNvPr>
          <p:cNvSpPr txBox="1"/>
          <p:nvPr/>
        </p:nvSpPr>
        <p:spPr>
          <a:xfrm>
            <a:off x="180110" y="3108373"/>
            <a:ext cx="7467599" cy="30469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Прибыв в Рим, Плавт поступил служителем в актёрскую труппу, затем занимался торговлей, но неудачно, после чего работал по найму; в свободное время писал комедии. У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Плавта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 было патронов-аристократов — он зависел от массового зрителя.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Плавту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пришлось много путешествовать и встречаться с людьми, принадлежащими к разнообразным прослойкам населения Италии.</a:t>
            </a:r>
          </a:p>
        </p:txBody>
      </p:sp>
    </p:spTree>
    <p:extLst>
      <p:ext uri="{BB962C8B-B14F-4D97-AF65-F5344CB8AC3E}">
        <p14:creationId xmlns:p14="http://schemas.microsoft.com/office/powerpoint/2010/main" val="885448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26" presetClass="emph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19" grpId="0" animBg="1"/>
      <p:bldP spid="19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6EA536-E2E2-4276-8A1B-79B688714E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256" y="101631"/>
            <a:ext cx="5264727" cy="752908"/>
          </a:xfrm>
        </p:spPr>
        <p:txBody>
          <a:bodyPr>
            <a:noAutofit/>
          </a:bodyPr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Тит Ма́кций Плавт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50513859-944D-41DE-B4ED-207B844B0F05}"/>
              </a:ext>
            </a:extLst>
          </p:cNvPr>
          <p:cNvSpPr/>
          <p:nvPr/>
        </p:nvSpPr>
        <p:spPr>
          <a:xfrm>
            <a:off x="180110" y="971652"/>
            <a:ext cx="11831780" cy="4571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5BFB2E6D-7DD3-424F-A543-A98DC6EE096B}"/>
              </a:ext>
            </a:extLst>
          </p:cNvPr>
          <p:cNvSpPr/>
          <p:nvPr/>
        </p:nvSpPr>
        <p:spPr>
          <a:xfrm>
            <a:off x="5444838" y="306418"/>
            <a:ext cx="2202872" cy="444863"/>
          </a:xfrm>
          <a:prstGeom prst="round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информация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57BC7CDF-6EC1-45C6-9CE3-007907E08A07}"/>
              </a:ext>
            </a:extLst>
          </p:cNvPr>
          <p:cNvSpPr/>
          <p:nvPr/>
        </p:nvSpPr>
        <p:spPr>
          <a:xfrm>
            <a:off x="7841674" y="306418"/>
            <a:ext cx="2022766" cy="444863"/>
          </a:xfrm>
          <a:prstGeom prst="roundRect">
            <a:avLst/>
          </a:prstGeom>
          <a:solidFill>
            <a:srgbClr val="00B050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Произведения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56712F86-EBBC-4A90-8976-CFA225AE2E8B}"/>
              </a:ext>
            </a:extLst>
          </p:cNvPr>
          <p:cNvSpPr/>
          <p:nvPr/>
        </p:nvSpPr>
        <p:spPr>
          <a:xfrm>
            <a:off x="10058404" y="306418"/>
            <a:ext cx="1953486" cy="444863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Сохранившееся произведения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53E7BB3-225D-41B8-BF47-026F8E1A54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1674" y="7445967"/>
            <a:ext cx="3643744" cy="52429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F3B6C9D-7747-4F4B-B1E4-BE14B48B7DEF}"/>
              </a:ext>
            </a:extLst>
          </p:cNvPr>
          <p:cNvSpPr txBox="1"/>
          <p:nvPr/>
        </p:nvSpPr>
        <p:spPr>
          <a:xfrm>
            <a:off x="12532258" y="1457325"/>
            <a:ext cx="7467599" cy="15696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Тит Ма́кций Плавт (Titus Maccius Plautus), — выдающийся римский комедиограф, мастер паллиаты. Написал около 130 комедий, из которых сохранилось 20.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E0F81CFD-D0A8-4681-BF02-B1E60F3EC438}"/>
              </a:ext>
            </a:extLst>
          </p:cNvPr>
          <p:cNvSpPr/>
          <p:nvPr/>
        </p:nvSpPr>
        <p:spPr>
          <a:xfrm>
            <a:off x="7740230" y="148125"/>
            <a:ext cx="2216727" cy="45719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521F20-93FD-458B-AD2E-B434095F6687}"/>
              </a:ext>
            </a:extLst>
          </p:cNvPr>
          <p:cNvSpPr txBox="1"/>
          <p:nvPr/>
        </p:nvSpPr>
        <p:spPr>
          <a:xfrm>
            <a:off x="-8281963" y="3108373"/>
            <a:ext cx="7467599" cy="30469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Прибыв в Рим, Плавт поступил служителем в актёрскую труппу, затем занимался торговлей, но неудачно, после чего работал по найму; в свободное время писал комедии. У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Плавта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 было патронов-аристократов — он зависел от массового зрителя.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Плавту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пришлось много путешествовать и встречаться с людьми, принадлежащими к разнообразным прослойкам населения Италии.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42A80F-B23C-4963-B32A-D0B8D81E1B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102" y="1632347"/>
            <a:ext cx="4572000" cy="4419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60D5121-700B-4E87-AE2E-E16ACBD373FA}"/>
              </a:ext>
            </a:extLst>
          </p:cNvPr>
          <p:cNvSpPr txBox="1"/>
          <p:nvPr/>
        </p:nvSpPr>
        <p:spPr>
          <a:xfrm>
            <a:off x="5183010" y="2133987"/>
            <a:ext cx="6471715" cy="34163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Большую роль в пьесах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Плавта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играют рабы, благодаря которым действие часто разворачивается и подводится к развязке. В комедиях почти всегда фигурируют прихлебатель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парасит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и сводник. В основе комедий часто лежит любовная интрига, но все они оканчиваются благополучно для главного героя. При этом женские роли на сцене исполнялись мужчинами.</a:t>
            </a:r>
          </a:p>
        </p:txBody>
      </p:sp>
    </p:spTree>
    <p:extLst>
      <p:ext uri="{BB962C8B-B14F-4D97-AF65-F5344CB8AC3E}">
        <p14:creationId xmlns:p14="http://schemas.microsoft.com/office/powerpoint/2010/main" val="271317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4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800"/>
                            </p:stCondLst>
                            <p:childTnLst>
                              <p:par>
                                <p:cTn id="1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2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1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6EA536-E2E2-4276-8A1B-79B688714E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256" y="101631"/>
            <a:ext cx="5264727" cy="752908"/>
          </a:xfrm>
        </p:spPr>
        <p:txBody>
          <a:bodyPr>
            <a:noAutofit/>
          </a:bodyPr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Тит Ма́кций Плавт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50513859-944D-41DE-B4ED-207B844B0F05}"/>
              </a:ext>
            </a:extLst>
          </p:cNvPr>
          <p:cNvSpPr/>
          <p:nvPr/>
        </p:nvSpPr>
        <p:spPr>
          <a:xfrm>
            <a:off x="180110" y="971652"/>
            <a:ext cx="11831780" cy="4571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5BFB2E6D-7DD3-424F-A543-A98DC6EE096B}"/>
              </a:ext>
            </a:extLst>
          </p:cNvPr>
          <p:cNvSpPr/>
          <p:nvPr/>
        </p:nvSpPr>
        <p:spPr>
          <a:xfrm>
            <a:off x="5444838" y="306418"/>
            <a:ext cx="2202872" cy="444863"/>
          </a:xfrm>
          <a:prstGeom prst="round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информация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57BC7CDF-6EC1-45C6-9CE3-007907E08A07}"/>
              </a:ext>
            </a:extLst>
          </p:cNvPr>
          <p:cNvSpPr/>
          <p:nvPr/>
        </p:nvSpPr>
        <p:spPr>
          <a:xfrm>
            <a:off x="7841674" y="306418"/>
            <a:ext cx="2022766" cy="444863"/>
          </a:xfrm>
          <a:prstGeom prst="roundRect">
            <a:avLst/>
          </a:prstGeom>
          <a:solidFill>
            <a:srgbClr val="00B050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Произведения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56712F86-EBBC-4A90-8976-CFA225AE2E8B}"/>
              </a:ext>
            </a:extLst>
          </p:cNvPr>
          <p:cNvSpPr/>
          <p:nvPr/>
        </p:nvSpPr>
        <p:spPr>
          <a:xfrm>
            <a:off x="10058404" y="306418"/>
            <a:ext cx="1953486" cy="444863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Сохранившееся произведения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E0F81CFD-D0A8-4681-BF02-B1E60F3EC438}"/>
              </a:ext>
            </a:extLst>
          </p:cNvPr>
          <p:cNvSpPr/>
          <p:nvPr/>
        </p:nvSpPr>
        <p:spPr>
          <a:xfrm>
            <a:off x="7740230" y="148125"/>
            <a:ext cx="2216727" cy="45719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42A80F-B23C-4963-B32A-D0B8D81E1B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102" y="1632347"/>
            <a:ext cx="4572000" cy="4419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60D5121-700B-4E87-AE2E-E16ACBD373FA}"/>
              </a:ext>
            </a:extLst>
          </p:cNvPr>
          <p:cNvSpPr txBox="1"/>
          <p:nvPr/>
        </p:nvSpPr>
        <p:spPr>
          <a:xfrm>
            <a:off x="12560202" y="2133987"/>
            <a:ext cx="6471715" cy="34163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Большую роль в пьесах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Плавта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играют рабы, благодаря которым действие часто разворачивается и подводится к развязке. В комедиях почти всегда фигурируют прихлебатель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парасит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и сводник. В основе комедий часто лежит любовная интрига, но все они оканчиваются благополучно для главного героя. При этом женские роли на сцене исполнялись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мужчинами.ъ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96C0BF-27A1-471D-84A4-886C16750394}"/>
              </a:ext>
            </a:extLst>
          </p:cNvPr>
          <p:cNvSpPr txBox="1"/>
          <p:nvPr/>
        </p:nvSpPr>
        <p:spPr>
          <a:xfrm>
            <a:off x="5114441" y="2069369"/>
            <a:ext cx="6471714" cy="34163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Главный источник текстов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Плавта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так называемый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амброзианский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палимпсест. Текст комедий был стерт, после чего на этом месте были записаны комментарии Августина к псалмам. Монах, который стирал текст, в одних местах делал это менее тщательно, чем в других. Середина рукописи была очищена менее старательно, благодаря чему имеется возможность прочесть текст.</a:t>
            </a:r>
          </a:p>
        </p:txBody>
      </p:sp>
    </p:spTree>
    <p:extLst>
      <p:ext uri="{BB962C8B-B14F-4D97-AF65-F5344CB8AC3E}">
        <p14:creationId xmlns:p14="http://schemas.microsoft.com/office/powerpoint/2010/main" val="2359930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6EA536-E2E2-4276-8A1B-79B688714E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256" y="101631"/>
            <a:ext cx="5264727" cy="752908"/>
          </a:xfrm>
        </p:spPr>
        <p:txBody>
          <a:bodyPr>
            <a:noAutofit/>
          </a:bodyPr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Тит Ма́кций Плавт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50513859-944D-41DE-B4ED-207B844B0F05}"/>
              </a:ext>
            </a:extLst>
          </p:cNvPr>
          <p:cNvSpPr/>
          <p:nvPr/>
        </p:nvSpPr>
        <p:spPr>
          <a:xfrm>
            <a:off x="180110" y="971652"/>
            <a:ext cx="11831780" cy="4571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5BFB2E6D-7DD3-424F-A543-A98DC6EE096B}"/>
              </a:ext>
            </a:extLst>
          </p:cNvPr>
          <p:cNvSpPr/>
          <p:nvPr/>
        </p:nvSpPr>
        <p:spPr>
          <a:xfrm>
            <a:off x="5444838" y="306418"/>
            <a:ext cx="2202872" cy="444863"/>
          </a:xfrm>
          <a:prstGeom prst="round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информация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57BC7CDF-6EC1-45C6-9CE3-007907E08A07}"/>
              </a:ext>
            </a:extLst>
          </p:cNvPr>
          <p:cNvSpPr/>
          <p:nvPr/>
        </p:nvSpPr>
        <p:spPr>
          <a:xfrm>
            <a:off x="7841674" y="306418"/>
            <a:ext cx="2022766" cy="444863"/>
          </a:xfrm>
          <a:prstGeom prst="round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Произведения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56712F86-EBBC-4A90-8976-CFA225AE2E8B}"/>
              </a:ext>
            </a:extLst>
          </p:cNvPr>
          <p:cNvSpPr/>
          <p:nvPr/>
        </p:nvSpPr>
        <p:spPr>
          <a:xfrm>
            <a:off x="10058404" y="306418"/>
            <a:ext cx="1953486" cy="444863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Сохранившееся произведения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E0F81CFD-D0A8-4681-BF02-B1E60F3EC438}"/>
              </a:ext>
            </a:extLst>
          </p:cNvPr>
          <p:cNvSpPr/>
          <p:nvPr/>
        </p:nvSpPr>
        <p:spPr>
          <a:xfrm>
            <a:off x="9940988" y="148125"/>
            <a:ext cx="2216727" cy="45719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D9D42CE-63F9-4297-B9FF-7860DF0EB5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5159" y="1594957"/>
            <a:ext cx="4572000" cy="441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3050D8-0AA9-4FC3-95D8-1B282BCE0493}"/>
              </a:ext>
            </a:extLst>
          </p:cNvPr>
          <p:cNvSpPr txBox="1"/>
          <p:nvPr/>
        </p:nvSpPr>
        <p:spPr>
          <a:xfrm>
            <a:off x="582597" y="1795179"/>
            <a:ext cx="589569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Сохранилось 19 комедий и 1 трагикомедия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7C100E-C565-4AAE-8866-86B23AA221D4}"/>
              </a:ext>
            </a:extLst>
          </p:cNvPr>
          <p:cNvSpPr txBox="1"/>
          <p:nvPr/>
        </p:nvSpPr>
        <p:spPr>
          <a:xfrm>
            <a:off x="582597" y="2642505"/>
            <a:ext cx="5895696" cy="304698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Некоторые из них: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«Амфитрион»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(Amphitruo). Трагикомедия. 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1146 строк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«Ослы»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Asinaria). 947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строк.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«Клад»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(«Золотой горшок», Aulularia). 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833 строки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(конец утрачен).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«Стих»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(Stichus). 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776 строк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«Перс» («Персы», Persa). 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858 строк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8114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3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1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"/>
                            </p:stCondLst>
                            <p:childTnLst>
                              <p:par>
                                <p:cTn id="22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3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1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3" grpId="0" animBg="1"/>
      <p:bldP spid="13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6EA536-E2E2-4276-8A1B-79B688714E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7308" y="2179353"/>
            <a:ext cx="5895696" cy="752908"/>
          </a:xfrm>
        </p:spPr>
        <p:txBody>
          <a:bodyPr>
            <a:noAutofit/>
          </a:bodyPr>
          <a:lstStyle/>
          <a:p>
            <a:r>
              <a:rPr lang="ru-RU" sz="4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онец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50513859-944D-41DE-B4ED-207B844B0F05}"/>
              </a:ext>
            </a:extLst>
          </p:cNvPr>
          <p:cNvSpPr/>
          <p:nvPr/>
        </p:nvSpPr>
        <p:spPr>
          <a:xfrm>
            <a:off x="2107768" y="3141416"/>
            <a:ext cx="7753205" cy="6673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5BFB2E6D-7DD3-424F-A543-A98DC6EE096B}"/>
              </a:ext>
            </a:extLst>
          </p:cNvPr>
          <p:cNvSpPr/>
          <p:nvPr/>
        </p:nvSpPr>
        <p:spPr>
          <a:xfrm>
            <a:off x="5437905" y="-746966"/>
            <a:ext cx="2202872" cy="444863"/>
          </a:xfrm>
          <a:prstGeom prst="round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информация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57BC7CDF-6EC1-45C6-9CE3-007907E08A07}"/>
              </a:ext>
            </a:extLst>
          </p:cNvPr>
          <p:cNvSpPr/>
          <p:nvPr/>
        </p:nvSpPr>
        <p:spPr>
          <a:xfrm>
            <a:off x="7838207" y="-746965"/>
            <a:ext cx="2022766" cy="444863"/>
          </a:xfrm>
          <a:prstGeom prst="roundRect">
            <a:avLst/>
          </a:prstGeom>
          <a:solidFill>
            <a:srgbClr val="00B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Произведения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56712F86-EBBC-4A90-8976-CFA225AE2E8B}"/>
              </a:ext>
            </a:extLst>
          </p:cNvPr>
          <p:cNvSpPr/>
          <p:nvPr/>
        </p:nvSpPr>
        <p:spPr>
          <a:xfrm>
            <a:off x="10058403" y="-746965"/>
            <a:ext cx="1953486" cy="444863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Сохранившееся произведения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E0F81CFD-D0A8-4681-BF02-B1E60F3EC438}"/>
              </a:ext>
            </a:extLst>
          </p:cNvPr>
          <p:cNvSpPr/>
          <p:nvPr/>
        </p:nvSpPr>
        <p:spPr>
          <a:xfrm>
            <a:off x="9926783" y="-347821"/>
            <a:ext cx="2216727" cy="45719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D9D42CE-63F9-4297-B9FF-7860DF0EB5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2664" y="1623701"/>
            <a:ext cx="4572000" cy="441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3050D8-0AA9-4FC3-95D8-1B282BCE0493}"/>
              </a:ext>
            </a:extLst>
          </p:cNvPr>
          <p:cNvSpPr txBox="1"/>
          <p:nvPr/>
        </p:nvSpPr>
        <p:spPr>
          <a:xfrm>
            <a:off x="-6180535" y="1733186"/>
            <a:ext cx="589569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Сохранилось 19 комедий и 1 трагикомедия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7C100E-C565-4AAE-8866-86B23AA221D4}"/>
              </a:ext>
            </a:extLst>
          </p:cNvPr>
          <p:cNvSpPr txBox="1"/>
          <p:nvPr/>
        </p:nvSpPr>
        <p:spPr>
          <a:xfrm>
            <a:off x="-6180535" y="2310007"/>
            <a:ext cx="5895696" cy="304698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Некоторые из них: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«Амфитрион»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(Amphitruo). Трагикомедия. 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1146 строк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«Ослы»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Asinaria). 947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строк.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«Клад»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(«Золотой горшок», Aulularia). 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833 строки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(конец утрачен).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«Стих»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(Stichus). 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776 строк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«Перс» («Персы», Persa). </a:t>
            </a: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858 строк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4648B0B-FDB0-490C-950D-A1E08A4CA74C}"/>
              </a:ext>
            </a:extLst>
          </p:cNvPr>
          <p:cNvSpPr/>
          <p:nvPr/>
        </p:nvSpPr>
        <p:spPr>
          <a:xfrm>
            <a:off x="2107768" y="3429001"/>
            <a:ext cx="7753205" cy="60055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  <a:effectLst>
            <a:glow>
              <a:schemeClr val="accent1">
                <a:alpha val="40000"/>
              </a:schemeClr>
            </a:glo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704846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8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1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12"/>
                            </p:stCondLst>
                            <p:childTnLst>
                              <p:par>
                                <p:cTn id="13" presetID="18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3" grpId="1" animBg="1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641</Words>
  <Application>Microsoft Office PowerPoint</Application>
  <PresentationFormat>Широкоэкранный</PresentationFormat>
  <Paragraphs>66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Wingdings</vt:lpstr>
      <vt:lpstr>Тема Office</vt:lpstr>
      <vt:lpstr>Тит Ма́кций Плавт</vt:lpstr>
      <vt:lpstr>Тит Ма́кций Плавт</vt:lpstr>
      <vt:lpstr>Тит Ма́кций Плавт</vt:lpstr>
      <vt:lpstr>Тит Ма́кций Плавт</vt:lpstr>
      <vt:lpstr>Тит Ма́кций Плавт</vt:lpstr>
      <vt:lpstr>Тит Ма́кций Плавт</vt:lpstr>
      <vt:lpstr>Конец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Тит Ма́кций Плавт</dc:title>
  <dc:creator>vionar</dc:creator>
  <cp:keywords>Plavt, Плавт, ПЛАВТ</cp:keywords>
  <cp:lastModifiedBy>vionar</cp:lastModifiedBy>
  <cp:revision>14</cp:revision>
  <dcterms:created xsi:type="dcterms:W3CDTF">2021-11-05T16:54:40Z</dcterms:created>
  <dcterms:modified xsi:type="dcterms:W3CDTF">2021-11-05T19:26:57Z</dcterms:modified>
</cp:coreProperties>
</file>