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D81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164717-114E-48D7-9FC7-61A46F6EB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A248A3F-DB6E-4440-B707-F2190B989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DEED3B-9BA5-4292-97EC-680319C51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A6A00-C098-4930-A0D1-68C81AC6C72C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AB772C-B262-4AC6-A1A1-87B33E30C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46C330-984E-4E1F-AA95-5A28C11FE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F0A2-3BF9-4E41-B5CA-F43105F53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570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C5F0DC-C198-4B07-B552-16F8A0FA0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67D39B-DB01-48F7-B451-97AD04F04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4CF543-D4FC-46F2-8465-ACF6533F7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A6A00-C098-4930-A0D1-68C81AC6C72C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BA850D-BEE0-4BFB-B9A0-925570C60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655E94-0F7A-46FB-B528-2BD5DB2E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F0A2-3BF9-4E41-B5CA-F43105F53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10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466B0-99E7-44A2-9C97-A4D15EE2A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F6FCB-4F33-443F-8F18-922D92BB7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CBBD6B-7329-47F2-B2CB-1B7913672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A6A00-C098-4930-A0D1-68C81AC6C72C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6E023C-F700-447B-AA5E-6A9C88768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F01DC8-5646-468E-904E-DEEAE617F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F0A2-3BF9-4E41-B5CA-F43105F53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045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0EE22-33A0-450B-B0B0-B82B7E523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91A5AE-C06E-4322-A6A1-BD688090E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A2E0CD3-78B9-40BE-8A1B-1F4C50016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705EE1-4499-4B04-A34A-6AC3AEE91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A6A00-C098-4930-A0D1-68C81AC6C72C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8F4A73-D004-4C7B-9A91-64E87FD1A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A74AF5-8C06-46A8-910F-F6F95656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F0A2-3BF9-4E41-B5CA-F43105F53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998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65BEE3-24AD-4038-B0D6-AC9E97451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3ED1EF-2EBE-442B-AEA9-2F301DE05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81BBD4-8736-449C-B66F-369F7B9A2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8E8BFD7-D631-41C0-A860-8C551F9CBE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EA20EA9-9CD9-4261-BA32-817F753696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65702C3-F210-4899-A0A4-DE341971A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A6A00-C098-4930-A0D1-68C81AC6C72C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68793E9-3520-434D-A478-F3D673F09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C3DF9B9-AFDF-4339-B69F-DCE0BB74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F0A2-3BF9-4E41-B5CA-F43105F53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469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252BF9-8274-4776-B2C9-70C991BBE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A6DAB2A-845B-4C43-99C4-E8289B210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A6A00-C098-4930-A0D1-68C81AC6C72C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98262F3-1561-4259-BA9F-65FDC81A0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230A4C2-63B1-4B03-BE17-2BEBFB96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F0A2-3BF9-4E41-B5CA-F43105F53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44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444B87B-29B3-43FD-86AA-A08EDDB0A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A6A00-C098-4930-A0D1-68C81AC6C72C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CB5ED1C-36E0-4EC8-8BDA-4CC69526E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7442B9-0DAF-45DB-A241-126485EE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F0A2-3BF9-4E41-B5CA-F43105F53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853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7205CE-66E5-43FA-B682-BB370763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D8E8EF-63D8-4891-9A9E-057FE8FD3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5DC417-5105-4D13-981B-015A5AFC6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CC95FA-FBC2-470B-BDD7-8822AB08E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A6A00-C098-4930-A0D1-68C81AC6C72C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A1C959-7036-492A-8084-88C3B4DED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38AC66-ACE1-4BBD-965D-EE1B81A2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F0A2-3BF9-4E41-B5CA-F43105F53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041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4FF538-7B96-4FD2-8F59-3B0BE082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3474813-25C8-4CE5-B8B5-D3C94FF25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FF5B7D1-A02C-411D-9761-D8954A106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8C5848-A909-470C-B591-E9CDAA325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A6A00-C098-4930-A0D1-68C81AC6C72C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C625F9-F9B4-412B-A9F0-DE0F0CDF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D268C2-7C9E-4DED-8DCF-703B01BE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F0A2-3BF9-4E41-B5CA-F43105F53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54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D1B350-ABA9-4475-8624-D6AD61FB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B9FE085-1717-4B71-9E48-F89087E52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FA9EE-75CA-42FC-8F13-F7623C116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A6A00-C098-4930-A0D1-68C81AC6C72C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983D3E-9EB8-4C75-B1B2-3E5395310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319DCD-69B9-4EB2-A912-AA0BF08B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F0A2-3BF9-4E41-B5CA-F43105F53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13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C6D3E93-FE44-4F7F-A90E-B607CB94DF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6CC551-E19F-42E0-A241-9B7620C85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BB7716-6120-4625-B15C-5A84F12B9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A6A00-C098-4930-A0D1-68C81AC6C72C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BE15EC-CBF8-44FE-B08A-A89CEBE5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5F4CA-3F21-440D-8729-D9B99C774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6F0A2-3BF9-4E41-B5CA-F43105F53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98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EA74C-0461-4035-AD76-D0007629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67C2A2-7C81-48A3-8056-F7EF11A08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FFE18E-6A9F-48DE-8EF9-F66D79B8BE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A6A00-C098-4930-A0D1-68C81AC6C72C}" type="datetimeFigureOut">
              <a:rPr lang="ru-RU" smtClean="0"/>
              <a:t>09.12.2021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B2A3E5-7790-4850-9BAA-41170E8801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65958E-9C36-4FDB-8502-D8D0E48CE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6F0A2-3BF9-4E41-B5CA-F43105F53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08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5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39CE3-03DF-4FB4-893E-C23106F70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8655"/>
            <a:ext cx="9144000" cy="925684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Бумажные деньги в России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E617E457-5D4A-4BFF-84A5-973BEE5ABD60}"/>
              </a:ext>
            </a:extLst>
          </p:cNvPr>
          <p:cNvSpPr/>
          <p:nvPr/>
        </p:nvSpPr>
        <p:spPr>
          <a:xfrm>
            <a:off x="1717964" y="3186545"/>
            <a:ext cx="2382981" cy="4433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Предыстория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3B22D90-6239-4AA4-BFD3-5AD9BD5E7E92}"/>
              </a:ext>
            </a:extLst>
          </p:cNvPr>
          <p:cNvSpPr/>
          <p:nvPr/>
        </p:nvSpPr>
        <p:spPr>
          <a:xfrm>
            <a:off x="1510145" y="1177636"/>
            <a:ext cx="9227128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BAEC0B6-4B56-4878-B16C-C11529764AE5}"/>
              </a:ext>
            </a:extLst>
          </p:cNvPr>
          <p:cNvSpPr/>
          <p:nvPr/>
        </p:nvSpPr>
        <p:spPr>
          <a:xfrm>
            <a:off x="4710545" y="2082334"/>
            <a:ext cx="2770910" cy="6885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Появление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7C8A839-FB5E-4DE7-84C7-8FA2C53BF6F4}"/>
              </a:ext>
            </a:extLst>
          </p:cNvPr>
          <p:cNvSpPr/>
          <p:nvPr/>
        </p:nvSpPr>
        <p:spPr>
          <a:xfrm>
            <a:off x="1510145" y="2082336"/>
            <a:ext cx="2770910" cy="6885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Предыстория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98440B3-7B97-4125-92B8-574CE5523F9D}"/>
              </a:ext>
            </a:extLst>
          </p:cNvPr>
          <p:cNvSpPr/>
          <p:nvPr/>
        </p:nvSpPr>
        <p:spPr>
          <a:xfrm>
            <a:off x="7910946" y="2082335"/>
            <a:ext cx="2770909" cy="6885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создания</a:t>
            </a:r>
            <a:endParaRPr lang="ru-RU" sz="2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4CA05A2E-3B39-4D21-8698-257E443B8F53}"/>
              </a:ext>
            </a:extLst>
          </p:cNvPr>
          <p:cNvSpPr/>
          <p:nvPr/>
        </p:nvSpPr>
        <p:spPr>
          <a:xfrm>
            <a:off x="4932218" y="3207327"/>
            <a:ext cx="2382981" cy="4433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Появление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85805935-1CC8-4E1F-BAC9-7D78D136C97D}"/>
              </a:ext>
            </a:extLst>
          </p:cNvPr>
          <p:cNvSpPr/>
          <p:nvPr/>
        </p:nvSpPr>
        <p:spPr>
          <a:xfrm>
            <a:off x="4932218" y="3865419"/>
            <a:ext cx="2382981" cy="4433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Задача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296CFEE6-55F1-45E0-A2FC-8ECAEF556C58}"/>
              </a:ext>
            </a:extLst>
          </p:cNvPr>
          <p:cNvSpPr/>
          <p:nvPr/>
        </p:nvSpPr>
        <p:spPr>
          <a:xfrm>
            <a:off x="4904509" y="4523511"/>
            <a:ext cx="2382981" cy="4433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Внешний вид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8970CF94-AE5E-4162-8A07-F53020F1992D}"/>
              </a:ext>
            </a:extLst>
          </p:cNvPr>
          <p:cNvSpPr/>
          <p:nvPr/>
        </p:nvSpPr>
        <p:spPr>
          <a:xfrm>
            <a:off x="4904508" y="5181603"/>
            <a:ext cx="2382981" cy="4433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Подлинность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013D93F6-CA96-4F8C-B879-728A2B77855C}"/>
              </a:ext>
            </a:extLst>
          </p:cNvPr>
          <p:cNvSpPr/>
          <p:nvPr/>
        </p:nvSpPr>
        <p:spPr>
          <a:xfrm>
            <a:off x="4904507" y="5839695"/>
            <a:ext cx="2382981" cy="4433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Подделки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FA4B7C51-DD66-48EA-864A-9E1A0854751C}"/>
              </a:ext>
            </a:extLst>
          </p:cNvPr>
          <p:cNvSpPr/>
          <p:nvPr/>
        </p:nvSpPr>
        <p:spPr>
          <a:xfrm>
            <a:off x="8091055" y="3207327"/>
            <a:ext cx="2382981" cy="4433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Появление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68F6A93E-E2DF-4184-9F60-7F7F86B45A46}"/>
              </a:ext>
            </a:extLst>
          </p:cNvPr>
          <p:cNvSpPr/>
          <p:nvPr/>
        </p:nvSpPr>
        <p:spPr>
          <a:xfrm>
            <a:off x="0" y="6539344"/>
            <a:ext cx="6096000" cy="31865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Владимир </a:t>
            </a:r>
            <a:r>
              <a:rPr lang="ru-RU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Терёшкин</a:t>
            </a: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8 «В»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E3F26A24-2B96-492B-98E8-43EBAAEC7C6E}"/>
              </a:ext>
            </a:extLst>
          </p:cNvPr>
          <p:cNvSpPr/>
          <p:nvPr/>
        </p:nvSpPr>
        <p:spPr>
          <a:xfrm>
            <a:off x="6096000" y="6539344"/>
            <a:ext cx="6096002" cy="31865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Дата сдачи: 10.12.2021</a:t>
            </a:r>
          </a:p>
        </p:txBody>
      </p:sp>
    </p:spTree>
    <p:extLst>
      <p:ext uri="{BB962C8B-B14F-4D97-AF65-F5344CB8AC3E}">
        <p14:creationId xmlns:p14="http://schemas.microsoft.com/office/powerpoint/2010/main" val="191393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4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6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00"/>
                            </p:stCondLst>
                            <p:childTnLst>
                              <p:par>
                                <p:cTn id="4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400"/>
                            </p:stCondLst>
                            <p:childTnLst>
                              <p:par>
                                <p:cTn id="5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600"/>
                            </p:stCondLst>
                            <p:childTnLst>
                              <p:par>
                                <p:cTn id="5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800"/>
                            </p:stCondLst>
                            <p:childTnLst>
                              <p:par>
                                <p:cTn id="6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200"/>
                            </p:stCondLst>
                            <p:childTnLst>
                              <p:par>
                                <p:cTn id="7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5" grpId="0" animBg="1"/>
      <p:bldP spid="10" grpId="0" animBg="1"/>
      <p:bldP spid="28" grpId="0" animBg="1"/>
      <p:bldP spid="27" grpId="0" animBg="1"/>
      <p:bldP spid="29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5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39CE3-03DF-4FB4-893E-C23106F70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516" y="73657"/>
            <a:ext cx="5842003" cy="60637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Бумажные деньги в России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E617E457-5D4A-4BFF-84A5-973BEE5ABD60}"/>
              </a:ext>
            </a:extLst>
          </p:cNvPr>
          <p:cNvSpPr/>
          <p:nvPr/>
        </p:nvSpPr>
        <p:spPr>
          <a:xfrm>
            <a:off x="-14517" y="620618"/>
            <a:ext cx="12206517" cy="6256851"/>
          </a:xfrm>
          <a:prstGeom prst="roundRect">
            <a:avLst/>
          </a:prstGeom>
          <a:solidFill>
            <a:schemeClr val="accent6">
              <a:lumMod val="40000"/>
              <a:lumOff val="6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Предыстория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3B22D90-6239-4AA4-BFD3-5AD9BD5E7E92}"/>
              </a:ext>
            </a:extLst>
          </p:cNvPr>
          <p:cNvSpPr/>
          <p:nvPr/>
        </p:nvSpPr>
        <p:spPr>
          <a:xfrm>
            <a:off x="-14517" y="707679"/>
            <a:ext cx="12206516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BAEC0B6-4B56-4878-B16C-C11529764AE5}"/>
              </a:ext>
            </a:extLst>
          </p:cNvPr>
          <p:cNvSpPr/>
          <p:nvPr/>
        </p:nvSpPr>
        <p:spPr>
          <a:xfrm>
            <a:off x="8135254" y="210056"/>
            <a:ext cx="1545775" cy="4216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Появление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7C8A839-FB5E-4DE7-84C7-8FA2C53BF6F4}"/>
              </a:ext>
            </a:extLst>
          </p:cNvPr>
          <p:cNvSpPr/>
          <p:nvPr/>
        </p:nvSpPr>
        <p:spPr>
          <a:xfrm>
            <a:off x="6095998" y="199000"/>
            <a:ext cx="1669145" cy="4216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Предыстория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98440B3-7B97-4125-92B8-574CE5523F9D}"/>
              </a:ext>
            </a:extLst>
          </p:cNvPr>
          <p:cNvSpPr/>
          <p:nvPr/>
        </p:nvSpPr>
        <p:spPr>
          <a:xfrm>
            <a:off x="10051140" y="210055"/>
            <a:ext cx="1966689" cy="4216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создания</a:t>
            </a:r>
            <a:endParaRPr lang="ru-RU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4CA05A2E-3B39-4D21-8698-257E443B8F53}"/>
              </a:ext>
            </a:extLst>
          </p:cNvPr>
          <p:cNvSpPr/>
          <p:nvPr/>
        </p:nvSpPr>
        <p:spPr>
          <a:xfrm rot="4798582">
            <a:off x="11631220" y="2548670"/>
            <a:ext cx="2382981" cy="4433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Появление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85805935-1CC8-4E1F-BAC9-7D78D136C97D}"/>
              </a:ext>
            </a:extLst>
          </p:cNvPr>
          <p:cNvSpPr/>
          <p:nvPr/>
        </p:nvSpPr>
        <p:spPr>
          <a:xfrm rot="4105055">
            <a:off x="12158069" y="4301838"/>
            <a:ext cx="2382981" cy="4433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Задача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296CFEE6-55F1-45E0-A2FC-8ECAEF556C58}"/>
              </a:ext>
            </a:extLst>
          </p:cNvPr>
          <p:cNvSpPr/>
          <p:nvPr/>
        </p:nvSpPr>
        <p:spPr>
          <a:xfrm rot="18332148">
            <a:off x="-2137682" y="2781741"/>
            <a:ext cx="2382981" cy="4433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Внешний вид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8970CF94-AE5E-4162-8A07-F53020F1992D}"/>
              </a:ext>
            </a:extLst>
          </p:cNvPr>
          <p:cNvSpPr/>
          <p:nvPr/>
        </p:nvSpPr>
        <p:spPr>
          <a:xfrm rot="15107713">
            <a:off x="-2364741" y="4961662"/>
            <a:ext cx="2382981" cy="4433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Подлинность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013D93F6-CA96-4F8C-B879-728A2B77855C}"/>
              </a:ext>
            </a:extLst>
          </p:cNvPr>
          <p:cNvSpPr/>
          <p:nvPr/>
        </p:nvSpPr>
        <p:spPr>
          <a:xfrm rot="18609591">
            <a:off x="-2656991" y="2153772"/>
            <a:ext cx="2382981" cy="4433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Подделки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FA4B7C51-DD66-48EA-864A-9E1A0854751C}"/>
              </a:ext>
            </a:extLst>
          </p:cNvPr>
          <p:cNvSpPr/>
          <p:nvPr/>
        </p:nvSpPr>
        <p:spPr>
          <a:xfrm rot="5131354">
            <a:off x="11945231" y="3976443"/>
            <a:ext cx="2382981" cy="4433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Появление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68F6A93E-E2DF-4184-9F60-7F7F86B45A46}"/>
              </a:ext>
            </a:extLst>
          </p:cNvPr>
          <p:cNvSpPr/>
          <p:nvPr/>
        </p:nvSpPr>
        <p:spPr>
          <a:xfrm>
            <a:off x="-3" y="6878781"/>
            <a:ext cx="6096000" cy="31865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Владимир </a:t>
            </a:r>
            <a:r>
              <a:rPr lang="ru-RU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Терёшкин</a:t>
            </a: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8 «В»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E3F26A24-2B96-492B-98E8-43EBAAEC7C6E}"/>
              </a:ext>
            </a:extLst>
          </p:cNvPr>
          <p:cNvSpPr/>
          <p:nvPr/>
        </p:nvSpPr>
        <p:spPr>
          <a:xfrm>
            <a:off x="6095997" y="6878125"/>
            <a:ext cx="6096002" cy="31865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Дата сдачи: 10.12.2021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C26DA6E-4E0C-4D20-8EE1-175A45333431}"/>
              </a:ext>
            </a:extLst>
          </p:cNvPr>
          <p:cNvSpPr/>
          <p:nvPr/>
        </p:nvSpPr>
        <p:spPr>
          <a:xfrm>
            <a:off x="847533" y="1904995"/>
            <a:ext cx="5341254" cy="474294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ервые неметаллические деньги в российской истории появились во второй половине 18 века и назывались ассигнациями.</a:t>
            </a:r>
          </a:p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сновным платежным средством внутри государства до этого была медная монета, а для зарубежных расчетов использовались монеты из золота и серебра. Идеи о замене металлических монет на бумажные в России зарождались давно, однако сенат отвергал предложения, считав «замену монет бумажками» опасной и даже абсурдной.</a:t>
            </a:r>
          </a:p>
          <a:p>
            <a:b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ru-RU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56F383-879E-4AB6-B6F5-C1495AC75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333" y="1904994"/>
            <a:ext cx="3586121" cy="4742949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8DA38D6-D803-4B91-9665-908F10B7A7EE}"/>
              </a:ext>
            </a:extLst>
          </p:cNvPr>
          <p:cNvSpPr/>
          <p:nvPr/>
        </p:nvSpPr>
        <p:spPr>
          <a:xfrm>
            <a:off x="6095997" y="59143"/>
            <a:ext cx="1669145" cy="704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7689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5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39CE3-03DF-4FB4-893E-C23106F70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516" y="73657"/>
            <a:ext cx="5842003" cy="60637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Бумажные деньги в России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E617E457-5D4A-4BFF-84A5-973BEE5ABD60}"/>
              </a:ext>
            </a:extLst>
          </p:cNvPr>
          <p:cNvSpPr/>
          <p:nvPr/>
        </p:nvSpPr>
        <p:spPr>
          <a:xfrm>
            <a:off x="-12720867" y="620618"/>
            <a:ext cx="12206517" cy="6256851"/>
          </a:xfrm>
          <a:prstGeom prst="roundRect">
            <a:avLst/>
          </a:prstGeom>
          <a:solidFill>
            <a:schemeClr val="accent6">
              <a:lumMod val="40000"/>
              <a:lumOff val="6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Предыстория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3B22D90-6239-4AA4-BFD3-5AD9BD5E7E92}"/>
              </a:ext>
            </a:extLst>
          </p:cNvPr>
          <p:cNvSpPr/>
          <p:nvPr/>
        </p:nvSpPr>
        <p:spPr>
          <a:xfrm>
            <a:off x="-14517" y="707679"/>
            <a:ext cx="12206516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BAEC0B6-4B56-4878-B16C-C11529764AE5}"/>
              </a:ext>
            </a:extLst>
          </p:cNvPr>
          <p:cNvSpPr/>
          <p:nvPr/>
        </p:nvSpPr>
        <p:spPr>
          <a:xfrm>
            <a:off x="8135254" y="210056"/>
            <a:ext cx="1545775" cy="4216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Появление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7C8A839-FB5E-4DE7-84C7-8FA2C53BF6F4}"/>
              </a:ext>
            </a:extLst>
          </p:cNvPr>
          <p:cNvSpPr/>
          <p:nvPr/>
        </p:nvSpPr>
        <p:spPr>
          <a:xfrm>
            <a:off x="6096000" y="210057"/>
            <a:ext cx="1669145" cy="4216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Предыстория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98440B3-7B97-4125-92B8-574CE5523F9D}"/>
              </a:ext>
            </a:extLst>
          </p:cNvPr>
          <p:cNvSpPr/>
          <p:nvPr/>
        </p:nvSpPr>
        <p:spPr>
          <a:xfrm>
            <a:off x="10051140" y="210055"/>
            <a:ext cx="1966689" cy="4216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создания</a:t>
            </a:r>
            <a:endParaRPr lang="ru-RU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C26DA6E-4E0C-4D20-8EE1-175A45333431}"/>
              </a:ext>
            </a:extLst>
          </p:cNvPr>
          <p:cNvSpPr/>
          <p:nvPr/>
        </p:nvSpPr>
        <p:spPr>
          <a:xfrm>
            <a:off x="-11858817" y="1904995"/>
            <a:ext cx="5341254" cy="474294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ервые неметаллические деньги в российской истории появились во второй половине 18 века и назывались ассигнациями.</a:t>
            </a:r>
          </a:p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сновным платежным средством внутри государства до этого была медная монета, а для зарубежных расчетов использовались монеты из золота и серебра. Идеи о замене металлических монет на бумажные в России зарождались давно, однако сенат отвергал предложения, считав «замену монет бумажками» опасной и даже абсурдной.</a:t>
            </a:r>
          </a:p>
          <a:p>
            <a:b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ru-RU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56F383-879E-4AB6-B6F5-C1495AC75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09017" y="1904994"/>
            <a:ext cx="3586121" cy="4742949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8DA38D6-D803-4B91-9665-908F10B7A7EE}"/>
              </a:ext>
            </a:extLst>
          </p:cNvPr>
          <p:cNvSpPr/>
          <p:nvPr/>
        </p:nvSpPr>
        <p:spPr>
          <a:xfrm>
            <a:off x="8135254" y="59143"/>
            <a:ext cx="1545775" cy="704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22B2223C-3B42-4ED5-81EC-9786D8C11FC4}"/>
              </a:ext>
            </a:extLst>
          </p:cNvPr>
          <p:cNvSpPr/>
          <p:nvPr/>
        </p:nvSpPr>
        <p:spPr>
          <a:xfrm>
            <a:off x="-18381" y="620618"/>
            <a:ext cx="12206517" cy="6113903"/>
          </a:xfrm>
          <a:prstGeom prst="roundRect">
            <a:avLst/>
          </a:prstGeom>
          <a:solidFill>
            <a:schemeClr val="accent6">
              <a:lumMod val="40000"/>
              <a:lumOff val="6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Появление 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&gt;</a:t>
            </a:r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Появление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7E02F68-62E4-4BFF-93DD-2DA297160124}"/>
              </a:ext>
            </a:extLst>
          </p:cNvPr>
          <p:cNvSpPr/>
          <p:nvPr/>
        </p:nvSpPr>
        <p:spPr>
          <a:xfrm>
            <a:off x="6237514" y="1762046"/>
            <a:ext cx="5341254" cy="474294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ри правлении Екатерины II издается указ о выпуске первых ассигнаций в Российской империи. В своем манифесте в 1769 году императрица утвердила создать по одному ассигнационному банку в Москве и Петербурге, направить в них по 500 тысяч рублей монетами в качестве уставного капитала, и на эту сумму изготовить первые бумажные деньги номиналом в 100, 75, 50 и 25 рублей.</a:t>
            </a:r>
            <a:br>
              <a:rPr lang="ru-RU" sz="2400" dirty="0"/>
            </a:br>
            <a:endParaRPr lang="ru-RU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F7BDF83-4E78-4946-9E8F-0DE1D9EA7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506" y="1762045"/>
            <a:ext cx="3586121" cy="474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072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5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39CE3-03DF-4FB4-893E-C23106F70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516" y="73657"/>
            <a:ext cx="5842003" cy="60637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Бумажные деньги в России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3B22D90-6239-4AA4-BFD3-5AD9BD5E7E92}"/>
              </a:ext>
            </a:extLst>
          </p:cNvPr>
          <p:cNvSpPr/>
          <p:nvPr/>
        </p:nvSpPr>
        <p:spPr>
          <a:xfrm>
            <a:off x="-14517" y="707679"/>
            <a:ext cx="12206516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BAEC0B6-4B56-4878-B16C-C11529764AE5}"/>
              </a:ext>
            </a:extLst>
          </p:cNvPr>
          <p:cNvSpPr/>
          <p:nvPr/>
        </p:nvSpPr>
        <p:spPr>
          <a:xfrm>
            <a:off x="8135254" y="210056"/>
            <a:ext cx="1545775" cy="4216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Появление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7C8A839-FB5E-4DE7-84C7-8FA2C53BF6F4}"/>
              </a:ext>
            </a:extLst>
          </p:cNvPr>
          <p:cNvSpPr/>
          <p:nvPr/>
        </p:nvSpPr>
        <p:spPr>
          <a:xfrm>
            <a:off x="6096000" y="210057"/>
            <a:ext cx="1669145" cy="4216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Предыстория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98440B3-7B97-4125-92B8-574CE5523F9D}"/>
              </a:ext>
            </a:extLst>
          </p:cNvPr>
          <p:cNvSpPr/>
          <p:nvPr/>
        </p:nvSpPr>
        <p:spPr>
          <a:xfrm>
            <a:off x="10051140" y="210055"/>
            <a:ext cx="1966689" cy="4216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создания</a:t>
            </a:r>
            <a:endParaRPr lang="ru-RU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8DA38D6-D803-4B91-9665-908F10B7A7EE}"/>
              </a:ext>
            </a:extLst>
          </p:cNvPr>
          <p:cNvSpPr/>
          <p:nvPr/>
        </p:nvSpPr>
        <p:spPr>
          <a:xfrm>
            <a:off x="8135254" y="59143"/>
            <a:ext cx="1545775" cy="704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22B2223C-3B42-4ED5-81EC-9786D8C11FC4}"/>
              </a:ext>
            </a:extLst>
          </p:cNvPr>
          <p:cNvSpPr/>
          <p:nvPr/>
        </p:nvSpPr>
        <p:spPr>
          <a:xfrm>
            <a:off x="-12206517" y="631675"/>
            <a:ext cx="12206517" cy="6256851"/>
          </a:xfrm>
          <a:prstGeom prst="roundRect">
            <a:avLst/>
          </a:prstGeom>
          <a:solidFill>
            <a:schemeClr val="accent6">
              <a:lumMod val="40000"/>
              <a:lumOff val="6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Появление 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&gt;</a:t>
            </a:r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Появление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7E02F68-62E4-4BFF-93DD-2DA297160124}"/>
              </a:ext>
            </a:extLst>
          </p:cNvPr>
          <p:cNvSpPr/>
          <p:nvPr/>
        </p:nvSpPr>
        <p:spPr>
          <a:xfrm>
            <a:off x="-5913683" y="1885523"/>
            <a:ext cx="5341254" cy="474294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ри правлении Екатерины II издается указ о выпуске первых ассигнаций в Российской империи. В своем манифесте в 1769 году императрица утвердила создать по одному ассигнационному банку в Москве и Петербурге, направить в них по 500 тысяч рублей монетами в качестве уставного капитала, и на эту сумму изготовить первые бумажные деньги номиналом в 100, 75, 50 и 25 рублей.</a:t>
            </a:r>
            <a:br>
              <a:rPr lang="ru-RU" sz="2400" dirty="0"/>
            </a:br>
            <a:endParaRPr lang="ru-RU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F7BDF83-4E78-4946-9E8F-0DE1D9EA7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86147" y="2065422"/>
            <a:ext cx="3586121" cy="4742949"/>
          </a:xfrm>
          <a:prstGeom prst="rect">
            <a:avLst/>
          </a:prstGeom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187F495-1531-4CE7-A7A2-AFAADDDC0E6F}"/>
              </a:ext>
            </a:extLst>
          </p:cNvPr>
          <p:cNvSpPr/>
          <p:nvPr/>
        </p:nvSpPr>
        <p:spPr>
          <a:xfrm>
            <a:off x="-14518" y="601149"/>
            <a:ext cx="12206517" cy="6256851"/>
          </a:xfrm>
          <a:prstGeom prst="roundRect">
            <a:avLst/>
          </a:prstGeom>
          <a:solidFill>
            <a:schemeClr val="accent6">
              <a:lumMod val="40000"/>
              <a:lumOff val="6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Появление 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&gt;</a:t>
            </a:r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Задача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E15E697-E90D-4041-A4E7-830BB7C7F334}"/>
              </a:ext>
            </a:extLst>
          </p:cNvPr>
          <p:cNvSpPr/>
          <p:nvPr/>
        </p:nvSpPr>
        <p:spPr>
          <a:xfrm>
            <a:off x="6241377" y="1885525"/>
            <a:ext cx="5341254" cy="474294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сновная задача ассигнационных банков заключалась в обмене медных монет на бумажные деньги, таким образом они служили своего рода кассами размена.</a:t>
            </a:r>
          </a:p>
          <a:p>
            <a:b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ru-RU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B0EDB1C-3D87-4B51-BF31-A5BF35969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369" y="1885524"/>
            <a:ext cx="3586121" cy="474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45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5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39CE3-03DF-4FB4-893E-C23106F70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516" y="73657"/>
            <a:ext cx="5842003" cy="60637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Бумажные деньги в России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3B22D90-6239-4AA4-BFD3-5AD9BD5E7E92}"/>
              </a:ext>
            </a:extLst>
          </p:cNvPr>
          <p:cNvSpPr/>
          <p:nvPr/>
        </p:nvSpPr>
        <p:spPr>
          <a:xfrm>
            <a:off x="-14517" y="707679"/>
            <a:ext cx="12206516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BAEC0B6-4B56-4878-B16C-C11529764AE5}"/>
              </a:ext>
            </a:extLst>
          </p:cNvPr>
          <p:cNvSpPr/>
          <p:nvPr/>
        </p:nvSpPr>
        <p:spPr>
          <a:xfrm>
            <a:off x="8135254" y="210056"/>
            <a:ext cx="1545775" cy="4216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Появление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7C8A839-FB5E-4DE7-84C7-8FA2C53BF6F4}"/>
              </a:ext>
            </a:extLst>
          </p:cNvPr>
          <p:cNvSpPr/>
          <p:nvPr/>
        </p:nvSpPr>
        <p:spPr>
          <a:xfrm>
            <a:off x="6096000" y="210057"/>
            <a:ext cx="1669145" cy="4216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Предыстория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98440B3-7B97-4125-92B8-574CE5523F9D}"/>
              </a:ext>
            </a:extLst>
          </p:cNvPr>
          <p:cNvSpPr/>
          <p:nvPr/>
        </p:nvSpPr>
        <p:spPr>
          <a:xfrm>
            <a:off x="10051140" y="210055"/>
            <a:ext cx="1966689" cy="4216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создания</a:t>
            </a:r>
            <a:endParaRPr lang="ru-RU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8DA38D6-D803-4B91-9665-908F10B7A7EE}"/>
              </a:ext>
            </a:extLst>
          </p:cNvPr>
          <p:cNvSpPr/>
          <p:nvPr/>
        </p:nvSpPr>
        <p:spPr>
          <a:xfrm>
            <a:off x="8135254" y="59143"/>
            <a:ext cx="1545775" cy="704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187F495-1531-4CE7-A7A2-AFAADDDC0E6F}"/>
              </a:ext>
            </a:extLst>
          </p:cNvPr>
          <p:cNvSpPr/>
          <p:nvPr/>
        </p:nvSpPr>
        <p:spPr>
          <a:xfrm>
            <a:off x="-12226196" y="601149"/>
            <a:ext cx="12206517" cy="6256851"/>
          </a:xfrm>
          <a:prstGeom prst="roundRect">
            <a:avLst/>
          </a:prstGeom>
          <a:solidFill>
            <a:schemeClr val="accent6">
              <a:lumMod val="40000"/>
              <a:lumOff val="6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Появление 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&gt;</a:t>
            </a:r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Задача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E15E697-E90D-4041-A4E7-830BB7C7F334}"/>
              </a:ext>
            </a:extLst>
          </p:cNvPr>
          <p:cNvSpPr/>
          <p:nvPr/>
        </p:nvSpPr>
        <p:spPr>
          <a:xfrm>
            <a:off x="-5970301" y="1885525"/>
            <a:ext cx="5341254" cy="474294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сновная задача ассигнационных банков заключалась в обмене медных монет на бумажные деньги, таким образом они служили своего рода кассами размена.</a:t>
            </a:r>
          </a:p>
          <a:p>
            <a:b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ru-RU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B0EDB1C-3D87-4B51-BF31-A5BF35969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91309" y="1885524"/>
            <a:ext cx="3586121" cy="4742949"/>
          </a:xfrm>
          <a:prstGeom prst="rect">
            <a:avLst/>
          </a:prstGeom>
        </p:spPr>
      </p:pic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3CD54179-B225-4607-9197-1D45B8DE6005}"/>
              </a:ext>
            </a:extLst>
          </p:cNvPr>
          <p:cNvSpPr/>
          <p:nvPr/>
        </p:nvSpPr>
        <p:spPr>
          <a:xfrm>
            <a:off x="-11482" y="601149"/>
            <a:ext cx="12206517" cy="6256851"/>
          </a:xfrm>
          <a:prstGeom prst="roundRect">
            <a:avLst/>
          </a:prstGeom>
          <a:solidFill>
            <a:schemeClr val="accent6">
              <a:lumMod val="40000"/>
              <a:lumOff val="6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Появление 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&gt;</a:t>
            </a:r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Внешний вид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4A2B63D-33F3-42E7-A46D-FB452A7E7400}"/>
              </a:ext>
            </a:extLst>
          </p:cNvPr>
          <p:cNvSpPr/>
          <p:nvPr/>
        </p:nvSpPr>
        <p:spPr>
          <a:xfrm>
            <a:off x="6244413" y="1885525"/>
            <a:ext cx="5341254" cy="474294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А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ссигнации были размером чуть меньше альбомного листа. Самые первые ассигнации практичная императрица приказала изготовить из салфеток и обрезков казенных скатертей. Каждая ассигнация отличалась своим порядковым номером, а в остальном была одинакового размера с однотипной печатью черного цвета только на одной стороне билета.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335C7D-92F8-4F8C-AA9F-27452988C0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94" y="2486722"/>
            <a:ext cx="5292093" cy="328374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511366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5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39CE3-03DF-4FB4-893E-C23106F70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516" y="73657"/>
            <a:ext cx="5842003" cy="60637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Бумажные деньги в России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3B22D90-6239-4AA4-BFD3-5AD9BD5E7E92}"/>
              </a:ext>
            </a:extLst>
          </p:cNvPr>
          <p:cNvSpPr/>
          <p:nvPr/>
        </p:nvSpPr>
        <p:spPr>
          <a:xfrm>
            <a:off x="-14517" y="707679"/>
            <a:ext cx="12206516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BAEC0B6-4B56-4878-B16C-C11529764AE5}"/>
              </a:ext>
            </a:extLst>
          </p:cNvPr>
          <p:cNvSpPr/>
          <p:nvPr/>
        </p:nvSpPr>
        <p:spPr>
          <a:xfrm>
            <a:off x="8135254" y="210056"/>
            <a:ext cx="1545775" cy="4216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Появление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7C8A839-FB5E-4DE7-84C7-8FA2C53BF6F4}"/>
              </a:ext>
            </a:extLst>
          </p:cNvPr>
          <p:cNvSpPr/>
          <p:nvPr/>
        </p:nvSpPr>
        <p:spPr>
          <a:xfrm>
            <a:off x="6096000" y="210057"/>
            <a:ext cx="1669145" cy="4216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Предыстория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98440B3-7B97-4125-92B8-574CE5523F9D}"/>
              </a:ext>
            </a:extLst>
          </p:cNvPr>
          <p:cNvSpPr/>
          <p:nvPr/>
        </p:nvSpPr>
        <p:spPr>
          <a:xfrm>
            <a:off x="10051140" y="210055"/>
            <a:ext cx="1966689" cy="4216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создания</a:t>
            </a:r>
            <a:endParaRPr lang="ru-RU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8DA38D6-D803-4B91-9665-908F10B7A7EE}"/>
              </a:ext>
            </a:extLst>
          </p:cNvPr>
          <p:cNvSpPr/>
          <p:nvPr/>
        </p:nvSpPr>
        <p:spPr>
          <a:xfrm>
            <a:off x="8135254" y="59143"/>
            <a:ext cx="1545775" cy="704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187F495-1531-4CE7-A7A2-AFAADDDC0E6F}"/>
              </a:ext>
            </a:extLst>
          </p:cNvPr>
          <p:cNvSpPr/>
          <p:nvPr/>
        </p:nvSpPr>
        <p:spPr>
          <a:xfrm>
            <a:off x="-12226196" y="601149"/>
            <a:ext cx="12206517" cy="6256851"/>
          </a:xfrm>
          <a:prstGeom prst="roundRect">
            <a:avLst/>
          </a:prstGeom>
          <a:solidFill>
            <a:schemeClr val="accent6">
              <a:lumMod val="40000"/>
              <a:lumOff val="6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Появление 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&gt;</a:t>
            </a:r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Задача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E15E697-E90D-4041-A4E7-830BB7C7F334}"/>
              </a:ext>
            </a:extLst>
          </p:cNvPr>
          <p:cNvSpPr/>
          <p:nvPr/>
        </p:nvSpPr>
        <p:spPr>
          <a:xfrm>
            <a:off x="-5970301" y="1885525"/>
            <a:ext cx="5341254" cy="474294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сновная задача ассигнационных банков заключалась в обмене медных монет на бумажные деньги, таким образом они служили своего рода кассами размена.</a:t>
            </a:r>
          </a:p>
          <a:p>
            <a:b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ru-RU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B0EDB1C-3D87-4B51-BF31-A5BF35969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91309" y="1885524"/>
            <a:ext cx="3586121" cy="4742949"/>
          </a:xfrm>
          <a:prstGeom prst="rect">
            <a:avLst/>
          </a:prstGeom>
        </p:spPr>
      </p:pic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FFD2A64F-3A3F-4282-BA1F-8D44068CDBF9}"/>
              </a:ext>
            </a:extLst>
          </p:cNvPr>
          <p:cNvSpPr/>
          <p:nvPr/>
        </p:nvSpPr>
        <p:spPr>
          <a:xfrm>
            <a:off x="-38059" y="558227"/>
            <a:ext cx="12206517" cy="6256851"/>
          </a:xfrm>
          <a:prstGeom prst="roundRect">
            <a:avLst/>
          </a:prstGeom>
          <a:solidFill>
            <a:schemeClr val="accent6">
              <a:lumMod val="40000"/>
              <a:lumOff val="6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Появление 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&gt;</a:t>
            </a:r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Подлинность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ACCF672-58CD-4AB5-8992-8F36FE2B2FDE}"/>
              </a:ext>
            </a:extLst>
          </p:cNvPr>
          <p:cNvSpPr/>
          <p:nvPr/>
        </p:nvSpPr>
        <p:spPr>
          <a:xfrm>
            <a:off x="6217836" y="1842603"/>
            <a:ext cx="5341254" cy="474294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одлинность ассигнации подтверждалась 4 собственноручными подписями, 2 из которых принадлежали сенаторам, а остальные — директору одного из Петербургского и Московского банка, выпустившего денежный билет, и директору правления банков.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3F1F0FFE-B1E0-4906-A9F9-9AE7C5E8DA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17" y="2443800"/>
            <a:ext cx="5292093" cy="328374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0619984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5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39CE3-03DF-4FB4-893E-C23106F70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516" y="73657"/>
            <a:ext cx="5842003" cy="60637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Бумажные деньги в России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3B22D90-6239-4AA4-BFD3-5AD9BD5E7E92}"/>
              </a:ext>
            </a:extLst>
          </p:cNvPr>
          <p:cNvSpPr/>
          <p:nvPr/>
        </p:nvSpPr>
        <p:spPr>
          <a:xfrm>
            <a:off x="-14517" y="707679"/>
            <a:ext cx="12206516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BAEC0B6-4B56-4878-B16C-C11529764AE5}"/>
              </a:ext>
            </a:extLst>
          </p:cNvPr>
          <p:cNvSpPr/>
          <p:nvPr/>
        </p:nvSpPr>
        <p:spPr>
          <a:xfrm>
            <a:off x="8135254" y="210056"/>
            <a:ext cx="1545775" cy="4216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Появление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7C8A839-FB5E-4DE7-84C7-8FA2C53BF6F4}"/>
              </a:ext>
            </a:extLst>
          </p:cNvPr>
          <p:cNvSpPr/>
          <p:nvPr/>
        </p:nvSpPr>
        <p:spPr>
          <a:xfrm>
            <a:off x="6096000" y="210057"/>
            <a:ext cx="1669145" cy="4216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Предыстория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98440B3-7B97-4125-92B8-574CE5523F9D}"/>
              </a:ext>
            </a:extLst>
          </p:cNvPr>
          <p:cNvSpPr/>
          <p:nvPr/>
        </p:nvSpPr>
        <p:spPr>
          <a:xfrm>
            <a:off x="10051140" y="210055"/>
            <a:ext cx="1966689" cy="4216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создания</a:t>
            </a:r>
            <a:endParaRPr lang="ru-RU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8DA38D6-D803-4B91-9665-908F10B7A7EE}"/>
              </a:ext>
            </a:extLst>
          </p:cNvPr>
          <p:cNvSpPr/>
          <p:nvPr/>
        </p:nvSpPr>
        <p:spPr>
          <a:xfrm>
            <a:off x="8135254" y="59143"/>
            <a:ext cx="1545775" cy="704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A02BB867-9E33-473B-9906-FCA7DFFA98C5}"/>
              </a:ext>
            </a:extLst>
          </p:cNvPr>
          <p:cNvSpPr/>
          <p:nvPr/>
        </p:nvSpPr>
        <p:spPr>
          <a:xfrm>
            <a:off x="-12770602" y="631675"/>
            <a:ext cx="12206517" cy="6256851"/>
          </a:xfrm>
          <a:prstGeom prst="roundRect">
            <a:avLst/>
          </a:prstGeom>
          <a:solidFill>
            <a:schemeClr val="accent6">
              <a:lumMod val="40000"/>
              <a:lumOff val="6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Появление 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&gt;</a:t>
            </a:r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Подлинность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C3D7C2C-E8B3-48E4-A529-9C27DDF9362A}"/>
              </a:ext>
            </a:extLst>
          </p:cNvPr>
          <p:cNvSpPr/>
          <p:nvPr/>
        </p:nvSpPr>
        <p:spPr>
          <a:xfrm>
            <a:off x="-5905339" y="1946648"/>
            <a:ext cx="5341254" cy="474294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одлинность ассигнации подтверждалась 4 собственноручными подписями, 2 из которых принадлежали сенаторам, а остальные — директору одного из Петербургского и Московского банка, выпустившего денежный билет, и директору правления банков.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9A49F48-0999-417D-9258-7E132B10D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36575" y="2676250"/>
            <a:ext cx="5292093" cy="328374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78B78277-EF52-46DE-BB34-C83F7DBECFA5}"/>
              </a:ext>
            </a:extLst>
          </p:cNvPr>
          <p:cNvSpPr/>
          <p:nvPr/>
        </p:nvSpPr>
        <p:spPr>
          <a:xfrm>
            <a:off x="-24942" y="662272"/>
            <a:ext cx="12206517" cy="6256851"/>
          </a:xfrm>
          <a:prstGeom prst="roundRect">
            <a:avLst/>
          </a:prstGeom>
          <a:solidFill>
            <a:schemeClr val="accent6">
              <a:lumMod val="40000"/>
              <a:lumOff val="6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Появление 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&gt;</a:t>
            </a:r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Подделки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07CD196-C393-4E97-94E1-1A6CDC0C1AFB}"/>
              </a:ext>
            </a:extLst>
          </p:cNvPr>
          <p:cNvSpPr/>
          <p:nvPr/>
        </p:nvSpPr>
        <p:spPr>
          <a:xfrm>
            <a:off x="6230953" y="1946648"/>
            <a:ext cx="5341254" cy="474294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таком виде ассигнация существовала 3 года. Вскоре, по причине некачественного материала и односложной печати, первые бумажные билеты стали жертвой фальшивомонетчиков. Предприимчивый народ с легкостью подделывал 25-рублевые купюры, превращая их в 75-рублевые. В 1771 году за подделку была введена смертная казнь, а 75-рублевые банкноты были изъяты из оборота.</a:t>
            </a:r>
          </a:p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оследующие образцы ассигнаций стали выпускаться с учетом мер защиты от подделок.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000C7EC-9ACD-453B-9B44-ADFE70557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34" y="2547845"/>
            <a:ext cx="5292093" cy="328374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171711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1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5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644CB04-66F3-4D61-92DA-BDF76B63DC22}"/>
              </a:ext>
            </a:extLst>
          </p:cNvPr>
          <p:cNvSpPr/>
          <p:nvPr/>
        </p:nvSpPr>
        <p:spPr>
          <a:xfrm>
            <a:off x="5818477" y="3174182"/>
            <a:ext cx="1112095" cy="99713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39CE3-03DF-4FB4-893E-C23106F70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516" y="73657"/>
            <a:ext cx="5842003" cy="60637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Бумажные деньги в России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3B22D90-6239-4AA4-BFD3-5AD9BD5E7E92}"/>
              </a:ext>
            </a:extLst>
          </p:cNvPr>
          <p:cNvSpPr/>
          <p:nvPr/>
        </p:nvSpPr>
        <p:spPr>
          <a:xfrm>
            <a:off x="-14517" y="707679"/>
            <a:ext cx="12206516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BAEC0B6-4B56-4878-B16C-C11529764AE5}"/>
              </a:ext>
            </a:extLst>
          </p:cNvPr>
          <p:cNvSpPr/>
          <p:nvPr/>
        </p:nvSpPr>
        <p:spPr>
          <a:xfrm>
            <a:off x="8135254" y="210056"/>
            <a:ext cx="1545775" cy="4216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Появление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7C8A839-FB5E-4DE7-84C7-8FA2C53BF6F4}"/>
              </a:ext>
            </a:extLst>
          </p:cNvPr>
          <p:cNvSpPr/>
          <p:nvPr/>
        </p:nvSpPr>
        <p:spPr>
          <a:xfrm>
            <a:off x="6096000" y="210057"/>
            <a:ext cx="1669145" cy="4216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Предыстория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98440B3-7B97-4125-92B8-574CE5523F9D}"/>
              </a:ext>
            </a:extLst>
          </p:cNvPr>
          <p:cNvSpPr/>
          <p:nvPr/>
        </p:nvSpPr>
        <p:spPr>
          <a:xfrm>
            <a:off x="10051140" y="210055"/>
            <a:ext cx="1966689" cy="4216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создания</a:t>
            </a:r>
            <a:endParaRPr lang="ru-RU" sz="1600" u="sng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8DA38D6-D803-4B91-9665-908F10B7A7EE}"/>
              </a:ext>
            </a:extLst>
          </p:cNvPr>
          <p:cNvSpPr/>
          <p:nvPr/>
        </p:nvSpPr>
        <p:spPr>
          <a:xfrm>
            <a:off x="10051140" y="59143"/>
            <a:ext cx="1966689" cy="704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78B78277-EF52-46DE-BB34-C83F7DBECFA5}"/>
              </a:ext>
            </a:extLst>
          </p:cNvPr>
          <p:cNvSpPr/>
          <p:nvPr/>
        </p:nvSpPr>
        <p:spPr>
          <a:xfrm>
            <a:off x="-12266107" y="662272"/>
            <a:ext cx="12206517" cy="6256851"/>
          </a:xfrm>
          <a:prstGeom prst="roundRect">
            <a:avLst/>
          </a:prstGeom>
          <a:solidFill>
            <a:schemeClr val="accent6">
              <a:lumMod val="40000"/>
              <a:lumOff val="6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Появление 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&gt;</a:t>
            </a:r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 Подделки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07CD196-C393-4E97-94E1-1A6CDC0C1AFB}"/>
              </a:ext>
            </a:extLst>
          </p:cNvPr>
          <p:cNvSpPr/>
          <p:nvPr/>
        </p:nvSpPr>
        <p:spPr>
          <a:xfrm>
            <a:off x="-6010212" y="1946648"/>
            <a:ext cx="5341254" cy="474294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таком виде ассигнация существовала 3 года. Вскоре, по причине некачественного материала и односложной печати, первые бумажные билеты стали жертвой фальшивомонетчиков. Предприимчивый народ с легкостью подделывал 25-рублевые купюры, превращая их в 75-рублевые. В 1771 году за подделку была введена смертная казнь, а 75-рублевые банкноты были изъяты из оборота.</a:t>
            </a:r>
          </a:p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оследующие образцы ассигнаций стали выпускаться с учетом мер защиты от подделок.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000C7EC-9ACD-453B-9B44-ADFE70557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19231" y="2547845"/>
            <a:ext cx="5292093" cy="328374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43E8FE4-8B04-4460-B510-60123D58956D}"/>
              </a:ext>
            </a:extLst>
          </p:cNvPr>
          <p:cNvSpPr/>
          <p:nvPr/>
        </p:nvSpPr>
        <p:spPr>
          <a:xfrm>
            <a:off x="-20023" y="578696"/>
            <a:ext cx="12206517" cy="6256851"/>
          </a:xfrm>
          <a:prstGeom prst="roundRect">
            <a:avLst/>
          </a:prstGeom>
          <a:solidFill>
            <a:schemeClr val="accent6">
              <a:lumMod val="40000"/>
              <a:lumOff val="6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Причины создания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A005B5D-A4C4-4E9A-A496-0D49ACB4AC3D}"/>
              </a:ext>
            </a:extLst>
          </p:cNvPr>
          <p:cNvSpPr/>
          <p:nvPr/>
        </p:nvSpPr>
        <p:spPr>
          <a:xfrm>
            <a:off x="6235872" y="1863072"/>
            <a:ext cx="5341254" cy="474294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342900" indent="-342900">
              <a:buFontTx/>
              <a:buChar char="-"/>
            </a:pP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Причины:</a:t>
            </a:r>
          </a:p>
          <a:p>
            <a:pPr marL="800100" lvl="1" indent="-342900">
              <a:buFontTx/>
              <a:buChar char="-"/>
            </a:pP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Русско-турецкая война и появившийся на ее фоне дефицит в государственной казне</a:t>
            </a:r>
          </a:p>
          <a:p>
            <a:pPr marL="800100" lvl="1" indent="-342900">
              <a:buFontTx/>
              <a:buChar char="-"/>
            </a:pP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Неудобства небумажных монет</a:t>
            </a:r>
          </a:p>
          <a:p>
            <a:pPr marL="800100" lvl="1" indent="-342900">
              <a:buFontTx/>
              <a:buChar char="-"/>
            </a:pP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Сложности транспортировки</a:t>
            </a:r>
          </a:p>
          <a:p>
            <a:pPr marL="800100" lvl="1" indent="-342900">
              <a:buFontTx/>
              <a:buChar char="-"/>
            </a:pP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Применение металла напрямую зависело от объема добычи, который не поспевал за стремительным развитием рынка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544F58A-C1E5-42DF-9F63-F865A358D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31" y="2286001"/>
            <a:ext cx="5987804" cy="332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94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1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5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644CB04-66F3-4D61-92DA-BDF76B63DC22}"/>
              </a:ext>
            </a:extLst>
          </p:cNvPr>
          <p:cNvSpPr/>
          <p:nvPr/>
        </p:nvSpPr>
        <p:spPr>
          <a:xfrm>
            <a:off x="6393662" y="806833"/>
            <a:ext cx="1112095" cy="99713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39CE3-03DF-4FB4-893E-C23106F70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516" y="73657"/>
            <a:ext cx="5842003" cy="60637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Бумажные деньги в России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3B22D90-6239-4AA4-BFD3-5AD9BD5E7E92}"/>
              </a:ext>
            </a:extLst>
          </p:cNvPr>
          <p:cNvSpPr/>
          <p:nvPr/>
        </p:nvSpPr>
        <p:spPr>
          <a:xfrm>
            <a:off x="-14517" y="707679"/>
            <a:ext cx="12206516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BAEC0B6-4B56-4878-B16C-C11529764AE5}"/>
              </a:ext>
            </a:extLst>
          </p:cNvPr>
          <p:cNvSpPr/>
          <p:nvPr/>
        </p:nvSpPr>
        <p:spPr>
          <a:xfrm>
            <a:off x="8135254" y="210056"/>
            <a:ext cx="1545775" cy="4216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Появление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7C8A839-FB5E-4DE7-84C7-8FA2C53BF6F4}"/>
              </a:ext>
            </a:extLst>
          </p:cNvPr>
          <p:cNvSpPr/>
          <p:nvPr/>
        </p:nvSpPr>
        <p:spPr>
          <a:xfrm>
            <a:off x="6096000" y="210057"/>
            <a:ext cx="1669145" cy="4216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Предыстория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98440B3-7B97-4125-92B8-574CE5523F9D}"/>
              </a:ext>
            </a:extLst>
          </p:cNvPr>
          <p:cNvSpPr/>
          <p:nvPr/>
        </p:nvSpPr>
        <p:spPr>
          <a:xfrm>
            <a:off x="10051140" y="210055"/>
            <a:ext cx="1966689" cy="4216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ED81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создания</a:t>
            </a:r>
            <a:endParaRPr lang="ru-RU" sz="1600" u="sng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8DA38D6-D803-4B91-9665-908F10B7A7EE}"/>
              </a:ext>
            </a:extLst>
          </p:cNvPr>
          <p:cNvSpPr/>
          <p:nvPr/>
        </p:nvSpPr>
        <p:spPr>
          <a:xfrm>
            <a:off x="10051140" y="59143"/>
            <a:ext cx="1966689" cy="704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43E8FE4-8B04-4460-B510-60123D58956D}"/>
              </a:ext>
            </a:extLst>
          </p:cNvPr>
          <p:cNvSpPr/>
          <p:nvPr/>
        </p:nvSpPr>
        <p:spPr>
          <a:xfrm rot="7317954">
            <a:off x="6088741" y="6803571"/>
            <a:ext cx="12206517" cy="6256851"/>
          </a:xfrm>
          <a:prstGeom prst="roundRect">
            <a:avLst/>
          </a:prstGeom>
          <a:solidFill>
            <a:schemeClr val="accent6">
              <a:lumMod val="40000"/>
              <a:lumOff val="6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3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</a:rPr>
              <a:t>Причины создания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A005B5D-A4C4-4E9A-A496-0D49ACB4AC3D}"/>
              </a:ext>
            </a:extLst>
          </p:cNvPr>
          <p:cNvSpPr/>
          <p:nvPr/>
        </p:nvSpPr>
        <p:spPr>
          <a:xfrm rot="7317954">
            <a:off x="12344636" y="8087947"/>
            <a:ext cx="5341254" cy="474294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342900" indent="-342900">
              <a:buFontTx/>
              <a:buChar char="-"/>
            </a:pP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Причины:</a:t>
            </a:r>
          </a:p>
          <a:p>
            <a:pPr marL="800100" lvl="1" indent="-342900">
              <a:buFontTx/>
              <a:buChar char="-"/>
            </a:pP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Русско-турецкая война и появившийся на ее фоне дефицит в государственной казне</a:t>
            </a:r>
          </a:p>
          <a:p>
            <a:pPr marL="800100" lvl="1" indent="-342900">
              <a:buFontTx/>
              <a:buChar char="-"/>
            </a:pP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Неудобства небумажных монет</a:t>
            </a:r>
          </a:p>
          <a:p>
            <a:pPr marL="800100" lvl="1" indent="-342900">
              <a:buFontTx/>
              <a:buChar char="-"/>
            </a:pP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Сложности транспортировки</a:t>
            </a:r>
          </a:p>
          <a:p>
            <a:pPr marL="800100" lvl="1" indent="-342900">
              <a:buFontTx/>
              <a:buChar char="-"/>
            </a:pP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Применение металла напрямую зависело от объема добычи, который не поспевал за стремительным развитием рынка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544F58A-C1E5-42DF-9F63-F865A358D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17954">
            <a:off x="6204195" y="8510876"/>
            <a:ext cx="5987804" cy="3324572"/>
          </a:xfrm>
          <a:prstGeom prst="rect">
            <a:avLst/>
          </a:prstGeom>
        </p:spPr>
      </p:pic>
      <p:sp>
        <p:nvSpPr>
          <p:cNvPr id="3" name="Стрелка: вниз 2">
            <a:extLst>
              <a:ext uri="{FF2B5EF4-FFF2-40B4-BE49-F238E27FC236}">
                <a16:creationId xmlns:a16="http://schemas.microsoft.com/office/drawing/2014/main" id="{9FE05F8A-FBF2-4487-B751-1C90B6C3E752}"/>
              </a:ext>
            </a:extLst>
          </p:cNvPr>
          <p:cNvSpPr/>
          <p:nvPr/>
        </p:nvSpPr>
        <p:spPr>
          <a:xfrm rot="10800000">
            <a:off x="6580528" y="806833"/>
            <a:ext cx="700088" cy="817203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00C8B399-F72B-48F7-860A-73F330FDF040}"/>
              </a:ext>
            </a:extLst>
          </p:cNvPr>
          <p:cNvSpPr/>
          <p:nvPr/>
        </p:nvSpPr>
        <p:spPr>
          <a:xfrm>
            <a:off x="6096000" y="3429000"/>
            <a:ext cx="484528" cy="493901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24BFFE6-B781-42C7-8708-88A0E2CC4865}"/>
              </a:ext>
            </a:extLst>
          </p:cNvPr>
          <p:cNvSpPr/>
          <p:nvPr/>
        </p:nvSpPr>
        <p:spPr>
          <a:xfrm>
            <a:off x="4034260" y="2737482"/>
            <a:ext cx="4543425" cy="6915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4213973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3.33333E-6 L 0.00117 -0.05625 " pathEditMode="relative" rAng="0" ptsTypes="AA">
                                      <p:cBhvr>
                                        <p:cTn id="12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2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50"/>
                            </p:stCondLst>
                            <p:childTnLst>
                              <p:par>
                                <p:cTn id="19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3.33333E-6 L 0.16406 0.00672 " pathEditMode="relative" rAng="0" ptsTypes="AA">
                                      <p:cBhvr>
                                        <p:cTn id="20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03" y="32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22222E-6 L 0.1612 2.22222E-6 " pathEditMode="relative" rAng="0" ptsTypes="AA">
                                      <p:cBhvr>
                                        <p:cTn id="22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00"/>
                            </p:stCondLst>
                            <p:childTnLst>
                              <p:par>
                                <p:cTn id="24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406 0.00672 L 0.16406 -0.05625 " pathEditMode="relative" rAng="0" ptsTypes="AA">
                                      <p:cBhvr>
                                        <p:cTn id="2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150"/>
                            </p:stCondLst>
                            <p:childTnLst>
                              <p:par>
                                <p:cTn id="27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00"/>
                            </p:stCondLst>
                            <p:childTnLst>
                              <p:par>
                                <p:cTn id="32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406 -0.05625 L 0.16406 0.00671 " pathEditMode="relative" rAng="0" ptsTypes="AA">
                                      <p:cBhvr>
                                        <p:cTn id="33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50"/>
                            </p:stCondLst>
                            <p:childTnLst>
                              <p:par>
                                <p:cTn id="35" presetID="42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406 0.00672 L 0.34219 -0.00069 " pathEditMode="relative" rAng="0" ptsTypes="AA">
                                      <p:cBhvr>
                                        <p:cTn id="36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06" y="-37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237 -0.00648 L 0.34284 0.00023 " pathEditMode="relative" rAng="0" ptsTypes="AA">
                                      <p:cBhvr>
                                        <p:cTn id="3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23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00"/>
                            </p:stCondLst>
                            <p:childTnLst>
                              <p:par>
                                <p:cTn id="40" presetID="42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219 -0.00069 L 0.34219 -0.05625 " pathEditMode="relative" rAng="0" ptsTypes="AA">
                                      <p:cBhvr>
                                        <p:cTn id="41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50"/>
                            </p:stCondLst>
                            <p:childTnLst>
                              <p:par>
                                <p:cTn id="43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2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400"/>
                            </p:stCondLst>
                            <p:childTnLst>
                              <p:par>
                                <p:cTn id="48" presetID="42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219 -0.05625 L 0.34219 -0.00069 " pathEditMode="relative" rAng="0" ptsTypes="AA">
                                      <p:cBhvr>
                                        <p:cTn id="4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650"/>
                            </p:stCondLst>
                            <p:childTnLst>
                              <p:par>
                                <p:cTn id="51" presetID="2" presetClass="exit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219 -0.00069 L -0.05104 0.46574 " pathEditMode="relative" rAng="0" ptsTypes="AA">
                                      <p:cBhvr>
                                        <p:cTn id="56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661" y="2331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05 -0.01389 L -0.05273 0.45254 " pathEditMode="relative" rAng="0" ptsTypes="AA">
                                      <p:cBhvr>
                                        <p:cTn id="5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661" y="2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900"/>
                            </p:stCondLst>
                            <p:childTnLst>
                              <p:par>
                                <p:cTn id="60" presetID="42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104 0.46574 L -0.05104 0.40834 " pathEditMode="relative" rAng="0" ptsTypes="AA">
                                      <p:cBhvr>
                                        <p:cTn id="61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15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250"/>
                            </p:stCondLst>
                            <p:childTnLst>
                              <p:par>
                                <p:cTn id="69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1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350"/>
                            </p:stCondLst>
                            <p:childTnLst>
                              <p:par>
                                <p:cTn id="7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122 0.00741 L 0.00065 0.40903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29" y="20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350"/>
                            </p:stCondLst>
                            <p:childTnLst>
                              <p:par>
                                <p:cTn id="78" presetID="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850"/>
                            </p:stCondLst>
                            <p:childTnLst>
                              <p:par>
                                <p:cTn id="8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150"/>
                            </p:stCondLst>
                            <p:childTnLst>
                              <p:par>
                                <p:cTn id="88" presetID="42" presetClass="path" presetSubtype="0" accel="50000" decel="50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104 0.46574 L 0.37266 0.69861 " pathEditMode="relative" rAng="0" ptsTypes="AA">
                                      <p:cBhvr>
                                        <p:cTn id="8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85" y="11968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273 0.45254 L 0.37266 0.69213 " pathEditMode="relative" rAng="0" ptsTypes="AA">
                                      <p:cBhvr>
                                        <p:cTn id="91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63" y="11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8" grpId="3" animBg="1"/>
      <p:bldP spid="2" grpId="0"/>
      <p:bldP spid="10" grpId="0" animBg="1"/>
      <p:bldP spid="28" grpId="0" animBg="1"/>
      <p:bldP spid="27" grpId="0" animBg="1"/>
      <p:bldP spid="29" grpId="0" animBg="1"/>
      <p:bldP spid="6" grpId="0" animBg="1"/>
      <p:bldP spid="3" grpId="0" animBg="1"/>
      <p:bldP spid="3" grpId="1" animBg="1"/>
      <p:bldP spid="3" grpId="2" animBg="1"/>
      <p:bldP spid="3" grpId="3" animBg="1"/>
      <p:bldP spid="3" grpId="4" animBg="1"/>
      <p:bldP spid="3" grpId="5" animBg="1"/>
      <p:bldP spid="3" grpId="6" animBg="1"/>
      <p:bldP spid="3" grpId="7" animBg="1"/>
      <p:bldP spid="3" grpId="8" animBg="1"/>
      <p:bldP spid="3" grpId="9" animBg="1"/>
      <p:bldP spid="3" grpId="10" animBg="1"/>
      <p:bldP spid="4" grpId="0" animBg="1"/>
      <p:bldP spid="4" grpId="1" animBg="1"/>
      <p:bldP spid="5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156</TotalTime>
  <Words>827</Words>
  <Application>Microsoft Office PowerPoint</Application>
  <PresentationFormat>Широкоэкранный</PresentationFormat>
  <Paragraphs>99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Тема Office</vt:lpstr>
      <vt:lpstr>Бумажные деньги в России</vt:lpstr>
      <vt:lpstr>Бумажные деньги в России</vt:lpstr>
      <vt:lpstr>Бумажные деньги в России</vt:lpstr>
      <vt:lpstr>Бумажные деньги в России</vt:lpstr>
      <vt:lpstr>Бумажные деньги в России</vt:lpstr>
      <vt:lpstr>Бумажные деньги в России</vt:lpstr>
      <vt:lpstr>Бумажные деньги в России</vt:lpstr>
      <vt:lpstr>Бумажные деньги в России</vt:lpstr>
      <vt:lpstr>Бумажные деньги в России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Бумажные деньги в России</dc:title>
  <dc:creator>vionar</dc:creator>
  <cp:lastModifiedBy>vionar</cp:lastModifiedBy>
  <cp:revision>20</cp:revision>
  <dcterms:created xsi:type="dcterms:W3CDTF">2021-12-09T19:45:00Z</dcterms:created>
  <dcterms:modified xsi:type="dcterms:W3CDTF">2021-12-09T22:22:13Z</dcterms:modified>
</cp:coreProperties>
</file>